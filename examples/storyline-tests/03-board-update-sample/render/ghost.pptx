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Fictional company; all figures are sample data for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ask; the rest of the deck is the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 is not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ARR beat plan by $200k, ending ARR by only $150k; churned ARR rose from $300k in Q2 to $480k in Q3.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Mid-market churn is flat; the change is all SMB.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projection on stated assumptions, not a forecast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44 of 61 churned SMB accounts.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4% vs 19%.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specialists since January while monthly SMB sign-ups rose from 85 to 120.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$82k is a rough estimate on stated assumptions (E19).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that this is open; commit to bring it to the January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1 approve requisition swap; ask 2 accept revised forecast; ask 3 review SMB churn and 2027 capacity in January.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swap lowers annual cost slightly; runway is not the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table from metrics.csv.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103120"/>
            <a:ext cx="8412480" cy="1828800"/>
          </a:xfrm>
        </p:spPr>
        <p:txBody>
          <a:bodyPr lIns="0" tIns="0" rIns="0" bIns="0" anchor="b" wrap="square">
            <a:noAutofit/>
          </a:bodyPr>
          <a:lstStyle>
            <a:lvl1pPr algn="l" marL="0" indent="0">
              <a:lnSpc>
                <a:spcPct val="90000"/>
              </a:lnSpc>
              <a:spcBef>
                <a:spcPts val="0"/>
              </a:spcBef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160520"/>
            <a:ext cx="8412480" cy="1188720"/>
          </a:xfrm>
        </p:spPr>
        <p:txBody>
          <a:bodyPr lIns="0" tIns="0" rIns="0" bIns="0" anchor="t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7280" y="2194560"/>
            <a:ext cx="9367520" cy="1463040"/>
          </a:xfrm>
        </p:spPr>
        <p:txBody>
          <a:bodyPr anchor="b" lIns="0" tIns="0" rIns="0" bIns="0" wrap="square">
            <a:noAutofit/>
          </a:bodyPr>
          <a:lstStyle>
            <a:lvl1pPr algn="l" marL="0" indent="0">
              <a:lnSpc>
                <a:spcPct val="90000"/>
              </a:lnSpc>
              <a:spcBef>
                <a:spcPts val="0"/>
              </a:spcBef>
              <a:buNone/>
              <a:defRPr sz="36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67280" y="3840480"/>
            <a:ext cx="9367520" cy="1097280"/>
          </a:xfrm>
        </p:spPr>
        <p:txBody>
          <a:bodyPr anchor="t" lIns="0" tIns="0" rIns="0" bIns="0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77600" cy="914400"/>
          </a:xfrm>
          <a:prstGeom prst="rect">
            <a:avLst/>
          </a:prstGeom>
        </p:spPr>
        <p:txBody>
          <a:bodyPr vert="horz" lIns="0" tIns="0" rIns="0" bIns="0" rtlCol="0" anchor="t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600" cy="4663440"/>
          </a:xfrm>
          <a:prstGeom prst="rect">
            <a:avLst/>
          </a:prstGeom>
        </p:spPr>
        <p:txBody>
          <a:bodyPr vert="horz" lIns="0" tIns="0" rIns="0" bIns="0" rtlCol="0" anchor="t" wrap="square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5080"/>
            <a:ext cx="18288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67200" y="6355080"/>
            <a:ext cx="36576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ctr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20400" y="6355080"/>
            <a:ext cx="9144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r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l" marL="0" indent="0">
        <a:lnSpc>
          <a:spcPct val="90000"/>
        </a:lnSpc>
        <a:spcBef>
          <a:spcPts val="0"/>
        </a:spcBef>
        <a:buNone/>
        <a:defRPr sz="2800" b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marL="201168" indent="-201168">
        <a:spcBef>
          <a:spcPts val="6"/>
        </a:spcBef>
        <a:buFont typeface="Arial"/>
        <a:buChar char="•"/>
        <a:defRPr sz="1600" b="0">
          <a:solidFill>
            <a:schemeClr val="tx1"/>
          </a:solidFill>
          <a:latin typeface="+mn-lt"/>
          <a:ea typeface="+mn-ea"/>
          <a:cs typeface="+mn-cs"/>
        </a:defRPr>
      </a:lvl1pPr>
      <a:lvl2pPr algn="l" marL="41148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2pPr>
      <a:lvl3pPr algn="l" marL="59436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3pPr>
      <a:lvl4pPr algn="l" marL="77724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4pPr>
      <a:lvl5pPr algn="l" marL="96012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5pPr>
      <a:lvl6pPr algn="l" marL="114300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6pPr>
      <a:lvl7pPr algn="l" marL="132588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7pPr>
      <a:lvl8pPr algn="l" marL="150876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8pPr>
      <a:lvl9pPr algn="l" marL="1691640" indent="-182880">
        <a:spcBef>
          <a:spcPts val="3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cover-title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4000" b="0" lang="en-US">
                <a:latin typeface="+mj-lt"/>
                <a:ea typeface="+mj-ea"/>
                <a:cs typeface="+mj-cs"/>
              </a:rPr>
              <a:t>Q3 2026 board update</a:t>
            </a:r>
          </a:p>
        </p:txBody>
      </p:sp>
      <p:sp>
        <p:nvSpPr>
          <p:cNvPr id="3" name="sw:body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000" b="0" lang="en-US">
                <a:latin typeface="+mn-lt"/>
                <a:ea typeface="+mn-ea"/>
                <a:cs typeface="+mn-cs"/>
              </a:rPr>
              <a:t>Sample Co. · Board meeting · Sample data</a:t>
            </a:r>
          </a:p>
          <a:p>
            <a:pPr>
              <a:spcBef>
                <a:spcPts val="840"/>
              </a:spcBef>
              <a:buNone/>
            </a:pPr>
            <a:r>
              <a:rPr sz="1400" b="0" lang="en-US">
                <a:latin typeface="+mn-lt"/>
                <a:ea typeface="+mn-ea"/>
                <a:cs typeface="+mn-cs"/>
              </a:rPr>
              <a:t>CEO, Sample Co. · 2026-10-04</a:t>
            </a:r>
          </a:p>
        </p:txBody>
      </p:sp>
      <p:sp>
        <p:nvSpPr>
          <p:cNvPr id="4" name="sw:accent-rule"/>
          <p:cNvSpPr/>
          <p:nvPr/>
        </p:nvSpPr>
        <p:spPr>
          <a:xfrm>
            <a:off x="457200" y="1874520"/>
            <a:ext cx="822960" cy="54864"/>
          </a:xfrm>
          <a:prstGeom prst="rect">
            <a:avLst/>
          </a:prstGeom>
          <a:solidFill>
            <a:srgbClr val="1F5AA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Q3 beat plan, but SMB churn puts year-end ARR $230k short; we propose moving two hires to onboarding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2</a:t>
            </a:fld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Sample data</a:t>
            </a:r>
          </a:p>
        </p:txBody>
      </p:sp>
      <p:sp>
        <p:nvSpPr>
          <p:cNvPr id="6" name="sw:body"/>
          <p:cNvSpPr txBox="1"/>
          <p:nvPr/>
        </p:nvSpPr>
        <p:spPr>
          <a:xfrm>
            <a:off x="1412240" y="1933956"/>
            <a:ext cx="1032256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New business is healthy: Q3 new ARR beat plan by 21%, the third straight quarter above plan</a:t>
            </a:r>
          </a:p>
        </p:txBody>
      </p:sp>
      <p:sp>
        <p:nvSpPr>
          <p:cNvPr id="7" name="sw:number"/>
          <p:cNvSpPr txBox="1"/>
          <p:nvPr/>
        </p:nvSpPr>
        <p:spPr>
          <a:xfrm>
            <a:off x="457200" y="1933956"/>
            <a:ext cx="77216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cxnSp>
        <p:nvCxnSpPr>
          <p:cNvPr id="8" name="sw:rule"/>
          <p:cNvCxnSpPr/>
          <p:nvPr/>
        </p:nvCxnSpPr>
        <p:spPr>
          <a:xfrm>
            <a:off x="457200" y="2852928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9" name="sw:body"/>
          <p:cNvSpPr txBox="1"/>
          <p:nvPr/>
        </p:nvSpPr>
        <p:spPr>
          <a:xfrm>
            <a:off x="1412240" y="3186684"/>
            <a:ext cx="10322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SMB churn is now the binding constraint and puts year-end ARR about $230k short</a:t>
            </a:r>
          </a:p>
        </p:txBody>
      </p:sp>
      <p:sp>
        <p:nvSpPr>
          <p:cNvPr id="10" name="sw:number"/>
          <p:cNvSpPr txBox="1"/>
          <p:nvPr/>
        </p:nvSpPr>
        <p:spPr>
          <a:xfrm>
            <a:off x="457200" y="3186684"/>
            <a:ext cx="7721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cxnSp>
        <p:nvCxnSpPr>
          <p:cNvPr id="11" name="sw:rule"/>
          <p:cNvCxnSpPr/>
          <p:nvPr/>
        </p:nvCxnSpPr>
        <p:spPr>
          <a:xfrm>
            <a:off x="457200" y="3831336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2" name="sw:body"/>
          <p:cNvSpPr txBox="1"/>
          <p:nvPr/>
        </p:nvSpPr>
        <p:spPr>
          <a:xfrm>
            <a:off x="1412240" y="4165092"/>
            <a:ext cx="10322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The churn comes from SMB accounts that never finish setup, as onboarding load rose 41%</a:t>
            </a:r>
          </a:p>
        </p:txBody>
      </p:sp>
      <p:sp>
        <p:nvSpPr>
          <p:cNvPr id="13" name="sw:number"/>
          <p:cNvSpPr txBox="1"/>
          <p:nvPr/>
        </p:nvSpPr>
        <p:spPr>
          <a:xfrm>
            <a:off x="457200" y="4165092"/>
            <a:ext cx="7721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cxnSp>
        <p:nvCxnSpPr>
          <p:cNvPr id="14" name="sw:rule"/>
          <p:cNvCxnSpPr/>
          <p:nvPr/>
        </p:nvCxnSpPr>
        <p:spPr>
          <a:xfrm>
            <a:off x="457200" y="4809744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5" name="sw:body"/>
          <p:cNvSpPr txBox="1"/>
          <p:nvPr/>
        </p:nvSpPr>
        <p:spPr>
          <a:xfrm>
            <a:off x="1412240" y="5143500"/>
            <a:ext cx="103225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Moving two Q4 sales hires to onboarding attacks the cause and saves $110k a year</a:t>
            </a:r>
          </a:p>
        </p:txBody>
      </p:sp>
      <p:sp>
        <p:nvSpPr>
          <p:cNvPr id="16" name="sw:number"/>
          <p:cNvSpPr txBox="1"/>
          <p:nvPr/>
        </p:nvSpPr>
        <p:spPr>
          <a:xfrm>
            <a:off x="457200" y="5143500"/>
            <a:ext cx="77216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New ARR beat plan by 21% in Q3, the third straight quarter above plan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3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Results</a:t>
            </a:r>
          </a:p>
        </p:txBody>
      </p:sp>
      <p:sp>
        <p:nvSpPr>
          <p:cNvPr id="6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Sample data</a:t>
            </a:r>
          </a:p>
        </p:txBody>
      </p:sp>
      <p:sp>
        <p:nvSpPr>
          <p:cNvPr id="7" name="sw:ghost-box"/>
          <p:cNvSpPr/>
          <p:nvPr/>
        </p:nvSpPr>
        <p:spPr>
          <a:xfrm>
            <a:off x="457200" y="1691640"/>
            <a:ext cx="11277600" cy="45770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8" name="sw:body"/>
          <p:cNvSpPr txBox="1"/>
          <p:nvPr/>
        </p:nvSpPr>
        <p:spPr>
          <a:xfrm>
            <a:off x="731520" y="1920240"/>
            <a:ext cx="10728960" cy="4119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bar — new ARR vs plan by quarter, Q1-Q3 2026, $k (actual highlighted)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 New ARR Q1/Q2/Q3 2026: $900k / $1,000k / $1,150k [SAMPLE]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 Plan new ARR Q1/Q2/Q3: $850k / $950k / $950k [SAMPLE]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E3 Q3 new ARR vs plan: +21% (Q1 +5.9%, Q2 +5.3%) [CALC]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Ending ARR of $11.05M beat plan by 1.4%, a smaller margin than new ARR because churn rose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4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Results</a:t>
            </a:r>
          </a:p>
        </p:txBody>
      </p:sp>
      <p:sp>
        <p:nvSpPr>
          <p:cNvPr id="6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Sample data</a:t>
            </a:r>
          </a:p>
        </p:txBody>
      </p:sp>
      <p:sp>
        <p:nvSpPr>
          <p:cNvPr id="7" name="sw:ghost-box"/>
          <p:cNvSpPr/>
          <p:nvPr/>
        </p:nvSpPr>
        <p:spPr>
          <a:xfrm>
            <a:off x="457200" y="1691640"/>
            <a:ext cx="11277600" cy="45770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8" name="sw:body"/>
          <p:cNvSpPr txBox="1"/>
          <p:nvPr/>
        </p:nvSpPr>
        <p:spPr>
          <a:xfrm>
            <a:off x="731520" y="1920240"/>
            <a:ext cx="10728960" cy="4119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table — Q3 ARR bridge: begin, new, expansion, contraction, churn, end vs plan, $k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E4 Q3 ARR bridge: begin $10,160k + new 1,150 + expansion 300 − contraction 80 − churn 480 = end $11,050k [SAMPLE]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E5 Q3 ending ARR vs plan $10,900k: +$150k, +1.4%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E6 Q3 beat on new ARR ($200k) vs beat on ending ARR ($150k) [CALC]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SMB churned ARR more than doubled since Q1 and now offsets a third of new bookings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5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Constraint</a:t>
            </a:r>
          </a:p>
        </p:txBody>
      </p:sp>
      <p:sp>
        <p:nvSpPr>
          <p:cNvPr id="6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Sample data</a:t>
            </a:r>
          </a:p>
        </p:txBody>
      </p:sp>
      <p:sp>
        <p:nvSpPr>
          <p:cNvPr id="7" name="sw:ghost-box"/>
          <p:cNvSpPr/>
          <p:nvPr/>
        </p:nvSpPr>
        <p:spPr>
          <a:xfrm>
            <a:off x="457200" y="1691640"/>
            <a:ext cx="11277600" cy="45770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8" name="sw:body"/>
          <p:cNvSpPr txBox="1"/>
          <p:nvPr/>
        </p:nvSpPr>
        <p:spPr>
          <a:xfrm>
            <a:off x="731520" y="1920240"/>
            <a:ext cx="10728960" cy="4119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stacked bar — churned ARR by segment (SMB, mid-market), Q1-Q3 2026, $k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E7 SMB churned ARR Q1/Q2/Q3: $170k / $220k / $390k [SAMPLE]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E8 Mid-market churned ARR Q1/Q2/Q3: $70k / $80k / $90k [SAMPLE]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E9 Q3 SMB churned ARR as share of Q3 new ARR: 34% [CALC]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If the SMB trend continues, year-end ARR lands about $230k below the $12.0M plan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6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Constraint</a:t>
            </a:r>
          </a:p>
        </p:txBody>
      </p:sp>
      <p:sp>
        <p:nvSpPr>
          <p:cNvPr id="6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Sample data</a:t>
            </a:r>
          </a:p>
        </p:txBody>
      </p:sp>
      <p:sp>
        <p:nvSpPr>
          <p:cNvPr id="7" name="sw:ghost-box"/>
          <p:cNvSpPr/>
          <p:nvPr/>
        </p:nvSpPr>
        <p:spPr>
          <a:xfrm>
            <a:off x="457200" y="1691640"/>
            <a:ext cx="11277600" cy="45770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8" name="sw:body"/>
          <p:cNvSpPr txBox="1"/>
          <p:nvPr/>
        </p:nvSpPr>
        <p:spPr>
          <a:xfrm>
            <a:off x="731520" y="1920240"/>
            <a:ext cx="10728960" cy="4119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table — Q4 projection: Q3 end, new, expansion, contraction, churn, year-end vs plan, $k, with assumptions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table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E10 Q4 projected year-end ARR: $11,770k, $230k below $12,000k plan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E11 Q4 new ARR, expansion, contraction equal Q3 (1,150 / 300 / 80) [ASSUMPTION]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E12 Q4 SMB churned ARR $560k; mid-market $90k [ASSUMPTION]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Most SMB accounts that churned in Q3 never finished setup in their first 30 days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7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Cause</a:t>
            </a:r>
          </a:p>
        </p:txBody>
      </p:sp>
      <p:sp>
        <p:nvSpPr>
          <p:cNvPr id="6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Sample data</a:t>
            </a:r>
          </a:p>
        </p:txBody>
      </p:sp>
      <p:sp>
        <p:nvSpPr>
          <p:cNvPr id="7" name="sw:ghost-box"/>
          <p:cNvSpPr/>
          <p:nvPr/>
        </p:nvSpPr>
        <p:spPr>
          <a:xfrm>
            <a:off x="457200" y="1691640"/>
            <a:ext cx="11277600" cy="45770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8" name="sw:body"/>
          <p:cNvSpPr txBox="1"/>
          <p:nvPr/>
        </p:nvSpPr>
        <p:spPr>
          <a:xfrm>
            <a:off x="731520" y="1920240"/>
            <a:ext cx="10728960" cy="4119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bar — Q3 churned SMB accounts by setup status (finished within 30 days vs not), count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E13 Q3 churned SMB accounts: 61, of which 44 (72%) never finished setup within 30 days [SAMPLE]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Accounts that finish setup churn at about a fifth of the rate of those that do not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8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Cause</a:t>
            </a:r>
          </a:p>
        </p:txBody>
      </p:sp>
      <p:sp>
        <p:nvSpPr>
          <p:cNvPr id="6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Sample data</a:t>
            </a:r>
          </a:p>
        </p:txBody>
      </p:sp>
      <p:sp>
        <p:nvSpPr>
          <p:cNvPr id="7" name="sw:ghost-box"/>
          <p:cNvSpPr/>
          <p:nvPr/>
        </p:nvSpPr>
        <p:spPr>
          <a:xfrm>
            <a:off x="457200" y="1691640"/>
            <a:ext cx="11277600" cy="45770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8" name="sw:body"/>
          <p:cNvSpPr txBox="1"/>
          <p:nvPr/>
        </p:nvSpPr>
        <p:spPr>
          <a:xfrm>
            <a:off x="731520" y="1920240"/>
            <a:ext cx="10728960" cy="4119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bar — 90-day churn by setup status, Jan-Jun 2026 SMB cohort, %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E14 90-day churn, Jan-Jun 2026 SMB cohort: 4% if setup finished within 30 days, 19% if not (ratio 0.21) [SAMPLE]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Setup completion fell from 68% to 55% as new accounts per specialist rose 41%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9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Cause</a:t>
            </a:r>
          </a:p>
        </p:txBody>
      </p:sp>
      <p:sp>
        <p:nvSpPr>
          <p:cNvPr id="6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Sample data</a:t>
            </a:r>
          </a:p>
        </p:txBody>
      </p:sp>
      <p:sp>
        <p:nvSpPr>
          <p:cNvPr id="7" name="sw:ghost-box"/>
          <p:cNvSpPr/>
          <p:nvPr/>
        </p:nvSpPr>
        <p:spPr>
          <a:xfrm>
            <a:off x="457200" y="1691640"/>
            <a:ext cx="11277600" cy="45770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8" name="sw:body"/>
          <p:cNvSpPr txBox="1"/>
          <p:nvPr/>
        </p:nvSpPr>
        <p:spPr>
          <a:xfrm>
            <a:off x="731520" y="1920240"/>
            <a:ext cx="10728960" cy="4119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line — setup completion within 30 days (%) and new accounts per specialist per month, Q1-Q3 2026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exhibit_takeaways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E15 Setup completed within 30 days: 68% / 61% / 55% (Q1-Q3) [SAMPLE]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E16 New SMB accounts per specialist per month: 42.5 / 50 / 60 (+41% Q1→Q3) [CALC]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Shifting two Q4 sales hires to onboarding saves $110k a year and recovers about $82k of Q4 ARR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10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Fix</a:t>
            </a:r>
          </a:p>
        </p:txBody>
      </p:sp>
      <p:sp>
        <p:nvSpPr>
          <p:cNvPr id="6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Sample data</a:t>
            </a:r>
          </a:p>
        </p:txBody>
      </p:sp>
      <p:sp>
        <p:nvSpPr>
          <p:cNvPr id="7" name="sw:ghost-box"/>
          <p:cNvSpPr/>
          <p:nvPr/>
        </p:nvSpPr>
        <p:spPr>
          <a:xfrm>
            <a:off x="457200" y="1691640"/>
            <a:ext cx="11277600" cy="45770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8" name="sw:body"/>
          <p:cNvSpPr txBox="1"/>
          <p:nvPr/>
        </p:nvSpPr>
        <p:spPr>
          <a:xfrm>
            <a:off x="731520" y="1920240"/>
            <a:ext cx="10728960" cy="4119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two columns — plan as approved (4 AEs) vs proposed (2 AEs + 2 onboarding specialists): annual cost, Q4 ARR effect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two_column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E17 Annual cost: 2 AEs $300k vs 2 onboarding specialists $190k; saving $110k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E18 At-risk backlog: 170 active SMB accounts not set up after 30 days; average SMB ARR $6.4k [SAMPLE]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E19 Q4 ARR recovered if half the backlog is set up: about $82k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E20 New AEs need about 5 months to ramp, so Q4 hires add little Q4 bookings [ASSUMPTION]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The cost is slower sales capacity in 2027, which Sales has not yet sized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11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Fix</a:t>
            </a:r>
          </a:p>
        </p:txBody>
      </p:sp>
      <p:sp>
        <p:nvSpPr>
          <p:cNvPr id="6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Sample data</a:t>
            </a:r>
          </a:p>
        </p:txBody>
      </p:sp>
      <p:sp>
        <p:nvSpPr>
          <p:cNvPr id="7" name="sw:ghost-box"/>
          <p:cNvSpPr/>
          <p:nvPr/>
        </p:nvSpPr>
        <p:spPr>
          <a:xfrm>
            <a:off x="457200" y="1691640"/>
            <a:ext cx="11277600" cy="45770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8" name="sw:body"/>
          <p:cNvSpPr txBox="1"/>
          <p:nvPr/>
        </p:nvSpPr>
        <p:spPr>
          <a:xfrm>
            <a:off x="731520" y="1920240"/>
            <a:ext cx="10728960" cy="4119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two columns — what we give up (2 fewer AEs ramping into 2027) vs what we keep (Q4 bookings nearly unchanged)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two_column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E20 New AEs need about 5 months to ramp, so Q4 hires add little Q4 bookings [ASSUMPTION]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[DATA NEEDED] 2027 new-ARR capacity with 2 vs 4 Q4 AE hires, $k, from Sales capacity model; owner: VP Sales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We ask the board to approve the swap and a revised year-end forecast of $11.85M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12</a:t>
            </a:fld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Sample data</a:t>
            </a:r>
          </a:p>
        </p:txBody>
      </p:sp>
      <p:sp>
        <p:nvSpPr>
          <p:cNvPr id="6" name="sw:ghost-box"/>
          <p:cNvSpPr/>
          <p:nvPr/>
        </p:nvSpPr>
        <p:spPr>
          <a:xfrm>
            <a:off x="457200" y="1691640"/>
            <a:ext cx="11277600" cy="45770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7" name="sw:body"/>
          <p:cNvSpPr txBox="1"/>
          <p:nvPr/>
        </p:nvSpPr>
        <p:spPr>
          <a:xfrm>
            <a:off x="731520" y="1920240"/>
            <a:ext cx="10728960" cy="4119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three asks with owner and date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recommendations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E10 Q4 projected year-end ARR: $11,770k, $230k below $12,000k plan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E19 Q4 ARR recovered if half the backlog is set up: about $82k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E21 Revised year-end ARR forecast $11.85M [CALC]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[DATA NEEDED] 2027 capacity model (see slide 11), due before January board; owner: VP Sales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Cash runway stays near 22 months at the current $650k monthly burn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13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Appendix</a:t>
            </a:r>
          </a:p>
        </p:txBody>
      </p:sp>
      <p:sp>
        <p:nvSpPr>
          <p:cNvPr id="6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Sample data</a:t>
            </a:r>
          </a:p>
        </p:txBody>
      </p:sp>
      <p:sp>
        <p:nvSpPr>
          <p:cNvPr id="7" name="sw:ghost-box"/>
          <p:cNvSpPr/>
          <p:nvPr/>
        </p:nvSpPr>
        <p:spPr>
          <a:xfrm>
            <a:off x="457200" y="1691640"/>
            <a:ext cx="11277600" cy="45770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8" name="sw:body"/>
          <p:cNvSpPr txBox="1"/>
          <p:nvPr/>
        </p:nvSpPr>
        <p:spPr>
          <a:xfrm>
            <a:off x="731520" y="1920240"/>
            <a:ext cx="10728960" cy="4119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table — cash, monthly net burn, runway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appendix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E22 Cash at end of Q3: $14.2M [SAMPLE]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E23 Net burn: about $650k a month [SAMPLE]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E24 Runway: about 22 months [CALC]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Q1-Q3 2026 metrics by quarter</a:t>
            </a:r>
          </a:p>
        </p:txBody>
      </p:sp>
      <p:sp>
        <p:nvSpPr>
          <p:cNvPr id="3" name="sw:sticker"/>
          <p:cNvSpPr/>
          <p:nvPr/>
        </p:nvSpPr>
        <p:spPr>
          <a:xfrm>
            <a:off x="11003280" y="173736"/>
            <a:ext cx="731520" cy="256032"/>
          </a:xfrm>
          <a:prstGeom prst="rect">
            <a:avLst/>
          </a:prstGeom>
          <a:noFill/>
          <a:ln w="12700">
            <a:solidFill>
              <a:srgbClr val="5A6472"/>
            </a:solidFill>
          </a:ln>
        </p:spPr>
        <p:txBody>
          <a:bodyPr rtlCol="0" anchor="ctr" wrap="square" lIns="0" tIns="0" rIns="0" bIns="0">
            <a:noAutofit/>
          </a:bodyPr>
          <a:lstStyle/>
          <a:p>
            <a:pPr algn="ctr">
              <a:buNone/>
            </a:pPr>
            <a:r>
              <a:rPr sz="10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DRAFT</a:t>
            </a:r>
          </a:p>
        </p:txBody>
      </p:sp>
      <p:sp>
        <p:nvSpPr>
          <p:cNvPr id="4" name="sw:page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z="1000"/>
              <a:t>14</a:t>
            </a:fld>
          </a:p>
        </p:txBody>
      </p:sp>
      <p:sp>
        <p:nvSpPr>
          <p:cNvPr id="5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Appendix</a:t>
            </a:r>
          </a:p>
        </p:txBody>
      </p:sp>
      <p:sp>
        <p:nvSpPr>
          <p:cNvPr id="6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Sample data</a:t>
            </a:r>
          </a:p>
        </p:txBody>
      </p:sp>
      <p:sp>
        <p:nvSpPr>
          <p:cNvPr id="7" name="sw:ghost-box"/>
          <p:cNvSpPr/>
          <p:nvPr/>
        </p:nvSpPr>
        <p:spPr>
          <a:xfrm>
            <a:off x="457200" y="1691640"/>
            <a:ext cx="11277600" cy="4577080"/>
          </a:xfrm>
          <a:prstGeom prst="rect">
            <a:avLst/>
          </a:prstGeom>
          <a:noFill/>
          <a:ln w="12700">
            <a:solidFill>
              <a:srgbClr val="B7BEC7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8" name="sw:body"/>
          <p:cNvSpPr txBox="1"/>
          <p:nvPr/>
        </p:nvSpPr>
        <p:spPr>
          <a:xfrm>
            <a:off x="731520" y="1920240"/>
            <a:ext cx="10728960" cy="4119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Planned exhibit: table — Q1-Q3 ARR movements, plan, churn by segment</a:t>
            </a:r>
          </a:p>
          <a:p>
            <a:pPr algn="l">
              <a:spcBef>
                <a:spcPts val="480"/>
              </a:spcBef>
              <a:buNone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Layout: appendix</a:t>
            </a:r>
          </a:p>
          <a:p>
            <a:pPr algn="l">
              <a:spcBef>
                <a:spcPts val="1600"/>
              </a:spcBef>
              <a:buNone/>
            </a:pPr>
            <a:r>
              <a:rPr sz="16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Evidence needed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E1 New ARR Q1/Q2/Q3 2026: $900k / $1,000k / $1,150k [SAMPLE]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E4 Q3 ARR bridge: begin $10,160k + new 1,150 + expansion 300 − contraction 80 − churn 480 = end $11,050k [SAMPLE]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E7 SMB churned ARR Q1/Q2/Q3: $170k / $220k / $390k [SAMPLE]</a:t>
            </a:r>
          </a:p>
          <a:p>
            <a:pPr algn="l" marL="177800" indent="-177800">
              <a:spcBef>
                <a:spcPts val="480"/>
              </a:spcBef>
              <a:buFont typeface="Arial"/>
              <a:buChar char="•"/>
            </a:pPr>
            <a:r>
              <a:rPr sz="16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E8 Mid-market churned ARR Q1/Q2/Q3: $70k / $80k / $90k [SAMPLE]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What">
  <a:themeElements>
    <a:clrScheme name="SoWhat">
      <a:dk1>
        <a:srgbClr val="1E2329"/>
      </a:dk1>
      <a:lt1>
        <a:srgbClr val="FFFFFF"/>
      </a:lt1>
      <a:dk2>
        <a:srgbClr val="5A6472"/>
      </a:dk2>
      <a:lt2>
        <a:srgbClr val="F2F4F6"/>
      </a:lt2>
      <a:accent1>
        <a:srgbClr val="1F5AA6"/>
      </a:accent1>
      <a:accent2>
        <a:srgbClr val="8C95A1"/>
      </a:accent2>
      <a:accent3>
        <a:srgbClr val="B7BEC7"/>
      </a:accent3>
      <a:accent4>
        <a:srgbClr val="5A6472"/>
      </a:accent4>
      <a:accent5>
        <a:srgbClr val="D5DAE0"/>
      </a:accent5>
      <a:accent6>
        <a:srgbClr val="1E2329"/>
      </a:accent6>
      <a:hlink>
        <a:srgbClr val="1F5AA6"/>
      </a:hlink>
      <a:folHlink>
        <a:srgbClr val="5A6472"/>
      </a:folHlink>
    </a:clrScheme>
    <a:fontScheme name="SoWhat">
      <a:majorFont>
        <a:latin typeface="Georgia"/>
        <a:ea typeface=""/>
        <a:cs typeface=""/>
        <a:font script="Jpan" typeface="Yu Gothic"/>
        <a:font script="Hang" typeface="Malgun Gothic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Yu Gothic"/>
        <a:font script="Hang" typeface="Malgun Gothic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