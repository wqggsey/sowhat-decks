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only from the FY2025 10-K and the Q4 FY2025 / Q4 FY2024 shareholder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first; the rest is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Growth was 41% in 2024 and 39% in 2025; the top line barely slowed.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Adjusted EBITDA is non-GAAP; say so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rest is about $157M by simple subtraction; this is not a company-reported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complication: the engine behind revenue is slowing.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Fewer new users, but the ones who stay use it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Paid share of MAUs rose from 8.1% to 9.2%; monetization of the base is still improving.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Management's estimate: about 5 points of growth deliberately foregone.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Guidance, not results; AI features for all users drive the gross-margin step-down.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cash flow is non-GAAP. The buyback is an authorization; timing is discretionary.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DAU growth vs 30%; bookings vs $1,274-1,298M; gross margin vs ~69%.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 with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103120"/>
            <a:ext cx="8412480" cy="1828800"/>
          </a:xfrm>
        </p:spPr>
        <p:txBody>
          <a:bodyPr lIns="0" tIns="0" rIns="0" bIns="0" anchor="b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160520"/>
            <a:ext cx="8412480" cy="1188720"/>
          </a:xfrm>
        </p:spPr>
        <p:txBody>
          <a:bodyPr lIns="0" tIns="0" rIns="0" bIns="0" anchor="t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7280" y="2194560"/>
            <a:ext cx="9367520" cy="1463040"/>
          </a:xfrm>
        </p:spPr>
        <p:txBody>
          <a:bodyPr anchor="b" lIns="0" tIns="0" rIns="0" bIns="0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36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7280" y="3840480"/>
            <a:ext cx="9367520" cy="1097280"/>
          </a:xfrm>
        </p:spPr>
        <p:txBody>
          <a:bodyPr anchor="t" lIns="0" tIns="0" rIns="0" bIns="0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77600" cy="91440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66344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5080"/>
            <a:ext cx="18288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67200" y="6355080"/>
            <a:ext cx="36576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ct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20400" y="6355080"/>
            <a:ext cx="9144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l" marL="0" indent="0">
        <a:lnSpc>
          <a:spcPct val="90000"/>
        </a:lnSpc>
        <a:spcBef>
          <a:spcPts val="0"/>
        </a:spcBef>
        <a:buNone/>
        <a:defRPr sz="2800" b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marL="201168" indent="-201168">
        <a:spcBef>
          <a:spcPts val="6"/>
        </a:spcBef>
        <a:buFont typeface="Arial"/>
        <a:buChar char="•"/>
        <a:defRPr sz="1600" b="0">
          <a:solidFill>
            <a:schemeClr val="tx1"/>
          </a:solidFill>
          <a:latin typeface="+mn-lt"/>
          <a:ea typeface="+mn-ea"/>
          <a:cs typeface="+mn-cs"/>
        </a:defRPr>
      </a:lvl1pPr>
      <a:lvl2pPr algn="l" marL="41148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2pPr>
      <a:lvl3pPr algn="l" marL="59436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3pPr>
      <a:lvl4pPr algn="l" marL="77724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4pPr>
      <a:lvl5pPr algn="l" marL="96012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5pPr>
      <a:lvl6pPr algn="l" marL="114300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6pPr>
      <a:lvl7pPr algn="l" marL="132588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7pPr>
      <a:lvl8pPr algn="l" marL="150876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8pPr>
      <a:lvl9pPr algn="l" marL="169164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cover-title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4000" b="0" lang="en-US">
                <a:latin typeface="+mj-lt"/>
                <a:ea typeface="+mj-ea"/>
                <a:cs typeface="+mj-cs"/>
              </a:rPr>
              <a:t>Duolingo FY2025 investor update</a:t>
            </a:r>
          </a:p>
        </p:txBody>
      </p:sp>
      <p:sp>
        <p:nvSpPr>
          <p:cNvPr id="3" name="sw:body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000" b="0" lang="en-US">
                <a:latin typeface="+mn-lt"/>
                <a:ea typeface="+mn-ea"/>
                <a:cs typeface="+mn-cs"/>
              </a:rPr>
              <a:t>Results and 2026 plan, from public filings · Illustrative example, not affiliated with Duolingo</a:t>
            </a:r>
          </a:p>
          <a:p>
            <a:pPr>
              <a:spcBef>
                <a:spcPts val="840"/>
              </a:spcBef>
              <a:buNone/>
            </a:pPr>
            <a:r>
              <a:rPr sz="1400" b="0" lang="en-US">
                <a:latin typeface="+mn-lt"/>
                <a:ea typeface="+mn-ea"/>
                <a:cs typeface="+mn-cs"/>
              </a:rPr>
              <a:t>SoWhat Decks example · 2026-10-04</a:t>
            </a:r>
          </a:p>
        </p:txBody>
      </p:sp>
      <p:sp>
        <p:nvSpPr>
          <p:cNvPr id="4" name="sw:accent-rule"/>
          <p:cNvSpPr/>
          <p:nvPr/>
        </p:nvSpPr>
        <p:spPr>
          <a:xfrm>
            <a:off x="457200" y="1874520"/>
            <a:ext cx="822960" cy="54864"/>
          </a:xfrm>
          <a:prstGeom prst="rect">
            <a:avLst/>
          </a:prstGeom>
          <a:solidFill>
            <a:srgbClr val="1F5A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Duolingo is trading 2026 bookings growth for user growth, so judge 2026 by DAUs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2</a:t>
            </a:fld>
          </a:p>
        </p:txBody>
      </p:sp>
      <p:sp>
        <p:nvSpPr>
          <p:cNvPr id="5" name="sw:body"/>
          <p:cNvSpPr txBox="1"/>
          <p:nvPr/>
        </p:nvSpPr>
        <p:spPr>
          <a:xfrm>
            <a:off x="1412240" y="1691640"/>
            <a:ext cx="103225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2025 delivered scale and profit: revenue rose 39% to $1.04B and adjusted EBITDA margin reached 29.5%</a:t>
            </a:r>
          </a:p>
        </p:txBody>
      </p:sp>
      <p:sp>
        <p:nvSpPr>
          <p:cNvPr id="6" name="sw:number"/>
          <p:cNvSpPr txBox="1"/>
          <p:nvPr/>
        </p:nvSpPr>
        <p:spPr>
          <a:xfrm>
            <a:off x="457200" y="1691640"/>
            <a:ext cx="7721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00" b="0" lang="en-US">
                <a:solidFill>
                  <a:srgbClr val="1F5AA6"/>
                </a:solidFill>
                <a:latin typeface="+mj-lt"/>
                <a:ea typeface="+mj-ea"/>
                <a:cs typeface="+mj-cs"/>
              </a:rPr>
              <a:t>1</a:t>
            </a:r>
          </a:p>
        </p:txBody>
      </p:sp>
      <p:cxnSp>
        <p:nvCxnSpPr>
          <p:cNvPr id="7" name="sw:rule"/>
          <p:cNvCxnSpPr/>
          <p:nvPr/>
        </p:nvCxnSpPr>
        <p:spPr>
          <a:xfrm>
            <a:off x="457200" y="2770505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8" name="sw:body"/>
          <p:cNvSpPr txBox="1"/>
          <p:nvPr/>
        </p:nvSpPr>
        <p:spPr>
          <a:xfrm>
            <a:off x="1412240" y="2861945"/>
            <a:ext cx="103225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User growth slowed: DAU growth fell from 51% to 30% and paid subscriber growth from 43% to 28%</a:t>
            </a:r>
          </a:p>
        </p:txBody>
      </p:sp>
      <p:sp>
        <p:nvSpPr>
          <p:cNvPr id="9" name="sw:number"/>
          <p:cNvSpPr txBox="1"/>
          <p:nvPr/>
        </p:nvSpPr>
        <p:spPr>
          <a:xfrm>
            <a:off x="457200" y="2861945"/>
            <a:ext cx="7721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00" b="0" lang="en-US">
                <a:solidFill>
                  <a:srgbClr val="1F5AA6"/>
                </a:solidFill>
                <a:latin typeface="+mj-lt"/>
                <a:ea typeface="+mj-ea"/>
                <a:cs typeface="+mj-cs"/>
              </a:rPr>
              <a:t>2</a:t>
            </a:r>
          </a:p>
        </p:txBody>
      </p:sp>
      <p:cxnSp>
        <p:nvCxnSpPr>
          <p:cNvPr id="10" name="sw:rule"/>
          <p:cNvCxnSpPr/>
          <p:nvPr/>
        </p:nvCxnSpPr>
        <p:spPr>
          <a:xfrm>
            <a:off x="457200" y="394081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1" name="sw:body"/>
          <p:cNvSpPr txBox="1"/>
          <p:nvPr/>
        </p:nvSpPr>
        <p:spPr>
          <a:xfrm>
            <a:off x="1412240" y="4032250"/>
            <a:ext cx="103225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The 2026 plan gives up about 5 points of bookings growth and accepts lower margins to grow users faster</a:t>
            </a:r>
          </a:p>
        </p:txBody>
      </p:sp>
      <p:sp>
        <p:nvSpPr>
          <p:cNvPr id="12" name="sw:number"/>
          <p:cNvSpPr txBox="1"/>
          <p:nvPr/>
        </p:nvSpPr>
        <p:spPr>
          <a:xfrm>
            <a:off x="457200" y="4032250"/>
            <a:ext cx="7721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00" b="0" lang="en-US">
                <a:solidFill>
                  <a:srgbClr val="1F5AA6"/>
                </a:solidFill>
                <a:latin typeface="+mj-lt"/>
                <a:ea typeface="+mj-ea"/>
                <a:cs typeface="+mj-cs"/>
              </a:rPr>
              <a:t>3</a:t>
            </a:r>
          </a:p>
        </p:txBody>
      </p:sp>
      <p:cxnSp>
        <p:nvCxnSpPr>
          <p:cNvPr id="13" name="sw:rule"/>
          <p:cNvCxnSpPr/>
          <p:nvPr/>
        </p:nvCxnSpPr>
        <p:spPr>
          <a:xfrm>
            <a:off x="457200" y="5111115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4" name="sw:body"/>
          <p:cNvSpPr txBox="1"/>
          <p:nvPr/>
        </p:nvSpPr>
        <p:spPr>
          <a:xfrm>
            <a:off x="1412240" y="5202555"/>
            <a:ext cx="103225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$360M of free cash flow and $1.04B in cash can fund that bet and a $400M buyback</a:t>
            </a:r>
          </a:p>
        </p:txBody>
      </p:sp>
      <p:sp>
        <p:nvSpPr>
          <p:cNvPr id="15" name="sw:number"/>
          <p:cNvSpPr txBox="1"/>
          <p:nvPr/>
        </p:nvSpPr>
        <p:spPr>
          <a:xfrm>
            <a:off x="457200" y="5202555"/>
            <a:ext cx="7721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00" b="0" lang="en-US">
                <a:solidFill>
                  <a:srgbClr val="1F5AA6"/>
                </a:solidFill>
                <a:latin typeface="+mj-lt"/>
                <a:ea typeface="+mj-ea"/>
                <a:cs typeface="+mj-cs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Revenue grew 39% to $1.04B in 2025, the first year above $1B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3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2025 results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bar — revenue FY2023-FY2025, $M, FY2025 highlighted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 Revenue FY2023: $531.1M (earlier years lower: FY2020 $161.7M, FY2021 $250.8M, FY2022 $369.5M) [SRC 1]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 Revenue FY2024: $748.0M [SRC 1]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E3 Revenue FY2025: $1,037.6M [SRC 1]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E4 Revenue growth: FY2024 40.8%, FY2025 38.7% (letters round to 41% and 39%) [CALC]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Operating margin rose from 8.4% to 13.1%, and adjusted EBITDA margin reached 29.5%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4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2025 results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bar — operating margin FY2023-FY2025, % (adjusted EBITDA margin FY2024-FY2025 in the takeaways)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E5 Operating income FY2023/FY2024/FY2025: −$13.3M / $62.6M / $135.6M [SRC 1]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E6 Operating margin FY2023/FY2024/FY2025: −2.5% / 8.4% / 13.1%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E7 Adjusted EBITDA FY2024 $191.9M (25.7% margin); FY2025 $305.9M (29.5%) — non-GAAP [SRC 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A one-time $257M tax benefit makes up most of 2025's $414M net income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5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2025 results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stacked bar — FY2025 net income split: one-time tax benefit vs the rest, $M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E8 Net income FY2024 $88.6M; FY2025 $414.1M [SRC 1]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E9 One-time income-tax benefit 2025 from valuation allowance release: $256.7M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E10 Share of FY2025 net income from the one-time benefit: 62%; remainder about $157.4M [CALC]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User growth slowed in 2025: DAUs grew 30% after 51%, and MAUs 14% after 32%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6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User engine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highlight table — YoY growth of DAUs, MAUs, paid subscribers, Q4 2024 vs Q4 2025, %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E11 DAUs Q4 2024 40.5M (+51% YoY); Q4 2025 52.7M (+30%)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E12 MAUs Q4 2024 116.7M (+32%); Q4 2025 133.1M (+14%)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E13 Paid subscribers Q4 2024 9.5M (+43%); Q4 2025 12.2M (+28%) [SRC 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Engagement still deepened: 40% of monthly users now open the app daily, up from 35%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7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User engine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bar — DAU/MAU ratio, Q4 2024 vs Q4 2025, %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E11 DAUs Q4 2024 40.5M (+51% YoY); Q4 2025 52.7M (+30%)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E12 MAUs Q4 2024 116.7M (+32%); Q4 2025 133.1M (+14%)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E14 DAU/MAU: Q4 2024 34.7%; Q4 2025 39.6% [CALC]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Paid subscribers grew 28% to 12.2M, slower than the 43% of a year earlier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8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User engine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bar — paid subscribers Q4 2024 vs Q4 2025, M, with share of MAUs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E13 Paid subscribers Q4 2024 9.5M (+43%); Q4 2025 12.2M (+28%)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E15 Paid subscribers / MAUs: Q4 2024 8.1%; Q4 2025 9.2% [CALC]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2026 guidance cuts bookings growth to 10-12% by giving up over $50M of bookings to grow free users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9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2026 plan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bar — total bookings growth FY2024, FY2025, FY2026 guidance midpoint, %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E16 Total bookings FY2024 $870.6M (+40%); FY2025 $1,158.4M (+33%)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E17 2026 guidance: bookings $1,274-1,298M (+10% to +12%); revenue $1,197-1,221M (+15% to +18%); adjusted EBITDA margin 25.0%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E18 Management estimate: more than $50M of foregone bookings, about 5 points of growth, invested in the free user experience [SRC 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Margins step down in 2026: gross margin to about 69% on AI costs, adjusted EBITDA margin to 25%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10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2026 plan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line — gross margin FY2023-FY2025 and 2026 guidance, %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E17 2026 guidance: bookings $1,274-1,298M (+10% to +12%); revenue $1,197-1,221M (+15% to +18%); adjusted EBITDA margin 25.0%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E19 Gross margin FY2023 73.2%, FY2024 72.8%, FY2025 72.2%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E20 Gross margin guidance: about 71% in Q1 2026, roughly 69% for the rest of 2026, mainly from AI features for all users [SRC 2]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$360M of free cash flow and $1.04B in cash can fund the user bet and a $400M buyback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11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Cash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bar — operating cash flow and free cash flow FY2024-FY2025, $M; cash at year end in takeaways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E21 Free cash flow FY2024 $264.4M; FY2025 $360.4M (+36%) — non-GAAP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E22 Cash and cash equivalents: $785.8M (2024-12-31); $1,036.4M (2025-12-31) [SRC 1]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E23 Share repurchase authorization: $400M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E24 Operating cash flow FY2024 $285.5M; FY2025 $387.8M [SRC 1]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Judge 2026 by whether DAU growth re-accelerates above 2025's 30%, not by bookings growth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12</a:t>
            </a:fld>
          </a:p>
        </p:txBody>
      </p:sp>
      <p:sp>
        <p:nvSpPr>
          <p:cNvPr id="5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6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three metrics to track each quarter, with the 2025 baseline and the guidance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recommendations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E11 DAUs Q4 2024 40.5M (+51% YoY); Q4 2025 52.7M (+30%)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E17 2026 guidance: bookings $1,274-1,298M (+10% to +12%); revenue $1,197-1,221M (+15% to +18%); adjusted EBITDA margin 25.0%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E20 Gross margin guidance: about 71% in Q1 2026, roughly 69% for the rest of 2026, mainly from AI features for all users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[DATA NEEDED] DAU growth YoY for Q1-Q3 2026, %, from the 2026 quarterly shareholder letters; owner: analyst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Key figures FY2023-FY2025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13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Appendix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table — revenue, gross profit, operating income, net income, operating cash flow, cash; DAUs, MAUs, paid subscribers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appendix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 Revenue FY2023: $531.1M (earlier years lower: FY2020 $161.7M, FY2021 $250.8M, FY2022 $369.5M) [SRC 1]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 Revenue FY2024: $748.0M [SRC 1]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E3 Revenue FY2025: $1,037.6M [SRC 1]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E5 Operating income FY2023/FY2024/FY2025: −$13.3M / $62.6M / $135.6M [SRC 1]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+7 more items in storyline.md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What">
  <a:themeElements>
    <a:clrScheme name="SoWhat">
      <a:dk1>
        <a:srgbClr val="1E2329"/>
      </a:dk1>
      <a:lt1>
        <a:srgbClr val="FFFFFF"/>
      </a:lt1>
      <a:dk2>
        <a:srgbClr val="5A6472"/>
      </a:dk2>
      <a:lt2>
        <a:srgbClr val="F2F4F6"/>
      </a:lt2>
      <a:accent1>
        <a:srgbClr val="1F5AA6"/>
      </a:accent1>
      <a:accent2>
        <a:srgbClr val="8C95A1"/>
      </a:accent2>
      <a:accent3>
        <a:srgbClr val="B7BEC7"/>
      </a:accent3>
      <a:accent4>
        <a:srgbClr val="5A6472"/>
      </a:accent4>
      <a:accent5>
        <a:srgbClr val="D5DAE0"/>
      </a:accent5>
      <a:accent6>
        <a:srgbClr val="1E2329"/>
      </a:accent6>
      <a:hlink>
        <a:srgbClr val="1F5AA6"/>
      </a:hlink>
      <a:folHlink>
        <a:srgbClr val="5A6472"/>
      </a:folHlink>
    </a:clrScheme>
    <a:fontScheme name="SoWhat">
      <a:majorFont>
        <a:latin typeface="Georgia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