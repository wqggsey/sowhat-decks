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158"/>
          <c:y val="0.0200"/>
          <c:w val="0.8742"/>
          <c:h val="0.960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Internet users, 2024, millions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5AA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Indonesia</c:v>
                </c:pt>
                <c:pt idx="1">
                  <c:v>Vietnam</c:v>
                </c:pt>
                <c:pt idx="2">
                  <c:v>Philippines</c:v>
                </c:pt>
                <c:pt idx="3">
                  <c:v>Thailand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206.3</c:v>
                </c:pt>
                <c:pt idx="1">
                  <c:v>85.0</c:v>
                </c:pt>
                <c:pt idx="2">
                  <c:v>77.9</c:v>
                </c:pt>
                <c:pt idx="3">
                  <c:v>65.1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2.290422115570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00"/>
          <c:y val="0.0566"/>
          <c:w val="0.7958"/>
          <c:h val="0.869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 in 2019</c:v>
                </c:pt>
              </c:strCache>
            </c:strRef>
          </c:tx>
          <c:spPr>
            <a:solidFill>
              <a:srgbClr val="737D8A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Vietnam</c:v>
                </c:pt>
                <c:pt idx="2">
                  <c:v>Philippines</c:v>
                </c:pt>
                <c:pt idx="3">
                  <c:v>Indonesia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47.7</c:v>
                </c:pt>
                <c:pt idx="1">
                  <c:v>66.7</c:v>
                </c:pt>
                <c:pt idx="2">
                  <c:v>47.7</c:v>
                </c:pt>
                <c:pt idx="3">
                  <c:v>130.0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Added 2019-2024</c:v>
                </c:pt>
              </c:strCache>
            </c:strRef>
          </c:tx>
          <c:spPr>
            <a:solidFill>
              <a:srgbClr val="1F5AA6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Vietnam</c:v>
                </c:pt>
                <c:pt idx="2">
                  <c:v>Philippines</c:v>
                </c:pt>
                <c:pt idx="3">
                  <c:v>Indonesia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17.5</c:v>
                </c:pt>
                <c:pt idx="1">
                  <c:v>18.3</c:v>
                </c:pt>
                <c:pt idx="2">
                  <c:v>30.2</c:v>
                </c:pt>
                <c:pt idx="3">
                  <c:v>76.4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Offline in 2024</c:v>
                </c:pt>
              </c:strCache>
            </c:strRef>
          </c:tx>
          <c:spPr>
            <a:solidFill>
              <a:srgbClr val="8C95A1"/>
            </a:solidFill>
            <a:ln w="12700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numFmt formatCode="0" sourceLinked="0"/>
            <c:txPr>
              <a:bodyPr/>
              <a:lstStyle/>
              <a:p>
                <a:pPr>
                  <a:defRPr sz="1200" b="0">
                    <a:solidFill>
                      <a:srgbClr val="1E2329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Vietnam</c:v>
                </c:pt>
                <c:pt idx="2">
                  <c:v>Philippines</c:v>
                </c:pt>
                <c:pt idx="3">
                  <c:v>Indonesia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6.5</c:v>
                </c:pt>
                <c:pt idx="1">
                  <c:v>16.0</c:v>
                </c:pt>
                <c:pt idx="2">
                  <c:v>37.9</c:v>
                </c:pt>
                <c:pt idx="3">
                  <c:v>77.2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158"/>
          <c:y val="0.0200"/>
          <c:w val="0.8742"/>
          <c:h val="0.960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per capita, PPP, 2024, cur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1"/>
            <c:invertIfNegative val="0"/>
            <c:spPr>
              <a:solidFill>
                <a:srgbClr val="1F5AA6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Indonesia</c:v>
                </c:pt>
                <c:pt idx="2">
                  <c:v>Vietnam</c:v>
                </c:pt>
                <c:pt idx="3">
                  <c:v>Philippines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24909</c:v>
                </c:pt>
                <c:pt idx="1">
                  <c:v>16472</c:v>
                </c:pt>
                <c:pt idx="2">
                  <c:v>16388</c:v>
                </c:pt>
                <c:pt idx="3">
                  <c:v>11814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232.55835133361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158"/>
          <c:y val="0.0200"/>
          <c:w val="0.8742"/>
          <c:h val="0.960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Internet users x GDP per capit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5AA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Indonesia</c:v>
                </c:pt>
                <c:pt idx="1">
                  <c:v>Thailand</c:v>
                </c:pt>
                <c:pt idx="2">
                  <c:v>Vietnam</c:v>
                </c:pt>
                <c:pt idx="3">
                  <c:v>Philippines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3.4</c:v>
                </c:pt>
                <c:pt idx="1">
                  <c:v>1.62</c:v>
                </c:pt>
                <c:pt idx="2">
                  <c:v>1.39</c:v>
                </c:pt>
                <c:pt idx="3">
                  <c:v>0.92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611438290275635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158"/>
          <c:y val="0.0200"/>
          <c:w val="0.8742"/>
          <c:h val="0.960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real GDP growth, 2021-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5AA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Vietnam</c:v>
                </c:pt>
                <c:pt idx="1">
                  <c:v>Philippines</c:v>
                </c:pt>
                <c:pt idx="2">
                  <c:v>Indonesia</c:v>
                </c:pt>
                <c:pt idx="3">
                  <c:v>Thailand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6.2</c:v>
                </c:pt>
                <c:pt idx="1">
                  <c:v>5.8</c:v>
                </c:pt>
                <c:pt idx="2">
                  <c:v>4.8</c:v>
                </c:pt>
                <c:pt idx="3">
                  <c:v>2.4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49322666179174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15"/>
          <c:y val="0.0400"/>
          <c:w val="0.8618"/>
          <c:h val="0.88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Thailand</c:v>
                </c:pt>
              </c:strCache>
            </c:strRef>
          </c:tx>
          <c:spPr>
            <a:ln w="22225">
              <a:solidFill>
                <a:srgbClr val="5A6472"/>
              </a:solidFill>
            </a:ln>
          </c:spPr>
          <c:marker>
            <c:symbol val="none"/>
          </c:marker>
          <c:dLbls>
            <c:dLbl>
              <c:idx val="9"/>
              <c:tx>
                <c:rich>
                  <a:bodyPr wrap="none"/>
                  <a:lstStyle/>
                  <a:p>
                    <a:pPr algn="l"/>
                    <a:r>
                      <a:rPr sz="1200" b="0">
                        <a:solidFill>
                          <a:srgbClr val="5A6472"/>
                        </a:solidFill>
                      </a:rPr>
                      <a:t>Thailand 91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39.3</c:v>
                </c:pt>
                <c:pt idx="1">
                  <c:v>47.5</c:v>
                </c:pt>
                <c:pt idx="2">
                  <c:v>52.9</c:v>
                </c:pt>
                <c:pt idx="3">
                  <c:v>56.8</c:v>
                </c:pt>
                <c:pt idx="4">
                  <c:v>66.7</c:v>
                </c:pt>
                <c:pt idx="5">
                  <c:v>77.8</c:v>
                </c:pt>
                <c:pt idx="6">
                  <c:v>85.3</c:v>
                </c:pt>
                <c:pt idx="7">
                  <c:v>88.0</c:v>
                </c:pt>
                <c:pt idx="8">
                  <c:v>89.5</c:v>
                </c:pt>
                <c:pt idx="9">
                  <c:v>90.9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Vietnam</c:v>
                </c:pt>
              </c:strCache>
            </c:strRef>
          </c:tx>
          <c:spPr>
            <a:ln w="22225">
              <a:solidFill>
                <a:srgbClr val="737D8A"/>
              </a:solidFill>
            </a:ln>
          </c:spPr>
          <c:marker>
            <c:symbol val="none"/>
          </c:marker>
          <c:dLbls>
            <c:dLbl>
              <c:idx val="9"/>
              <c:tx>
                <c:rich>
                  <a:bodyPr wrap="none"/>
                  <a:lstStyle/>
                  <a:p>
                    <a:pPr algn="l"/>
                    <a:r>
                      <a:rPr sz="1200" b="0">
                        <a:solidFill>
                          <a:srgbClr val="737D8A"/>
                        </a:solidFill>
                      </a:rPr>
                      <a:t>Vietnam 84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0</c:formatCode>
                <c:ptCount val="10"/>
                <c:pt idx="0">
                  <c:v>45.0</c:v>
                </c:pt>
                <c:pt idx="1">
                  <c:v>53.0</c:v>
                </c:pt>
                <c:pt idx="2">
                  <c:v>58.1</c:v>
                </c:pt>
                <c:pt idx="3">
                  <c:v>69.8</c:v>
                </c:pt>
                <c:pt idx="4">
                  <c:v>68.7</c:v>
                </c:pt>
                <c:pt idx="5">
                  <c:v>70.3</c:v>
                </c:pt>
                <c:pt idx="6">
                  <c:v>74.2</c:v>
                </c:pt>
                <c:pt idx="7">
                  <c:v>78.6</c:v>
                </c:pt>
                <c:pt idx="8">
                  <c:v>78.1</c:v>
                </c:pt>
                <c:pt idx="9">
                  <c:v>84.2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Indonesia</c:v>
                </c:pt>
              </c:strCache>
            </c:strRef>
          </c:tx>
          <c:spPr>
            <a:ln w="22225">
              <a:solidFill>
                <a:srgbClr val="8C95A1"/>
              </a:solidFill>
            </a:ln>
          </c:spPr>
          <c:marker>
            <c:symbol val="none"/>
          </c:marker>
          <c:dLbls>
            <c:dLbl>
              <c:idx val="9"/>
              <c:tx>
                <c:rich>
                  <a:bodyPr wrap="none"/>
                  <a:lstStyle/>
                  <a:p>
                    <a:pPr algn="l"/>
                    <a:r>
                      <a:rPr sz="1200" b="0">
                        <a:solidFill>
                          <a:srgbClr val="8C95A1"/>
                        </a:solidFill>
                      </a:rPr>
                      <a:t>Indonesia 73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Sheet1!$D$2:$D$11</c:f>
              <c:numCache>
                <c:formatCode>0</c:formatCode>
                <c:ptCount val="10"/>
                <c:pt idx="0">
                  <c:v>22.1</c:v>
                </c:pt>
                <c:pt idx="1">
                  <c:v>25.4</c:v>
                </c:pt>
                <c:pt idx="2">
                  <c:v>32.3</c:v>
                </c:pt>
                <c:pt idx="3">
                  <c:v>39.9</c:v>
                </c:pt>
                <c:pt idx="4">
                  <c:v>47.7</c:v>
                </c:pt>
                <c:pt idx="5">
                  <c:v>53.7</c:v>
                </c:pt>
                <c:pt idx="6">
                  <c:v>62.1</c:v>
                </c:pt>
                <c:pt idx="7">
                  <c:v>66.5</c:v>
                </c:pt>
                <c:pt idx="8">
                  <c:v>69.2</c:v>
                </c:pt>
                <c:pt idx="9">
                  <c:v>72.8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Philippines</c:v>
                </c:pt>
              </c:strCache>
            </c:strRef>
          </c:tx>
          <c:spPr>
            <a:ln w="31750">
              <a:solidFill>
                <a:srgbClr val="1F5AA6"/>
              </a:solidFill>
            </a:ln>
          </c:spPr>
          <c:marker>
            <c:symbol val="none"/>
          </c:marker>
          <c:dLbls>
            <c:dLbl>
              <c:idx val="9"/>
              <c:tx>
                <c:rich>
                  <a:bodyPr wrap="none"/>
                  <a:lstStyle/>
                  <a:p>
                    <a:pPr algn="l"/>
                    <a:r>
                      <a:rPr sz="1200" b="1">
                        <a:solidFill>
                          <a:srgbClr val="1F5AA6"/>
                        </a:solidFill>
                      </a:rPr>
                      <a:t>Philippines 67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Sheet1!$E$2:$E$11</c:f>
              <c:numCache>
                <c:formatCode>0</c:formatCode>
                <c:ptCount val="10"/>
                <c:pt idx="0">
                  <c:v>36.9</c:v>
                </c:pt>
                <c:pt idx="1">
                  <c:v>39.2</c:v>
                </c:pt>
                <c:pt idx="2">
                  <c:v>41.6</c:v>
                </c:pt>
                <c:pt idx="3">
                  <c:v>44.1</c:v>
                </c:pt>
                <c:pt idx="4">
                  <c:v>43.0</c:v>
                </c:pt>
                <c:pt idx="5">
                  <c:v>53.8</c:v>
                </c:pt>
                <c:pt idx="6">
                  <c:v>66.9</c:v>
                </c:pt>
                <c:pt idx="7">
                  <c:v>75.2</c:v>
                </c:pt>
                <c:pt idx="8">
                  <c:v>77.9</c:v>
                </c:pt>
                <c:pt idx="9">
                  <c:v>67.3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D5DAE0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company, its budget and its team are invented for this example. The market statistics are real: World Bank World Development Indicators, last updated 2026-07-13, retrieved 2026-10-04.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answer, then the four reasons. The recommendation is conditional by design: the test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Indonesia 283.5M x 72.8% = 206.3M; Vietnam 101.0M x 84.2% = 85.0M; Philippines 115.8M x 67.3% = 77.9M; Thailand 71.7M x 90.9% = 65.1M.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Bars add up to 2024 population (rounding): Indonesia 283.5M, Philippines 115.8M, Vietnam 101.0M, Thailand 71.7M.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PPP adjusts for local prices, which matters for a subscription priced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Indonesia 206.3M x 16,472 = 3.40T; Thailand 65.1M x 24,909 = 1.62T; Vietnam 85.0M x 16,388 = 1.39T; Philippines 77.9M x 11,814 = 0.92T.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Indonesia test fails, Vietnam is next. Average growth = simple mean of the five annual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Thailand is richest per person but has the smallest online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statistics rank markets; they do not tell us whether this product wins. Owners: Strategy (spend), Growth (competition, test), Finance (payments), Legal (rules).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both markets at once also confirms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figures are not in this deck on purpose: Finance sets them before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00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Which Southeast Asian market first?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900" b="0" lang="en-US">
                <a:latin typeface="+mn-lt"/>
                <a:ea typeface="+mn-ea"/>
                <a:cs typeface="+mn-cs"/>
              </a:rPr>
              <a:t>Market-entry recommendation for a language-learning app. The company is hypothetical; every market statistic is public World Bank data, cited on each slide.</a:t>
            </a:r>
          </a:p>
          <a:p>
            <a:pPr marL="0" indent="0">
              <a:spcBef>
                <a:spcPts val="780"/>
              </a:spcBef>
              <a:buNone/>
            </a:pPr>
            <a:r>
              <a:rPr sz="1300" b="0" lang="en-US">
                <a:latin typeface="+mn-lt"/>
                <a:ea typeface="+mn-ea"/>
                <a:cs typeface="+mn-cs"/>
              </a:rPr>
              <a:t>Head of Growth (hypothetical company) · October 2026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Launch in Indonesia first, and let a six-week paid test confirm it before full spend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Bank, World Development Indicators (population, internet use, GDP per capita PPP, GDP growth), 2019-2025, retrieved 2026-10-04.</a:t>
            </a:r>
          </a:p>
        </p:txBody>
      </p:sp>
      <p:sp>
        <p:nvSpPr>
          <p:cNvPr id="5" name="sw:body"/>
          <p:cNvSpPr txBox="1"/>
          <p:nvPr/>
        </p:nvSpPr>
        <p:spPr>
          <a:xfrm>
            <a:off x="1412240" y="189496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Indonesia is the largest reachable market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206M internet users in 2024, 2.4 times Vietnam's and over 3 times Thailand's.</a:t>
            </a:r>
          </a:p>
        </p:txBody>
      </p:sp>
      <p:sp>
        <p:nvSpPr>
          <p:cNvPr id="6" name="sw:number"/>
          <p:cNvSpPr txBox="1"/>
          <p:nvPr/>
        </p:nvSpPr>
        <p:spPr>
          <a:xfrm>
            <a:off x="457200" y="189496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76733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306209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It stays largest after adjusting for income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Internet users times income per person (PPP) puts Indonesia at least twice any other candidate.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306209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93446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422922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Vietnam is the best backup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The fastest-growing economy of the four, but its online audience is 41% of Indonesia's.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422922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510159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539635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Whether we can win is still unknown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Public statistics do not show willingness to pay, competition or acquisition cost; a six-week paid test does.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539635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Indonesia has 206M internet users, 2.4 times Vietnam's and over 3 times Thailand's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Reach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WDI, population (SP.POP.TOTL) and individuals using the internet, % (IT.NET.USER.ZS), 2024. Internet users = population x share online.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Internet users, 2024, millions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1959864"/>
            <a:ext cx="3637280" cy="4308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Indonesia has more internet users than Vietnam and Thailand combined (150M)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For a mobile app, internet users are the audience we can reach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Indonesia also added the most users since 2019 (+76M) and still has 77M people offline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Reach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WDI, population and internet use (% of population), 2019 and 2024. Users = population x share online; offline = 2024 population - 2024 users.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Population by internet use, millions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6279305" y="5038209"/>
            <a:ext cx="1635335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Online in 2019</a:t>
            </a:r>
          </a:p>
        </p:txBody>
      </p:sp>
      <p:sp>
        <p:nvSpPr>
          <p:cNvPr id="9" name="sw:label"/>
          <p:cNvSpPr txBox="1"/>
          <p:nvPr/>
        </p:nvSpPr>
        <p:spPr>
          <a:xfrm>
            <a:off x="6279305" y="3749937"/>
            <a:ext cx="1635335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Added 2019-2024</a:t>
            </a:r>
          </a:p>
        </p:txBody>
      </p:sp>
      <p:sp>
        <p:nvSpPr>
          <p:cNvPr id="10" name="sw:label"/>
          <p:cNvSpPr txBox="1"/>
          <p:nvPr/>
        </p:nvSpPr>
        <p:spPr>
          <a:xfrm>
            <a:off x="6279305" y="2791223"/>
            <a:ext cx="1635335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Offline in 2024</a:t>
            </a:r>
          </a:p>
        </p:txBody>
      </p:sp>
      <p:sp>
        <p:nvSpPr>
          <p:cNvPr id="11" name="sw:label"/>
          <p:cNvSpPr txBox="1"/>
          <p:nvPr/>
        </p:nvSpPr>
        <p:spPr>
          <a:xfrm>
            <a:off x="531775" y="4830111"/>
            <a:ext cx="1483639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72</a:t>
            </a:r>
          </a:p>
        </p:txBody>
      </p:sp>
      <p:sp>
        <p:nvSpPr>
          <p:cNvPr id="12" name="sw:label"/>
          <p:cNvSpPr txBox="1"/>
          <p:nvPr/>
        </p:nvSpPr>
        <p:spPr>
          <a:xfrm>
            <a:off x="2015414" y="4464351"/>
            <a:ext cx="1483639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101</a:t>
            </a:r>
          </a:p>
        </p:txBody>
      </p:sp>
      <p:sp>
        <p:nvSpPr>
          <p:cNvPr id="13" name="sw:label"/>
          <p:cNvSpPr txBox="1"/>
          <p:nvPr/>
        </p:nvSpPr>
        <p:spPr>
          <a:xfrm>
            <a:off x="3499053" y="4279599"/>
            <a:ext cx="1483639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116</a:t>
            </a:r>
          </a:p>
        </p:txBody>
      </p:sp>
      <p:sp>
        <p:nvSpPr>
          <p:cNvPr id="14" name="sw:label"/>
          <p:cNvSpPr txBox="1"/>
          <p:nvPr/>
        </p:nvSpPr>
        <p:spPr>
          <a:xfrm>
            <a:off x="4982693" y="2184909"/>
            <a:ext cx="1483639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284</a:t>
            </a:r>
          </a:p>
        </p:txBody>
      </p:sp>
      <p:sp>
        <p:nvSpPr>
          <p:cNvPr id="15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16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7" name="sw:body"/>
          <p:cNvSpPr txBox="1"/>
          <p:nvPr/>
        </p:nvSpPr>
        <p:spPr>
          <a:xfrm>
            <a:off x="8097520" y="1959864"/>
            <a:ext cx="3637280" cy="4308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Indonesia added more users in five years (76M) than Thailand has in total (65M)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Vietnam and Thailand are already mostly online, so they have less room to add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Income per person in Indonesia matches Vietnam's and trails only Thailand's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pay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WDI, GDP per capita, PPP (current international $) (NY.GDP.PCAP.PP.CD), 2024 and 2025.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GDP per capita, PPP, 2024, current international $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1959864"/>
            <a:ext cx="3637280" cy="4308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Indonesia and Vietnam are within 1% of each other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 2025 Vietnam edges ahead (18,088 vs 17,660); the two remain close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Philippines has the lowest income of the four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Adjusted for income, Indonesia's online market is at least twice that of any other candidate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pay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WDI, 2024: internet users (population x share online) x GDP per capita, PPP. Assumes users' ability to pay tracks national income per person.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Internet users x GDP per capita (PPP), 2024, international $ trillion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1959864"/>
            <a:ext cx="3637280" cy="4308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2.1 times Thailand, 2.4 times Vietnam, 3.7 times the Philippines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 rough proxy used only to rank markets, not to size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Vietnam is the best backup: the fastest-growing economy, but under half Indonesia's online audience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Alternatives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WDI: GDP growth, annual % (NY.GDP.MKTP.KD.ZG), mean of 2021-2025; GDP per capita, PPP (2025 / 2019 - 1); internet users 2024.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Average real GDP growth, 2021-2025,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1959864"/>
            <a:ext cx="3637280" cy="4308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Vietnam also grew fastest in 2025: 8.0%, against 5.1% for Indonesia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Its income per person (PPP) rose 64% from 2019 to 2025, the most of the four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But its 85M internet users are 41% of Indonesia's, so it is the backup, not the first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Thailand is small and slow-growing, and the Philippines has the lowest income of the four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Alternatives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WDI: population, internet use, GDP per capita PPP and GDP growth, 2021-2025.</a:t>
            </a:r>
          </a:p>
        </p:txBody>
      </p:sp>
      <p:sp>
        <p:nvSpPr>
          <p:cNvPr id="6" name="sw:body"/>
          <p:cNvSpPr txBox="1"/>
          <p:nvPr/>
        </p:nvSpPr>
        <p:spPr>
          <a:xfrm>
            <a:off x="45720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Thailand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267712"/>
            <a:ext cx="554736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457200" y="2423160"/>
            <a:ext cx="5547360" cy="3845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Fewest internet users: 65.1M in 2024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Slowest economy: 2.4% average growth in 2021-2025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Highest income per person: $24,909 (PPP, 2024)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91% already online, so little room for new users</a:t>
            </a:r>
          </a:p>
        </p:txBody>
      </p:sp>
      <p:sp>
        <p:nvSpPr>
          <p:cNvPr id="9" name="sw:body"/>
          <p:cNvSpPr txBox="1"/>
          <p:nvPr/>
        </p:nvSpPr>
        <p:spPr>
          <a:xfrm>
            <a:off x="618744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Philippines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6187440" y="2267712"/>
            <a:ext cx="554736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6187440" y="2423160"/>
            <a:ext cx="5547360" cy="3845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Lowest income per person: $11,814 (PPP, 2024)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77.9M internet users in 2024, after a break in the series (appendix)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Solid growth: 5.8% average in 2021-2025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Smallest market after adjusting for income: $0.92T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We cannot yet say if we can win: app spending, competition and acquisition cost are unknown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win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 covers population, internet use and income only; the other columns list what the team must still collect.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1981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471362"/>
                <a:gridCol w="3030407"/>
                <a:gridCol w="2899699"/>
                <a:gridCol w="2876132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Question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What public statistics show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What we still have to learn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How we find out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Will people pay?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Income per person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Spend on learning apps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Paid test: install-to-paid rate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Who do we beat?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Not covered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Top apps and their prices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App-store rankings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Can they pay us?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Not covered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Card, e-wallet, carrier billing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Payment-provider reports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What does a user cost?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Not covered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Cost per paying subscriber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Paid test in both markets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Can we operate?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Not covered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Data and local-entity rules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Legal review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 six-week paid test in Indonesia and Vietnam answers those questions before full spend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win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Test design proposed by the team; budget and payback target to be set by Finance before the test starts.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1127760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Paid market test, six weeks</a:t>
            </a:r>
          </a:p>
        </p:txBody>
      </p:sp>
      <p:grpSp>
        <p:nvGrpSpPr>
          <p:cNvPr id="7" name="sw:step"/>
          <p:cNvGrpSpPr/>
          <p:nvPr/>
        </p:nvGrpSpPr>
        <p:grpSpPr>
          <a:xfrm>
            <a:off x="457200" y="1959864"/>
            <a:ext cx="2778252" cy="868680"/>
            <a:chOff x="457200" y="1959864"/>
            <a:chExt cx="2778252" cy="868680"/>
          </a:xfrm>
        </p:grpSpPr>
        <p:sp>
          <p:nvSpPr>
            <p:cNvPr id="8" name="sw:step-shape"/>
            <p:cNvSpPr/>
            <p:nvPr/>
          </p:nvSpPr>
          <p:spPr>
            <a:xfrm>
              <a:off x="457200" y="1959864"/>
              <a:ext cx="2778252" cy="868680"/>
            </a:xfrm>
            <a:prstGeom prst="homePlate">
              <a:avLst>
                <a:gd name="adj" fmla="val 30000"/>
              </a:avLst>
            </a:prstGeom>
            <a:solidFill>
              <a:srgbClr val="F2F4F6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9" name="sw:body"/>
            <p:cNvSpPr txBox="1"/>
            <p:nvPr/>
          </p:nvSpPr>
          <p:spPr>
            <a:xfrm>
              <a:off x="512064" y="1987296"/>
              <a:ext cx="2435352" cy="8138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marL="0" indent="0">
                <a:spcBef>
                  <a:spcPts val="0"/>
                </a:spcBef>
                <a:buNone/>
              </a:pPr>
              <a:r>
                <a:rPr sz="1600" b="1" lang="en-US">
                  <a:solidFill>
                    <a:srgbClr val="1E2329"/>
                  </a:solidFill>
                  <a:latin typeface="+mn-lt"/>
                  <a:ea typeface="+mn-ea"/>
                  <a:cs typeface="+mn-cs"/>
                </a:rPr>
                <a:t>Localize</a:t>
              </a:r>
            </a:p>
          </p:txBody>
        </p:sp>
      </p:grpSp>
      <p:sp>
        <p:nvSpPr>
          <p:cNvPr id="10" name="sw:body"/>
          <p:cNvSpPr txBox="1"/>
          <p:nvPr/>
        </p:nvSpPr>
        <p:spPr>
          <a:xfrm>
            <a:off x="457200" y="3057144"/>
            <a:ext cx="2517648" cy="3211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Store page and onboarding in Bahasa Indonesia and Vietnamese</a:t>
            </a:r>
          </a:p>
        </p:txBody>
      </p:sp>
      <p:grpSp>
        <p:nvGrpSpPr>
          <p:cNvPr id="11" name="sw:step"/>
          <p:cNvGrpSpPr/>
          <p:nvPr/>
        </p:nvGrpSpPr>
        <p:grpSpPr>
          <a:xfrm>
            <a:off x="3290316" y="1959864"/>
            <a:ext cx="2778252" cy="868680"/>
            <a:chOff x="3290316" y="1959864"/>
            <a:chExt cx="2778252" cy="868680"/>
          </a:xfrm>
        </p:grpSpPr>
        <p:sp>
          <p:nvSpPr>
            <p:cNvPr id="12" name="sw:step-shape"/>
            <p:cNvSpPr/>
            <p:nvPr/>
          </p:nvSpPr>
          <p:spPr>
            <a:xfrm>
              <a:off x="3290316" y="1959864"/>
              <a:ext cx="2778252" cy="868680"/>
            </a:xfrm>
            <a:prstGeom prst="chevron">
              <a:avLst>
                <a:gd name="adj" fmla="val 30000"/>
              </a:avLst>
            </a:prstGeom>
            <a:solidFill>
              <a:srgbClr val="F2F4F6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3" name="sw:body"/>
            <p:cNvSpPr txBox="1"/>
            <p:nvPr/>
          </p:nvSpPr>
          <p:spPr>
            <a:xfrm>
              <a:off x="3578352" y="1987296"/>
              <a:ext cx="2202180" cy="8138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marL="0" indent="0">
                <a:spcBef>
                  <a:spcPts val="0"/>
                </a:spcBef>
                <a:buNone/>
              </a:pPr>
              <a:r>
                <a:rPr sz="1600" b="1" lang="en-US">
                  <a:solidFill>
                    <a:srgbClr val="1E2329"/>
                  </a:solidFill>
                  <a:latin typeface="+mn-lt"/>
                  <a:ea typeface="+mn-ea"/>
                  <a:cs typeface="+mn-cs"/>
                </a:rPr>
                <a:t>Run paid ads</a:t>
              </a:r>
            </a:p>
          </p:txBody>
        </p:sp>
      </p:grpSp>
      <p:sp>
        <p:nvSpPr>
          <p:cNvPr id="14" name="sw:body"/>
          <p:cNvSpPr txBox="1"/>
          <p:nvPr/>
        </p:nvSpPr>
        <p:spPr>
          <a:xfrm>
            <a:off x="3420618" y="3057144"/>
            <a:ext cx="2517648" cy="3211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Same budget and creative in both markets</a:t>
            </a:r>
          </a:p>
        </p:txBody>
      </p:sp>
      <p:grpSp>
        <p:nvGrpSpPr>
          <p:cNvPr id="15" name="sw:step"/>
          <p:cNvGrpSpPr/>
          <p:nvPr/>
        </p:nvGrpSpPr>
        <p:grpSpPr>
          <a:xfrm>
            <a:off x="6123432" y="1959864"/>
            <a:ext cx="2778252" cy="868680"/>
            <a:chOff x="6123432" y="1959864"/>
            <a:chExt cx="2778252" cy="868680"/>
          </a:xfrm>
        </p:grpSpPr>
        <p:sp>
          <p:nvSpPr>
            <p:cNvPr id="16" name="sw:step-shape"/>
            <p:cNvSpPr/>
            <p:nvPr/>
          </p:nvSpPr>
          <p:spPr>
            <a:xfrm>
              <a:off x="6123432" y="1959864"/>
              <a:ext cx="2778252" cy="868680"/>
            </a:xfrm>
            <a:prstGeom prst="chevron">
              <a:avLst>
                <a:gd name="adj" fmla="val 30000"/>
              </a:avLst>
            </a:prstGeom>
            <a:solidFill>
              <a:srgbClr val="F2F4F6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7" name="sw:body"/>
            <p:cNvSpPr txBox="1"/>
            <p:nvPr/>
          </p:nvSpPr>
          <p:spPr>
            <a:xfrm>
              <a:off x="6411468" y="1987296"/>
              <a:ext cx="2202180" cy="8138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marL="0" indent="0">
                <a:spcBef>
                  <a:spcPts val="0"/>
                </a:spcBef>
                <a:buNone/>
              </a:pPr>
              <a:r>
                <a:rPr sz="1600" b="1" lang="en-US">
                  <a:solidFill>
                    <a:srgbClr val="1E2329"/>
                  </a:solidFill>
                  <a:latin typeface="+mn-lt"/>
                  <a:ea typeface="+mn-ea"/>
                  <a:cs typeface="+mn-cs"/>
                </a:rPr>
                <a:t>Measure</a:t>
              </a:r>
            </a:p>
          </p:txBody>
        </p:sp>
      </p:grpSp>
      <p:sp>
        <p:nvSpPr>
          <p:cNvPr id="18" name="sw:body"/>
          <p:cNvSpPr txBox="1"/>
          <p:nvPr/>
        </p:nvSpPr>
        <p:spPr>
          <a:xfrm>
            <a:off x="6253734" y="3057144"/>
            <a:ext cx="2517648" cy="3211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Install-to-paid conversion and cost per paying subscriber</a:t>
            </a:r>
          </a:p>
        </p:txBody>
      </p:sp>
      <p:grpSp>
        <p:nvGrpSpPr>
          <p:cNvPr id="19" name="sw:step"/>
          <p:cNvGrpSpPr/>
          <p:nvPr/>
        </p:nvGrpSpPr>
        <p:grpSpPr>
          <a:xfrm>
            <a:off x="8956548" y="1959864"/>
            <a:ext cx="2778252" cy="868680"/>
            <a:chOff x="8956548" y="1959864"/>
            <a:chExt cx="2778252" cy="868680"/>
          </a:xfrm>
        </p:grpSpPr>
        <p:sp>
          <p:nvSpPr>
            <p:cNvPr id="20" name="sw:step-shape"/>
            <p:cNvSpPr/>
            <p:nvPr/>
          </p:nvSpPr>
          <p:spPr>
            <a:xfrm>
              <a:off x="8956548" y="1959864"/>
              <a:ext cx="2778252" cy="868680"/>
            </a:xfrm>
            <a:prstGeom prst="chevron">
              <a:avLst>
                <a:gd name="adj" fmla="val 30000"/>
              </a:avLst>
            </a:prstGeom>
            <a:solidFill>
              <a:srgbClr val="1F5AA6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21" name="sw:body"/>
            <p:cNvSpPr txBox="1"/>
            <p:nvPr/>
          </p:nvSpPr>
          <p:spPr>
            <a:xfrm>
              <a:off x="9244584" y="1987296"/>
              <a:ext cx="2202180" cy="8138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marL="0" indent="0">
                <a:spcBef>
                  <a:spcPts val="0"/>
                </a:spcBef>
                <a:buNone/>
              </a:pPr>
              <a:r>
                <a:rPr sz="1600" b="1" lang="en-US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Decide</a:t>
              </a:r>
            </a:p>
          </p:txBody>
        </p:sp>
      </p:grpSp>
      <p:sp>
        <p:nvSpPr>
          <p:cNvPr id="22" name="sw:body"/>
          <p:cNvSpPr txBox="1"/>
          <p:nvPr/>
        </p:nvSpPr>
        <p:spPr>
          <a:xfrm>
            <a:off x="9086850" y="3057144"/>
            <a:ext cx="2517648" cy="3211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Launch where cost per subscriber meets our payback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Approve the paid test now, and launch in Indonesia if acquisition cost meets our payback target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Recommendation of this deck; market ranking from World Bank WDI (slides 3-8).</a:t>
            </a:r>
          </a:p>
        </p:txBody>
      </p:sp>
      <p:sp>
        <p:nvSpPr>
          <p:cNvPr id="5" name="sw:label"/>
          <p:cNvSpPr txBox="1"/>
          <p:nvPr/>
        </p:nvSpPr>
        <p:spPr>
          <a:xfrm>
            <a:off x="809752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Owner</a:t>
            </a:r>
          </a:p>
        </p:txBody>
      </p:sp>
      <p:sp>
        <p:nvSpPr>
          <p:cNvPr id="6" name="sw:label"/>
          <p:cNvSpPr txBox="1"/>
          <p:nvPr/>
        </p:nvSpPr>
        <p:spPr>
          <a:xfrm>
            <a:off x="1000760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Timing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1975104"/>
            <a:ext cx="11277600" cy="0"/>
          </a:xfrm>
          <a:prstGeom prst="line">
            <a:avLst/>
          </a:prstGeom>
          <a:ln w="9525">
            <a:solidFill>
              <a:srgbClr val="1E2329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2238248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Approve a six-week paid test in Indonesia and Vietnam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Same budget and creative in both; test budget set by Finance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2238248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048508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3311652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Set the payback target for a new market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The go/no-go rule for the test, agreed before it starts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3311652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4121912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4385056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Check data-protection and local-entity rules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Indonesia and Vietnam, for a consumer subscription app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4385056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cxnSp>
        <p:nvCxnSpPr>
          <p:cNvPr id="16" name="sw:rule"/>
          <p:cNvCxnSpPr/>
          <p:nvPr/>
        </p:nvCxnSpPr>
        <p:spPr>
          <a:xfrm>
            <a:off x="457200" y="5195316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7" name="sw:body"/>
          <p:cNvSpPr txBox="1"/>
          <p:nvPr/>
        </p:nvSpPr>
        <p:spPr>
          <a:xfrm>
            <a:off x="1412240" y="5458460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Decide go or no-go on Indonesia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Vietnam is next if Indonesia misses the target</a:t>
            </a:r>
          </a:p>
        </p:txBody>
      </p:sp>
      <p:sp>
        <p:nvSpPr>
          <p:cNvPr id="18" name="sw:number"/>
          <p:cNvSpPr txBox="1"/>
          <p:nvPr/>
        </p:nvSpPr>
        <p:spPr>
          <a:xfrm>
            <a:off x="457200" y="5458460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19" name="sw:body"/>
          <p:cNvSpPr txBox="1"/>
          <p:nvPr/>
        </p:nvSpPr>
        <p:spPr>
          <a:xfrm>
            <a:off x="8097520" y="2238248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CEO</a:t>
            </a:r>
          </a:p>
        </p:txBody>
      </p:sp>
      <p:sp>
        <p:nvSpPr>
          <p:cNvPr id="20" name="sw:body"/>
          <p:cNvSpPr txBox="1"/>
          <p:nvPr/>
        </p:nvSpPr>
        <p:spPr>
          <a:xfrm>
            <a:off x="10007600" y="2238248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This month</a:t>
            </a:r>
          </a:p>
        </p:txBody>
      </p:sp>
      <p:sp>
        <p:nvSpPr>
          <p:cNvPr id="21" name="sw:body"/>
          <p:cNvSpPr txBox="1"/>
          <p:nvPr/>
        </p:nvSpPr>
        <p:spPr>
          <a:xfrm>
            <a:off x="8097520" y="3311652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CFO</a:t>
            </a:r>
          </a:p>
        </p:txBody>
      </p:sp>
      <p:sp>
        <p:nvSpPr>
          <p:cNvPr id="22" name="sw:body"/>
          <p:cNvSpPr txBox="1"/>
          <p:nvPr/>
        </p:nvSpPr>
        <p:spPr>
          <a:xfrm>
            <a:off x="10007600" y="3311652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Before test</a:t>
            </a:r>
          </a:p>
        </p:txBody>
      </p:sp>
      <p:sp>
        <p:nvSpPr>
          <p:cNvPr id="23" name="sw:body"/>
          <p:cNvSpPr txBox="1"/>
          <p:nvPr/>
        </p:nvSpPr>
        <p:spPr>
          <a:xfrm>
            <a:off x="8097520" y="4385056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Legal</a:t>
            </a:r>
          </a:p>
        </p:txBody>
      </p:sp>
      <p:sp>
        <p:nvSpPr>
          <p:cNvPr id="24" name="sw:body"/>
          <p:cNvSpPr txBox="1"/>
          <p:nvPr/>
        </p:nvSpPr>
        <p:spPr>
          <a:xfrm>
            <a:off x="10007600" y="4385056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Week 4</a:t>
            </a:r>
          </a:p>
        </p:txBody>
      </p:sp>
      <p:sp>
        <p:nvSpPr>
          <p:cNvPr id="25" name="sw:body"/>
          <p:cNvSpPr txBox="1"/>
          <p:nvPr/>
        </p:nvSpPr>
        <p:spPr>
          <a:xfrm>
            <a:off x="8097520" y="5458460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CEO and CFO</a:t>
            </a:r>
          </a:p>
        </p:txBody>
      </p:sp>
      <p:sp>
        <p:nvSpPr>
          <p:cNvPr id="26" name="sw:body"/>
          <p:cNvSpPr txBox="1"/>
          <p:nvPr/>
        </p:nvSpPr>
        <p:spPr>
          <a:xfrm>
            <a:off x="10007600" y="5458460"/>
            <a:ext cx="1727200" cy="810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Week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Indicator table for the four markets, latest World Bank data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101080"/>
            <a:ext cx="10226040" cy="482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Working-age share and mobile subscriptions do not separate the four markets, so the main slides leave them out.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 (SP.POP.TOTL, IT.NET.USER.ZS, NY.GDP.PCAP.PP.CD, NY.GDP.MKTP.KD.ZG, SP.POP.1564.TO.ZS, IT.CEL.SETS.P2), last updated 2026-07-13.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330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824272"/>
                <a:gridCol w="1661981"/>
                <a:gridCol w="1434998"/>
                <a:gridCol w="1856579"/>
                <a:gridCol w="1499770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Indicator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Indonesia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Vietnam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Philippines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Thailand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Population 2024, 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283.5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101.0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115.8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71.7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Internet use 2024,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72.8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84.2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67.3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90.9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Internet users 2024, 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206.3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85.0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77.9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65.1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GDP per capita PPP 2024, $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16,472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16,388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11,814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24,909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GDP growth 2025,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Avg GDP growth 2021-25,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Income growth 2019-25,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47.3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64.0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40.9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31.5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Ages 15-64 2025, % of total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68.2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67.7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67.1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69.6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Mobile subscriptions per 100, 2024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122.5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127.6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115.3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160.6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The Philippines' internet-use rate fell 10.6 points in 2024, so treat its online count with caution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101080"/>
            <a:ext cx="10226040" cy="482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On 2023 data the Philippines had about 89M users (114.9M x 77.9%), still well below Indonesia. This deck does not explain the 2024 drop; check the series notes before using it.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World Bank WDI, individuals using the internet (% of population) (IT.NET.USER.ZS), 2015-2024.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1127760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Individuals using the internet, % of population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11277600" cy="40040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oWhat Decks">
  <a:themeElements>
    <a:clrScheme name="SoWhat Decks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 Decks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