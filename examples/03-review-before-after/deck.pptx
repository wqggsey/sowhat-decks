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4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ARR versus plan, 2026, %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2"/>
            <c:invertIfNegative val="0"/>
            <c:spPr>
              <a:solidFill>
                <a:srgbClr val="1F5AA6"/>
              </a:solidFill>
            </c:spPr>
          </c:dPt>
          <c:dLbls>
            <c:dLbl>
              <c:idx val="2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5.9</c:v>
                </c:pt>
                <c:pt idx="1">
                  <c:v>5.3</c:v>
                </c:pt>
                <c:pt idx="2">
                  <c:v>21.1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46268167217018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00"/>
          <c:y val="0.0566"/>
          <c:w val="0.8606"/>
          <c:h val="0.869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Mid-market</c:v>
                </c:pt>
              </c:strCache>
            </c:strRef>
          </c:tx>
          <c:spPr>
            <a:solidFill>
              <a:srgbClr val="737D8A"/>
            </a:solidFill>
            <a:ln w="12700">
              <a:solidFill>
                <a:srgbClr val="FFFFFF"/>
              </a:solidFill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200" b="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70</c:v>
                </c:pt>
                <c:pt idx="1">
                  <c:v>80</c:v>
                </c:pt>
                <c:pt idx="2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SMB</c:v>
                </c:pt>
              </c:strCache>
            </c:strRef>
          </c:tx>
          <c:spPr>
            <a:solidFill>
              <a:srgbClr val="1F5AA6"/>
            </a:solidFill>
            <a:ln w="12700">
              <a:solidFill>
                <a:srgbClr val="FFFFFF"/>
              </a:solidFill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Sheet1!$C$2:$C$4</c:f>
              <c:numCache>
                <c:formatCode>#,##0</c:formatCode>
                <c:ptCount val="3"/>
                <c:pt idx="0">
                  <c:v>170</c:v>
                </c:pt>
                <c:pt idx="1">
                  <c:v>220</c:v>
                </c:pt>
                <c:pt idx="2">
                  <c:v>390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033"/>
          <c:y val="0.0200"/>
          <c:w val="0.7867"/>
          <c:h val="0.9600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SMB accounts that churned in Q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1F5AA6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Never finished setup</c:v>
                </c:pt>
                <c:pt idx="1">
                  <c:v>Finished setup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44</c:v>
                </c:pt>
                <c:pt idx="1">
                  <c:v>17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9645926058326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4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90-day churn by setup status, 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1"/>
            <c:invertIfNegative val="0"/>
            <c:spPr>
              <a:solidFill>
                <a:srgbClr val="1F5AA6"/>
              </a:solidFill>
            </c:spPr>
          </c:dPt>
          <c:dLbls>
            <c:dLbl>
              <c:idx val="1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Setup within 30 days</c:v>
                </c:pt>
                <c:pt idx="1">
                  <c:v>Setup not finished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4</c:v>
                </c:pt>
                <c:pt idx="1">
                  <c:v>19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22705932565087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ask; the rest of the deck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Q1 900 vs 850; Q2 1,000 vs 950; Q3 1,150 vs 950.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Q3 bridge: 10,160 + 1,150 + 300 - 80 - 480 = 11,050. 150 / 10,900 = 1.4%.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change is all SMB.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11,050 + 1,150 + 300 - 80 - 560 - 90 = 11,770; 12,000 - 11,770 = 230.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Finished setup = integrations connected within 30 days of signing.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Cohort analysis; it shows association, which the Q3 churn pull on the previous slide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SMB sign-ups rose from 85 to 120 while the team stayed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Costs are fully loaded annual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the 2027 effect is open and when it will be sized.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decisions today, one review in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03120"/>
            <a:ext cx="8412480" cy="1828800"/>
          </a:xfrm>
        </p:spPr>
        <p:txBody>
          <a:bodyPr lIns="0" tIns="0" rIns="0" bIns="0" anchor="b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40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4160520"/>
            <a:ext cx="8412480" cy="1188720"/>
          </a:xfrm>
        </p:spPr>
        <p:txBody>
          <a:bodyPr lIns="0" tIns="0" rIns="0" bIns="0" anchor="t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7280" y="2194560"/>
            <a:ext cx="9367520" cy="1463040"/>
          </a:xfrm>
        </p:spPr>
        <p:txBody>
          <a:bodyPr anchor="b" lIns="0" tIns="0" rIns="0" bIns="0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36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67280" y="3840480"/>
            <a:ext cx="9367520" cy="1097280"/>
          </a:xfrm>
        </p:spPr>
        <p:txBody>
          <a:bodyPr anchor="t" lIns="0" tIns="0" rIns="0" bIns="0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77600" cy="91440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66344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5080"/>
            <a:ext cx="18288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67200" y="6355080"/>
            <a:ext cx="36576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ct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20400" y="6355080"/>
            <a:ext cx="9144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l" marL="0" indent="0">
        <a:lnSpc>
          <a:spcPct val="90000"/>
        </a:lnSpc>
        <a:spcBef>
          <a:spcPts val="0"/>
        </a:spcBef>
        <a:buNone/>
        <a:defRPr sz="2800" b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marL="201168" indent="-201168">
        <a:spcBef>
          <a:spcPts val="600"/>
        </a:spcBef>
        <a:buFont typeface="Arial"/>
        <a:buChar char="•"/>
        <a:defRPr sz="1600" b="0">
          <a:solidFill>
            <a:schemeClr val="tx1"/>
          </a:solidFill>
          <a:latin typeface="+mn-lt"/>
          <a:ea typeface="+mn-ea"/>
          <a:cs typeface="+mn-cs"/>
        </a:defRPr>
      </a:lvl1pPr>
      <a:lvl2pPr algn="l" marL="41148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2pPr>
      <a:lvl3pPr algn="l" marL="59436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3pPr>
      <a:lvl4pPr algn="l" marL="77724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4pPr>
      <a:lvl5pPr algn="l" marL="96012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5pPr>
      <a:lvl6pPr algn="l" marL="114300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6pPr>
      <a:lvl7pPr algn="l" marL="132588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7pPr>
      <a:lvl8pPr algn="l" marL="150876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8pPr>
      <a:lvl9pPr algn="l" marL="169164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cover-title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4000" b="0" lang="en-US">
                <a:latin typeface="+mj-lt"/>
                <a:ea typeface="+mj-ea"/>
                <a:cs typeface="+mj-cs"/>
              </a:rPr>
              <a:t>Q3 2026 board update</a:t>
            </a:r>
          </a:p>
        </p:txBody>
      </p:sp>
      <p:sp>
        <p:nvSpPr>
          <p:cNvPr id="3" name="sw:body"/>
          <p:cNvSpPr>
            <a:spLocks noGrp="1"/>
          </p:cNvSpPr>
          <p:nvPr>
            <p:ph type="subTitle"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000" b="0" lang="en-US">
                <a:latin typeface="+mn-lt"/>
                <a:ea typeface="+mn-ea"/>
                <a:cs typeface="+mn-cs"/>
              </a:rPr>
              <a:t>Sample Co. is a fictional B2B software company. Every figure in this deck is sample data, invented for this example.</a:t>
            </a:r>
          </a:p>
          <a:p>
            <a:pPr marL="0" indent="0">
              <a:spcBef>
                <a:spcPts val="840"/>
              </a:spcBef>
              <a:buNone/>
            </a:pPr>
            <a:r>
              <a:rPr sz="1400" b="0" lang="en-US">
                <a:latin typeface="+mn-lt"/>
                <a:ea typeface="+mn-ea"/>
                <a:cs typeface="+mn-cs"/>
              </a:rPr>
              <a:t>CEO, Sample Co. · Board meeting, October 2026</a:t>
            </a:r>
          </a:p>
        </p:txBody>
      </p:sp>
      <p:sp>
        <p:nvSpPr>
          <p:cNvPr id="4" name="sw:accent-rule"/>
          <p:cNvSpPr/>
          <p:nvPr/>
        </p:nvSpPr>
        <p:spPr>
          <a:xfrm>
            <a:off x="457200" y="1874520"/>
            <a:ext cx="822960" cy="54864"/>
          </a:xfrm>
          <a:prstGeom prst="rect">
            <a:avLst/>
          </a:prstGeom>
          <a:solidFill>
            <a:srgbClr val="1F5AA6"/>
          </a:solidFill>
          <a:ln>
            <a:noFill/>
          </a:ln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Q3 beat plan, but SMB churn puts year-end ARR $230k short; we propose moving two hires to onboarding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2</a:t>
            </a:fld>
          </a:p>
        </p:txBody>
      </p:sp>
      <p:sp>
        <p:nvSpPr>
          <p:cNvPr id="4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metrics.csv, smb_onboarding.csv, CEO notes</a:t>
            </a:r>
          </a:p>
        </p:txBody>
      </p:sp>
      <p:sp>
        <p:nvSpPr>
          <p:cNvPr id="5" name="sw:body"/>
          <p:cNvSpPr txBox="1"/>
          <p:nvPr/>
        </p:nvSpPr>
        <p:spPr>
          <a:xfrm>
            <a:off x="1412240" y="189496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New business is healthy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Q3 new ARR beat plan by 21%, the third straight quarter above plan.</a:t>
            </a:r>
          </a:p>
        </p:txBody>
      </p:sp>
      <p:sp>
        <p:nvSpPr>
          <p:cNvPr id="6" name="sw:number"/>
          <p:cNvSpPr txBox="1"/>
          <p:nvPr/>
        </p:nvSpPr>
        <p:spPr>
          <a:xfrm>
            <a:off x="457200" y="189496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276733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1412240" y="306209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SMB churn now limits growth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If the trend continues, year-end ARR lands about $230k below the $12.0M plan.</a:t>
            </a:r>
          </a:p>
        </p:txBody>
      </p:sp>
      <p:sp>
        <p:nvSpPr>
          <p:cNvPr id="9" name="sw:number"/>
          <p:cNvSpPr txBox="1"/>
          <p:nvPr/>
        </p:nvSpPr>
        <p:spPr>
          <a:xfrm>
            <a:off x="457200" y="306209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457200" y="393446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1412240" y="422922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cause is SMB accounts that never finish setup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Onboarding load per specialist rose 41% while the team stayed at two people.</a:t>
            </a:r>
          </a:p>
        </p:txBody>
      </p:sp>
      <p:sp>
        <p:nvSpPr>
          <p:cNvPr id="12" name="sw:number"/>
          <p:cNvSpPr txBox="1"/>
          <p:nvPr/>
        </p:nvSpPr>
        <p:spPr>
          <a:xfrm>
            <a:off x="457200" y="422922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cxnSp>
        <p:nvCxnSpPr>
          <p:cNvPr id="13" name="sw:rule"/>
          <p:cNvCxnSpPr/>
          <p:nvPr/>
        </p:nvCxnSpPr>
        <p:spPr>
          <a:xfrm>
            <a:off x="457200" y="510159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4" name="sw:body"/>
          <p:cNvSpPr txBox="1"/>
          <p:nvPr/>
        </p:nvSpPr>
        <p:spPr>
          <a:xfrm>
            <a:off x="1412240" y="539635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Move two Q4 sales hires to onboarding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It saves $110k a year and recovers about $82k of Q4 ARR. We ask for two approvals today.</a:t>
            </a:r>
          </a:p>
        </p:txBody>
      </p:sp>
      <p:sp>
        <p:nvSpPr>
          <p:cNvPr id="15" name="sw:number"/>
          <p:cNvSpPr txBox="1"/>
          <p:nvPr/>
        </p:nvSpPr>
        <p:spPr>
          <a:xfrm>
            <a:off x="457200" y="539635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New ARR beat plan by 21% in Q3, the third straight quarter above plan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3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Results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metrics.csv (new ARR and plan new ARR by quarter). Beat = actual / plan - 1.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New ARR versus plan, 2026,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Q3 new ARR was $1,150k against a $950k plan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Q1 and Q2 also beat plan, by $50k each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Demand is not 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Ending ARR of $11.05M beat plan by 1.4%, a smaller margin than new ARR because churn rose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4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Results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metrics.csv (ARR movements and plan by quarter).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ARR bridge by quarter, $k</a:t>
            </a:r>
          </a:p>
        </p:txBody>
      </p:sp>
      <p:graphicFrame>
        <p:nvGraphicFramePr>
          <p:cNvPr id="7" name="sw:table"/>
          <p:cNvGraphicFramePr>
            <a:graphicFrameLocks noGrp="1"/>
          </p:cNvGraphicFramePr>
          <p:nvPr/>
        </p:nvGraphicFramePr>
        <p:xfrm>
          <a:off x="457200" y="1959864"/>
          <a:ext cx="7457440" cy="29718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011197"/>
                <a:gridCol w="1723121"/>
                <a:gridCol w="1723122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$k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Q2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Q3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Beginning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9,250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10,160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New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1,150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Expansion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Contraction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-70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Churned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-300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-480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Ending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10,160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11,050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Plan, ending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10,050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10,900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Ending ARR vs plan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New ARR beat plan by $200k, ending ARR by only $150k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Churned ARR rose from $300k in Q2 to $480k in Q3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SMB churned ARR more than doubled since Q1 and now offsets a third of new bookings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5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Constraint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metrics.csv (churned ARR by segment, monthly logo churn). 390 / 1,150 = 34%.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Churned ARR by segment, 2026, $k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6646100" y="5512572"/>
            <a:ext cx="1268540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Mid-market</a:t>
            </a:r>
          </a:p>
        </p:txBody>
      </p:sp>
      <p:sp>
        <p:nvSpPr>
          <p:cNvPr id="9" name="sw:label"/>
          <p:cNvSpPr txBox="1"/>
          <p:nvPr/>
        </p:nvSpPr>
        <p:spPr>
          <a:xfrm>
            <a:off x="6646100" y="3714984"/>
            <a:ext cx="1268540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SMB</a:t>
            </a:r>
          </a:p>
        </p:txBody>
      </p:sp>
      <p:sp>
        <p:nvSpPr>
          <p:cNvPr id="10" name="sw:label"/>
          <p:cNvSpPr txBox="1"/>
          <p:nvPr/>
        </p:nvSpPr>
        <p:spPr>
          <a:xfrm>
            <a:off x="531774" y="3927572"/>
            <a:ext cx="2139222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240</a:t>
            </a:r>
          </a:p>
        </p:txBody>
      </p:sp>
      <p:sp>
        <p:nvSpPr>
          <p:cNvPr id="11" name="sw:label"/>
          <p:cNvSpPr txBox="1"/>
          <p:nvPr/>
        </p:nvSpPr>
        <p:spPr>
          <a:xfrm>
            <a:off x="2670996" y="3478174"/>
            <a:ext cx="2139222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300</a:t>
            </a:r>
          </a:p>
        </p:txBody>
      </p:sp>
      <p:sp>
        <p:nvSpPr>
          <p:cNvPr id="12" name="sw:label"/>
          <p:cNvSpPr txBox="1"/>
          <p:nvPr/>
        </p:nvSpPr>
        <p:spPr>
          <a:xfrm>
            <a:off x="4810218" y="2129983"/>
            <a:ext cx="2139222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480</a:t>
            </a:r>
          </a:p>
        </p:txBody>
      </p:sp>
      <p:sp>
        <p:nvSpPr>
          <p:cNvPr id="13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14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5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Q3 SMB churn of $390k equals 34% of Q3 new ARR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SMB logo churn rose from 1.8% to 3.1% a month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Mid-market churn is flat at $70-90k a quarter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If the SMB trend continues, year-end ARR lands about $230k below the $12.0M plan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6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Constraint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metrics.csv; projection uses the assumptions in the right-hand column.</a:t>
            </a:r>
          </a:p>
        </p:txBody>
      </p:sp>
      <p:graphicFrame>
        <p:nvGraphicFramePr>
          <p:cNvPr id="6" name="sw:table"/>
          <p:cNvGraphicFramePr>
            <a:graphicFrameLocks noGrp="1"/>
          </p:cNvGraphicFramePr>
          <p:nvPr/>
        </p:nvGraphicFramePr>
        <p:xfrm>
          <a:off x="457200" y="1600200"/>
          <a:ext cx="11277600" cy="33020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142769"/>
                <a:gridCol w="1430048"/>
                <a:gridCol w="6704783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Q4 projection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$k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Assumption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Q3 ending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11,050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Actual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+ New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1,150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Same as Q3 (plan: 1,050)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+ Expansion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Same as Q3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 Contraction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Same as Q3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 SMB churn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-560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Rises by the same $170k step as Q2 to Q3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 Mid-market churn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-90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Flat at Q3 level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Year-end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11,770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Projection, not a commitment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12,000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Approved annual plan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Gap to plan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-230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solidFill>
                      <a:srgbClr val="E0E8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Most SMB accounts that churned in Q3 never finished setup in their first 30 days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7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Cause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RevOps pull of the 61 SMB accounts that churned in Q3 (CEO notes). 44 / 61 = 72%.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SMB accounts that churned in Q3, by setup status, count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44 of 61 churned SMB accounts (72%) never connected their integrations within 30 days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Setup is the common thread among the SMB accounts we lost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Accounts that finish setup churn at about a fifth of the rate of those that do not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8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Cause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Jan-Jun 2026 SMB cohort (CEO notes). 4 / 19 = 0.21.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90-day churn by setup status, SMB accounts signed Jan-Jun 2026,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4% against 19% in the Jan-Jun cohort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Getting accounts through setup is the lever onboarding controls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Setup completion fell from 68% to 55% as new accounts per specialist rose 41%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9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Cause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smb_onboarding.csv. Per specialist = new SMB accounts per month / specialists; 60 / 42.5 - 1 = 41%.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SMB onboarding load and results, 2026</a:t>
            </a:r>
          </a:p>
        </p:txBody>
      </p:sp>
      <p:graphicFrame>
        <p:nvGraphicFramePr>
          <p:cNvPr id="7" name="sw:table"/>
          <p:cNvGraphicFramePr>
            <a:graphicFrameLocks noGrp="1"/>
          </p:cNvGraphicFramePr>
          <p:nvPr/>
        </p:nvGraphicFramePr>
        <p:xfrm>
          <a:off x="457200" y="1959864"/>
          <a:ext cx="7457440" cy="13208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905703"/>
                <a:gridCol w="1848962"/>
                <a:gridCol w="1220513"/>
                <a:gridCol w="1459206"/>
                <a:gridCol w="2023056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Quarter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New SMB / month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Specialists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Per specialist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Setup in 30 days, %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Q1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42.5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Q2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Q3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solidFill>
                      <a:srgbClr val="E0E8F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solidFill>
                      <a:srgbClr val="E0E8F3"/>
                    </a:solidFill>
                  </a:tcPr>
                </a:tc>
              </a:tr>
            </a:tbl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team is still two specialists, as in January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Median days to setup went from 9 to 17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Load per specialist: 42.5 to 60 new accounts a month (+41%)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Shifting two Q4 sales hires to onboarding saves $110k a year and recovers about $82k of Q4 ARR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10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Fix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253480"/>
            <a:ext cx="10226040" cy="330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The $82k is an estimate: it assumes half the backlog is set up in Q4 and the cohort churn rates hold.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CEO notes (costs, ramp time, backlog of 170 accounts, average SMB ARR $6.4k). $82k = 85 accounts x (19% - 4%) x $6.4k.</a:t>
            </a:r>
          </a:p>
        </p:txBody>
      </p:sp>
      <p:sp>
        <p:nvSpPr>
          <p:cNvPr id="6" name="sw:body"/>
          <p:cNvSpPr txBox="1"/>
          <p:nvPr/>
        </p:nvSpPr>
        <p:spPr>
          <a:xfrm>
            <a:off x="457200" y="1600200"/>
            <a:ext cx="5547360" cy="5943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Plan as approved: 4 sales hires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2267712"/>
            <a:ext cx="554736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457200" y="2423160"/>
            <a:ext cx="5547360" cy="3693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4 account executives at about $150k each: $600k a year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New hires take about 5 months to ramp, so Q4 bookings barely change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Onboarding stays at 2 specialists</a:t>
            </a:r>
          </a:p>
        </p:txBody>
      </p:sp>
      <p:sp>
        <p:nvSpPr>
          <p:cNvPr id="9" name="sw:body"/>
          <p:cNvSpPr txBox="1"/>
          <p:nvPr/>
        </p:nvSpPr>
        <p:spPr>
          <a:xfrm>
            <a:off x="6187440" y="1600200"/>
            <a:ext cx="5547360" cy="5943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Proposed: 2 sales hires + 2 onboarding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6187440" y="2267712"/>
            <a:ext cx="5547360" cy="0"/>
          </a:xfrm>
          <a:prstGeom prst="line">
            <a:avLst/>
          </a:prstGeom>
          <a:ln w="19050">
            <a:solidFill>
              <a:srgbClr val="1F5AA6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6187440" y="2423160"/>
            <a:ext cx="5547360" cy="3693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2 account executives ($300k) and 2 onboarding specialists ($190k): $110k less a year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Two support team members can transfer now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Setting up half of the 170-account backlog saves about $82k of ARR in Q4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The cost is slower sales capacity in 2027, which Sales has not yet sized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11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Fix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CEO notes (ramp time, costs); Sales capacity model to follow in January.</a:t>
            </a:r>
          </a:p>
        </p:txBody>
      </p:sp>
      <p:sp>
        <p:nvSpPr>
          <p:cNvPr id="6" name="sw:body"/>
          <p:cNvSpPr txBox="1"/>
          <p:nvPr/>
        </p:nvSpPr>
        <p:spPr>
          <a:xfrm>
            <a:off x="457200" y="1600200"/>
            <a:ext cx="5547360" cy="5943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What we give up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2267712"/>
            <a:ext cx="554736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457200" y="2423160"/>
            <a:ext cx="5547360" cy="3845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Two fewer account executives ramping into 2027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Sales has not yet modelled the effect on 2027 new ARR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VP Sales brings that model to the January board</a:t>
            </a:r>
          </a:p>
        </p:txBody>
      </p:sp>
      <p:sp>
        <p:nvSpPr>
          <p:cNvPr id="9" name="sw:body"/>
          <p:cNvSpPr txBox="1"/>
          <p:nvPr/>
        </p:nvSpPr>
        <p:spPr>
          <a:xfrm>
            <a:off x="6187440" y="1600200"/>
            <a:ext cx="5547360" cy="5943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What we keep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6187440" y="2267712"/>
            <a:ext cx="5547360" cy="0"/>
          </a:xfrm>
          <a:prstGeom prst="line">
            <a:avLst/>
          </a:prstGeom>
          <a:ln w="19050">
            <a:solidFill>
              <a:srgbClr val="1F5AA6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6187440" y="2423160"/>
            <a:ext cx="5547360" cy="3845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Q4 bookings: new hires would add little before they ramp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$110k a year saving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 fix for the cause of SMB churn before it grows further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We ask the board to approve the swap and a revised year-end forecast of $11.85M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12</a:t>
            </a:fld>
          </a:p>
        </p:txBody>
      </p:sp>
      <p:sp>
        <p:nvSpPr>
          <p:cNvPr id="4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Slides 6 and 10. 11,770 + 82 = 11,852, shown as $11.85M.</a:t>
            </a:r>
          </a:p>
        </p:txBody>
      </p:sp>
      <p:sp>
        <p:nvSpPr>
          <p:cNvPr id="5" name="sw:label"/>
          <p:cNvSpPr txBox="1"/>
          <p:nvPr/>
        </p:nvSpPr>
        <p:spPr>
          <a:xfrm>
            <a:off x="8097520" y="1600200"/>
            <a:ext cx="1727200" cy="3200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Owner</a:t>
            </a:r>
          </a:p>
        </p:txBody>
      </p:sp>
      <p:sp>
        <p:nvSpPr>
          <p:cNvPr id="6" name="sw:label"/>
          <p:cNvSpPr txBox="1"/>
          <p:nvPr/>
        </p:nvSpPr>
        <p:spPr>
          <a:xfrm>
            <a:off x="10007600" y="1600200"/>
            <a:ext cx="1727200" cy="3200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Timing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1975104"/>
            <a:ext cx="11277600" cy="0"/>
          </a:xfrm>
          <a:prstGeom prst="line">
            <a:avLst/>
          </a:prstGeom>
          <a:ln w="9525">
            <a:solidFill>
              <a:srgbClr val="1E2329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1412240" y="2240280"/>
            <a:ext cx="6502400" cy="7909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Approve converting two Q4 sales requisitions into onboarding specialists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Two support team members transfer now; saves $110k a year</a:t>
            </a:r>
          </a:p>
        </p:txBody>
      </p:sp>
      <p:sp>
        <p:nvSpPr>
          <p:cNvPr id="9" name="sw:number"/>
          <p:cNvSpPr txBox="1"/>
          <p:nvPr/>
        </p:nvSpPr>
        <p:spPr>
          <a:xfrm>
            <a:off x="457200" y="2240280"/>
            <a:ext cx="772160" cy="7909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457200" y="3296412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1412240" y="3561588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Accept a revised year-end ARR forecast of $11.85M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$11.77M projection plus about $82k recovered by onboarding</a:t>
            </a:r>
          </a:p>
        </p:txBody>
      </p:sp>
      <p:sp>
        <p:nvSpPr>
          <p:cNvPr id="12" name="sw:number"/>
          <p:cNvSpPr txBox="1"/>
          <p:nvPr/>
        </p:nvSpPr>
        <p:spPr>
          <a:xfrm>
            <a:off x="457200" y="3561588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w:rule"/>
          <p:cNvCxnSpPr/>
          <p:nvPr/>
        </p:nvCxnSpPr>
        <p:spPr>
          <a:xfrm>
            <a:off x="457200" y="437388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4" name="sw:body"/>
          <p:cNvSpPr txBox="1"/>
          <p:nvPr/>
        </p:nvSpPr>
        <p:spPr>
          <a:xfrm>
            <a:off x="1412240" y="4639056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Review SMB churn and the 2027 sales capacity model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Setup completion back above 60% is the first test</a:t>
            </a:r>
          </a:p>
        </p:txBody>
      </p:sp>
      <p:sp>
        <p:nvSpPr>
          <p:cNvPr id="15" name="sw:number"/>
          <p:cNvSpPr txBox="1"/>
          <p:nvPr/>
        </p:nvSpPr>
        <p:spPr>
          <a:xfrm>
            <a:off x="457200" y="4639056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sp>
        <p:nvSpPr>
          <p:cNvPr id="16" name="sw:body"/>
          <p:cNvSpPr txBox="1"/>
          <p:nvPr/>
        </p:nvSpPr>
        <p:spPr>
          <a:xfrm>
            <a:off x="8097520" y="2240280"/>
            <a:ext cx="1727200" cy="10561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Board</a:t>
            </a:r>
          </a:p>
        </p:txBody>
      </p:sp>
      <p:sp>
        <p:nvSpPr>
          <p:cNvPr id="17" name="sw:body"/>
          <p:cNvSpPr txBox="1"/>
          <p:nvPr/>
        </p:nvSpPr>
        <p:spPr>
          <a:xfrm>
            <a:off x="10007600" y="2240280"/>
            <a:ext cx="1727200" cy="10561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Today</a:t>
            </a:r>
          </a:p>
        </p:txBody>
      </p:sp>
      <p:sp>
        <p:nvSpPr>
          <p:cNvPr id="18" name="sw:body"/>
          <p:cNvSpPr txBox="1"/>
          <p:nvPr/>
        </p:nvSpPr>
        <p:spPr>
          <a:xfrm>
            <a:off x="8097520" y="3561588"/>
            <a:ext cx="1727200" cy="8122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Board</a:t>
            </a:r>
          </a:p>
        </p:txBody>
      </p:sp>
      <p:sp>
        <p:nvSpPr>
          <p:cNvPr id="19" name="sw:body"/>
          <p:cNvSpPr txBox="1"/>
          <p:nvPr/>
        </p:nvSpPr>
        <p:spPr>
          <a:xfrm>
            <a:off x="10007600" y="3561588"/>
            <a:ext cx="1727200" cy="8122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Today</a:t>
            </a:r>
          </a:p>
        </p:txBody>
      </p:sp>
      <p:sp>
        <p:nvSpPr>
          <p:cNvPr id="20" name="sw:body"/>
          <p:cNvSpPr txBox="1"/>
          <p:nvPr/>
        </p:nvSpPr>
        <p:spPr>
          <a:xfrm>
            <a:off x="8097520" y="4639056"/>
            <a:ext cx="1727200" cy="8122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CEO and VP Sales</a:t>
            </a:r>
          </a:p>
        </p:txBody>
      </p:sp>
      <p:sp>
        <p:nvSpPr>
          <p:cNvPr id="21" name="sw:body"/>
          <p:cNvSpPr txBox="1"/>
          <p:nvPr/>
        </p:nvSpPr>
        <p:spPr>
          <a:xfrm>
            <a:off x="10007600" y="4639056"/>
            <a:ext cx="1727200" cy="8122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January 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Cash runway stays near 22 months at the current $650k monthly burn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13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Appendix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253480"/>
            <a:ext cx="10226040" cy="330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The swap lowers annual cost slightly; runway is not the constraint.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CEO notes. Runway = 14,200 / 650 = 21.8 months.</a:t>
            </a:r>
          </a:p>
        </p:txBody>
      </p:sp>
      <p:graphicFrame>
        <p:nvGraphicFramePr>
          <p:cNvPr id="6" name="sw:table"/>
          <p:cNvGraphicFramePr>
            <a:graphicFrameLocks noGrp="1"/>
          </p:cNvGraphicFramePr>
          <p:nvPr/>
        </p:nvGraphicFramePr>
        <p:xfrm>
          <a:off x="457200" y="1600200"/>
          <a:ext cx="11277600" cy="16510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7299535"/>
                <a:gridCol w="3978065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Item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Cash at end of Q3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$14.2M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Net burn per month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About $650k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Runway at current burn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About 22 months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Effect of the swap on annual cost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$110k lower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Q1-Q3 2026 metrics by quarter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14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Appendix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Sample data; metrics.csv.</a:t>
            </a:r>
          </a:p>
        </p:txBody>
      </p:sp>
      <p:graphicFrame>
        <p:nvGraphicFramePr>
          <p:cNvPr id="6" name="sw:table"/>
          <p:cNvGraphicFramePr>
            <a:graphicFrameLocks noGrp="1"/>
          </p:cNvGraphicFramePr>
          <p:nvPr/>
        </p:nvGraphicFramePr>
        <p:xfrm>
          <a:off x="457200" y="1600200"/>
          <a:ext cx="11277600" cy="29718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306598"/>
                <a:gridCol w="1657000"/>
                <a:gridCol w="1657000"/>
                <a:gridCol w="1657002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$k unless stated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Q1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Q2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Q3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New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1,150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Plan new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Ending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9,250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10,160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11,050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Plan ending ARR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9,200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10,050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10,900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Churned ARR, SMB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170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220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390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Churned ARR, mid-market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SMB logo churn, % a month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Mid-market logo churn, % a month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oWhat Decks">
  <a:themeElements>
    <a:clrScheme name="SoWhat Decks">
      <a:dk1>
        <a:srgbClr val="1E2329"/>
      </a:dk1>
      <a:lt1>
        <a:srgbClr val="FFFFFF"/>
      </a:lt1>
      <a:dk2>
        <a:srgbClr val="5A6472"/>
      </a:dk2>
      <a:lt2>
        <a:srgbClr val="F2F4F6"/>
      </a:lt2>
      <a:accent1>
        <a:srgbClr val="1F5AA6"/>
      </a:accent1>
      <a:accent2>
        <a:srgbClr val="8C95A1"/>
      </a:accent2>
      <a:accent3>
        <a:srgbClr val="B7BEC7"/>
      </a:accent3>
      <a:accent4>
        <a:srgbClr val="5A6472"/>
      </a:accent4>
      <a:accent5>
        <a:srgbClr val="D5DAE0"/>
      </a:accent5>
      <a:accent6>
        <a:srgbClr val="1E2329"/>
      </a:accent6>
      <a:hlink>
        <a:srgbClr val="1F5AA6"/>
      </a:hlink>
      <a:folHlink>
        <a:srgbClr val="5A6472"/>
      </a:folHlink>
    </a:clrScheme>
    <a:fontScheme name="SoWhat Decks">
      <a:majorFont>
        <a:latin typeface="Georgia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