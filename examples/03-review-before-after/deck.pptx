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New ARR versus plan, 2026, %</c:v>
                </c:pt>
              </c:strCache>
            </c:strRef>
          </c:tx>
          <c:spPr>
            <a:solidFill>
              <a:srgbClr val="B7BEC7"/>
            </a:solidFill>
            <a:ln>
              <a:noFill/>
            </a:ln>
          </c:spPr>
          <c:invertIfNegative val="0"/>
          <c:dPt>
            <c:idx val="2"/>
            <c:invertIfNegative val="0"/>
            <c:spPr>
              <a:solidFill>
                <a:srgbClr val="1F5AA6"/>
              </a:solidFill>
            </c:spPr>
          </c:dPt>
          <c:dLbls>
            <c:dLbl>
              <c:idx val="2"/>
              <c:spPr/>
              <c:txPr>
                <a:bodyPr/>
                <a:lstStyle/>
                <a:p>
                  <a:pPr>
                    <a:defRPr b="1" sz="1200">
                      <a:solidFill>
                        <a:srgbClr val="1F5AA6"/>
                      </a:solidFill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0.0" sourceLinked="0"/>
            <c:txPr>
              <a:bodyPr/>
              <a:lstStyle/>
              <a:p>
                <a:pPr>
                  <a:defRPr sz="1200">
                    <a:solidFill>
                      <a:srgbClr val="1E2329"/>
                    </a:solidFill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Sheet1!$A$2:$A$4</c:f>
              <c:strCache>
                <c:ptCount val="3"/>
                <c:pt idx="0">
                  <c:v>Q1</c:v>
                </c:pt>
                <c:pt idx="1">
                  <c:v>Q2</c:v>
                </c:pt>
                <c:pt idx="2">
                  <c:v>Q3</c:v>
                </c:pt>
              </c:strCache>
            </c:strRef>
          </c:cat>
          <c:val>
            <c:numRef>
              <c:f>Sheet1!$B$2:$B$4</c:f>
              <c:numCache>
                <c:formatCode>0.0</c:formatCode>
                <c:ptCount val="3"/>
                <c:pt idx="0">
                  <c:v>5.9</c:v>
                </c:pt>
                <c:pt idx="1">
                  <c:v>5.3</c:v>
                </c:pt>
                <c:pt idx="2">
                  <c:v>21.1</c:v>
                </c:pt>
              </c:numCache>
            </c:numRef>
          </c:val>
        </c:ser>
        <c:gapWidth val="11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low"/>
        <c:spPr>
          <a:ln w="9525">
            <a:solidFill>
              <a:srgbClr val="B7BEC7"/>
            </a:solidFill>
          </a:ln>
        </c:spPr>
        <c:txPr>
          <a:bodyPr/>
          <a:lstStyle/>
          <a:p>
            <a:pPr>
              <a:defRPr sz="1200">
                <a:solidFill>
                  <a:srgbClr val="1E2329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23.632000000000005"/>
          <c:min val="0.0"/>
        </c:scaling>
        <c:delete/>
        <c:axPos val="l"/>
        <c:majorTickMark val="out"/>
        <c:minorTickMark val="none"/>
        <c:tickLblPos val="nextTo"/>
        <c:crossAx val="-2068027336"/>
        <c:crosses val="autoZero"/>
      </c:valAx>
    </c:plotArea>
    <c:dispBlanksAs val="gap"/>
  </c:chart>
  <c:spPr>
    <a:noFill/>
    <a:ln>
      <a:noFill/>
    </a:ln>
  </c:spPr>
  <c:txPr>
    <a:bodyPr/>
    <a:lstStyle/>
    <a:p>
      <a:pPr>
        <a:defRPr sz="1200">
          <a:solidFill>
            <a:srgbClr val="1E2329"/>
          </a:solidFill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ayout>
        <c:manualLayout>
          <c:layoutTarget val="inner"/>
          <c:xMode val="edge"/>
          <c:yMode val="edge"/>
          <c:x val="0.0100"/>
          <c:y val="0.0566"/>
          <c:w val="0.8606"/>
          <c:h val="0.8691"/>
        </c:manualLayout>
      </c:layout>
      <c:barChart>
        <c:barDir val="col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Mid-market</c:v>
                </c:pt>
              </c:strCache>
            </c:strRef>
          </c:tx>
          <c:spPr>
            <a:solidFill>
              <a:srgbClr val="737D8A"/>
            </a:solidFill>
            <a:ln w="12700">
              <a:solidFill>
                <a:srgbClr val="FFFFFF"/>
              </a:solidFill>
            </a:ln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sz="1200" b="0">
                    <a:solidFill>
                      <a:srgbClr val="FFFFFF"/>
                    </a:solidFill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Sheet1!$A$2:$A$4</c:f>
              <c:strCache>
                <c:ptCount val="3"/>
                <c:pt idx="0">
                  <c:v>Q1</c:v>
                </c:pt>
                <c:pt idx="1">
                  <c:v>Q2</c:v>
                </c:pt>
                <c:pt idx="2">
                  <c:v>Q3</c:v>
                </c:pt>
              </c:strCache>
            </c:strRef>
          </c:cat>
          <c:val>
            <c:numRef>
              <c:f>Sheet1!$B$2:$B$4</c:f>
              <c:numCache>
                <c:formatCode>#,##0</c:formatCode>
                <c:ptCount val="3"/>
                <c:pt idx="0">
                  <c:v>70</c:v>
                </c:pt>
                <c:pt idx="1">
                  <c:v>80</c:v>
                </c:pt>
                <c:pt idx="2">
                  <c:v>90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SMB</c:v>
                </c:pt>
              </c:strCache>
            </c:strRef>
          </c:tx>
          <c:spPr>
            <a:solidFill>
              <a:srgbClr val="1F5AA6"/>
            </a:solidFill>
            <a:ln w="12700">
              <a:solidFill>
                <a:srgbClr val="FFFFFF"/>
              </a:solidFill>
            </a:ln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sz="1200" b="1">
                    <a:solidFill>
                      <a:srgbClr val="FFFFFF"/>
                    </a:solidFill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Sheet1!$A$2:$A$4</c:f>
              <c:strCache>
                <c:ptCount val="3"/>
                <c:pt idx="0">
                  <c:v>Q1</c:v>
                </c:pt>
                <c:pt idx="1">
                  <c:v>Q2</c:v>
                </c:pt>
                <c:pt idx="2">
                  <c:v>Q3</c:v>
                </c:pt>
              </c:strCache>
            </c:strRef>
          </c:cat>
          <c:val>
            <c:numRef>
              <c:f>Sheet1!$C$2:$C$4</c:f>
              <c:numCache>
                <c:formatCode>#,##0</c:formatCode>
                <c:ptCount val="3"/>
                <c:pt idx="0">
                  <c:v>170</c:v>
                </c:pt>
                <c:pt idx="1">
                  <c:v>220</c:v>
                </c:pt>
                <c:pt idx="2">
                  <c:v>390</c:v>
                </c:pt>
              </c:numCache>
            </c:numRef>
          </c:val>
        </c:ser>
        <c:gapWidth val="55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low"/>
        <c:spPr>
          <a:ln w="9525">
            <a:solidFill>
              <a:srgbClr val="B7BEC7"/>
            </a:solidFill>
          </a:ln>
        </c:spPr>
        <c:txPr>
          <a:bodyPr/>
          <a:lstStyle/>
          <a:p>
            <a:pPr>
              <a:defRPr sz="1200">
                <a:solidFill>
                  <a:srgbClr val="1E2329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500.0"/>
          <c:min val="0.0"/>
        </c:scaling>
        <c:delete/>
        <c:axPos val="l"/>
        <c:majorTickMark val="out"/>
        <c:minorTickMark val="none"/>
        <c:tickLblPos val="nextTo"/>
        <c:crossAx val="-2068027336"/>
        <c:crosses val="autoZero"/>
      </c:valAx>
    </c:plotArea>
    <c:dispBlanksAs val="gap"/>
  </c:chart>
  <c:spPr>
    <a:noFill/>
    <a:ln>
      <a:noFill/>
    </a:ln>
  </c:spPr>
  <c:txPr>
    <a:bodyPr/>
    <a:lstStyle/>
    <a:p>
      <a:pPr>
        <a:defRPr sz="1200">
          <a:solidFill>
            <a:srgbClr val="1E2329"/>
          </a:solidFill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SMB accounts that churned in Q</c:v>
                </c:pt>
              </c:strCache>
            </c:strRef>
          </c:tx>
          <c:spPr>
            <a:solidFill>
              <a:srgbClr val="B7BEC7"/>
            </a:solidFill>
            <a:ln>
              <a:noFill/>
            </a:ln>
          </c:spPr>
          <c:invertIfNegative val="0"/>
          <c:dPt>
            <c:idx val="0"/>
            <c:invertIfNegative val="0"/>
            <c:spPr>
              <a:solidFill>
                <a:srgbClr val="1F5AA6"/>
              </a:solidFill>
            </c:spPr>
          </c:dPt>
          <c:dLbls>
            <c:dLbl>
              <c:idx val="0"/>
              <c:spPr/>
              <c:txPr>
                <a:bodyPr/>
                <a:lstStyle/>
                <a:p>
                  <a:pPr>
                    <a:defRPr b="1" sz="1200">
                      <a:solidFill>
                        <a:srgbClr val="1F5AA6"/>
                      </a:solidFill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0" sourceLinked="0"/>
            <c:txPr>
              <a:bodyPr/>
              <a:lstStyle/>
              <a:p>
                <a:pPr>
                  <a:defRPr sz="1200">
                    <a:solidFill>
                      <a:srgbClr val="1E2329"/>
                    </a:solidFill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Sheet1!$A$2:$A$3</c:f>
              <c:strCache>
                <c:ptCount val="2"/>
                <c:pt idx="0">
                  <c:v>Never finished setup</c:v>
                </c:pt>
                <c:pt idx="1">
                  <c:v>Finished setup</c:v>
                </c:pt>
              </c:strCache>
            </c:strRef>
          </c:cat>
          <c:val>
            <c:numRef>
              <c:f>Sheet1!$B$2:$B$3</c:f>
              <c:numCache>
                <c:formatCode>0</c:formatCode>
                <c:ptCount val="2"/>
                <c:pt idx="0">
                  <c:v>44</c:v>
                </c:pt>
                <c:pt idx="1">
                  <c:v>17</c:v>
                </c:pt>
              </c:numCache>
            </c:numRef>
          </c:val>
        </c:ser>
        <c:gapWidth val="11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low"/>
        <c:spPr>
          <a:ln w="9525">
            <a:solidFill>
              <a:srgbClr val="B7BEC7"/>
            </a:solidFill>
          </a:ln>
        </c:spPr>
        <c:txPr>
          <a:bodyPr/>
          <a:lstStyle/>
          <a:p>
            <a:pPr>
              <a:defRPr sz="1200">
                <a:solidFill>
                  <a:srgbClr val="1E2329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51.919999999999995"/>
          <c:min val="0.0"/>
        </c:scaling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spPr>
    <a:noFill/>
    <a:ln>
      <a:noFill/>
    </a:ln>
  </c:spPr>
  <c:txPr>
    <a:bodyPr/>
    <a:lstStyle/>
    <a:p>
      <a:pPr>
        <a:defRPr sz="1200">
          <a:solidFill>
            <a:srgbClr val="1E2329"/>
          </a:solidFill>
        </a:defRPr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90-day churn by setup status, </c:v>
                </c:pt>
              </c:strCache>
            </c:strRef>
          </c:tx>
          <c:spPr>
            <a:solidFill>
              <a:srgbClr val="B7BEC7"/>
            </a:solidFill>
            <a:ln>
              <a:noFill/>
            </a:ln>
          </c:spPr>
          <c:invertIfNegative val="0"/>
          <c:dPt>
            <c:idx val="1"/>
            <c:invertIfNegative val="0"/>
            <c:spPr>
              <a:solidFill>
                <a:srgbClr val="1F5AA6"/>
              </a:solidFill>
            </c:spPr>
          </c:dPt>
          <c:dLbls>
            <c:dLbl>
              <c:idx val="1"/>
              <c:spPr/>
              <c:txPr>
                <a:bodyPr/>
                <a:lstStyle/>
                <a:p>
                  <a:pPr>
                    <a:defRPr b="1" sz="1200">
                      <a:solidFill>
                        <a:srgbClr val="1F5AA6"/>
                      </a:solidFill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0" sourceLinked="0"/>
            <c:txPr>
              <a:bodyPr/>
              <a:lstStyle/>
              <a:p>
                <a:pPr>
                  <a:defRPr sz="1200">
                    <a:solidFill>
                      <a:srgbClr val="1E2329"/>
                    </a:solidFill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Sheet1!$A$2:$A$3</c:f>
              <c:strCache>
                <c:ptCount val="2"/>
                <c:pt idx="0">
                  <c:v>Setup within 30 days</c:v>
                </c:pt>
                <c:pt idx="1">
                  <c:v>Setup not finished</c:v>
                </c:pt>
              </c:strCache>
            </c:strRef>
          </c:cat>
          <c:val>
            <c:numRef>
              <c:f>Sheet1!$B$2:$B$3</c:f>
              <c:numCache>
                <c:formatCode>0</c:formatCode>
                <c:ptCount val="2"/>
                <c:pt idx="0">
                  <c:v>4</c:v>
                </c:pt>
                <c:pt idx="1">
                  <c:v>19</c:v>
                </c:pt>
              </c:numCache>
            </c:numRef>
          </c:val>
        </c:ser>
        <c:gapWidth val="11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low"/>
        <c:spPr>
          <a:ln w="9525">
            <a:solidFill>
              <a:srgbClr val="B7BEC7"/>
            </a:solidFill>
          </a:ln>
        </c:spPr>
        <c:txPr>
          <a:bodyPr/>
          <a:lstStyle/>
          <a:p>
            <a:pPr>
              <a:defRPr sz="1200">
                <a:solidFill>
                  <a:srgbClr val="1E2329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21.28"/>
          <c:min val="0.0"/>
        </c:scaling>
        <c:delete/>
        <c:axPos val="l"/>
        <c:majorTickMark val="out"/>
        <c:minorTickMark val="none"/>
        <c:tickLblPos val="nextTo"/>
        <c:crossAx val="-2068027336"/>
        <c:crosses val="autoZero"/>
      </c:valAx>
    </c:plotArea>
    <c:dispBlanksAs val="gap"/>
  </c:chart>
  <c:spPr>
    <a:noFill/>
    <a:ln>
      <a:noFill/>
    </a:ln>
  </c:spPr>
  <c:txPr>
    <a:bodyPr/>
    <a:lstStyle/>
    <a:p>
      <a:pPr>
        <a:defRPr sz="1200">
          <a:solidFill>
            <a:srgbClr val="1E2329"/>
          </a:solidFill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Lead with the ask; the rest of the deck is the proof.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Q1 900 vs 850; Q2 1,000 vs 950; Q3 1,150 vs 950.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Q3 bridge: 10,160 + 1,150 + 300 - 80 - 480 = 11,050. 150 / 10,900 = 1.4%.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change is all SMB.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11,050 + 1,150 + 300 - 80 - 560 - 90 = 11,770; 12,000 - 11,770 = 230.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Finished setup = integrations connected within 30 days of signing.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Cohort analysis; it shows association, which the Q3 churn pull on the previous slide supports.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Monthly SMB sign-ups rose from 85 to 120 while the team stayed the same.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Costs are fully loaded annual figures.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 explicit that the 2027 effect is open and when it will be sized.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Two decisions today, one review in January.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2103120"/>
            <a:ext cx="8412480" cy="1828800"/>
          </a:xfrm>
        </p:spPr>
        <p:txBody>
          <a:bodyPr lIns="0" tIns="0" rIns="0" bIns="0" anchor="b" wrap="square">
            <a:noAutofit/>
          </a:bodyPr>
          <a:lstStyle>
            <a:lvl1pPr algn="l" marL="0" indent="0">
              <a:lnSpc>
                <a:spcPct val="90000"/>
              </a:lnSpc>
              <a:spcBef>
                <a:spcPts val="0"/>
              </a:spcBef>
              <a:buNone/>
              <a:defRPr sz="4000" b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7200" y="4160520"/>
            <a:ext cx="8412480" cy="1188720"/>
          </a:xfrm>
        </p:spPr>
        <p:txBody>
          <a:bodyPr lIns="0" tIns="0" rIns="0" bIns="0" anchor="t" wrap="square">
            <a:noAutofit/>
          </a:bodyPr>
          <a:lstStyle>
            <a:lvl1pPr algn="l" marL="0" indent="0">
              <a:spcBef>
                <a:spcPts val="0"/>
              </a:spcBef>
              <a:buNone/>
              <a:defRPr sz="2000" b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67280" y="2194560"/>
            <a:ext cx="9367520" cy="1463040"/>
          </a:xfrm>
        </p:spPr>
        <p:txBody>
          <a:bodyPr anchor="b" lIns="0" tIns="0" rIns="0" bIns="0" wrap="square">
            <a:noAutofit/>
          </a:bodyPr>
          <a:lstStyle>
            <a:lvl1pPr algn="l" marL="0" indent="0">
              <a:lnSpc>
                <a:spcPct val="90000"/>
              </a:lnSpc>
              <a:spcBef>
                <a:spcPts val="0"/>
              </a:spcBef>
              <a:buNone/>
              <a:defRPr sz="3600" b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367280" y="3840480"/>
            <a:ext cx="9367520" cy="1097280"/>
          </a:xfrm>
        </p:spPr>
        <p:txBody>
          <a:bodyPr anchor="t" lIns="0" tIns="0" rIns="0" bIns="0" wrap="square">
            <a:noAutofit/>
          </a:bodyPr>
          <a:lstStyle>
            <a:lvl1pPr algn="l" marL="0" indent="0">
              <a:spcBef>
                <a:spcPts val="0"/>
              </a:spcBef>
              <a:buNone/>
              <a:defRPr sz="1800" b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502920"/>
            <a:ext cx="11277600" cy="914400"/>
          </a:xfrm>
          <a:prstGeom prst="rect">
            <a:avLst/>
          </a:prstGeom>
        </p:spPr>
        <p:txBody>
          <a:bodyPr vert="horz" lIns="0" tIns="0" rIns="0" bIns="0" rtlCol="0" anchor="t" wrap="square">
            <a:no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11277600" cy="4663440"/>
          </a:xfrm>
          <a:prstGeom prst="rect">
            <a:avLst/>
          </a:prstGeom>
        </p:spPr>
        <p:txBody>
          <a:bodyPr vert="horz" lIns="0" tIns="0" rIns="0" bIns="0" rtlCol="0" anchor="t" wrap="square">
            <a:no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5080"/>
            <a:ext cx="1828800" cy="228600"/>
          </a:xfrm>
          <a:prstGeom prst="rect">
            <a:avLst/>
          </a:prstGeom>
        </p:spPr>
        <p:txBody>
          <a:bodyPr vert="horz" lIns="0" tIns="0" rIns="0" bIns="0" rtlCol="0" anchor="b" wrap="square">
            <a:noAutofit/>
          </a:bodyPr>
          <a:lstStyle>
            <a:lvl1pPr algn="l" marL="0" indent="0">
              <a:spcBef>
                <a:spcPts val="0"/>
              </a:spcBef>
              <a:buNone/>
              <a:defRPr sz="1000" b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267200" y="6355080"/>
            <a:ext cx="3657600" cy="228600"/>
          </a:xfrm>
          <a:prstGeom prst="rect">
            <a:avLst/>
          </a:prstGeom>
        </p:spPr>
        <p:txBody>
          <a:bodyPr vert="horz" lIns="0" tIns="0" rIns="0" bIns="0" rtlCol="0" anchor="b" wrap="square">
            <a:noAutofit/>
          </a:bodyPr>
          <a:lstStyle>
            <a:lvl1pPr algn="ctr" marL="0" indent="0">
              <a:spcBef>
                <a:spcPts val="0"/>
              </a:spcBef>
              <a:buNone/>
              <a:defRPr sz="1000" b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20400" y="6355080"/>
            <a:ext cx="914400" cy="228600"/>
          </a:xfrm>
          <a:prstGeom prst="rect">
            <a:avLst/>
          </a:prstGeom>
        </p:spPr>
        <p:txBody>
          <a:bodyPr vert="horz" lIns="0" tIns="0" rIns="0" bIns="0" rtlCol="0" anchor="b" wrap="square">
            <a:noAutofit/>
          </a:bodyPr>
          <a:lstStyle>
            <a:lvl1pPr algn="r" marL="0" indent="0">
              <a:spcBef>
                <a:spcPts val="0"/>
              </a:spcBef>
              <a:buNone/>
              <a:defRPr sz="1000" b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4" r:id="rId6"/>
    <p:sldLayoutId id="2147483655" r:id="rId7"/>
  </p:sldLayoutIdLst>
  <p:txStyles>
    <p:titleStyle>
      <a:lvl1pPr algn="l" marL="0" indent="0">
        <a:lnSpc>
          <a:spcPct val="90000"/>
        </a:lnSpc>
        <a:spcBef>
          <a:spcPts val="0"/>
        </a:spcBef>
        <a:buNone/>
        <a:defRPr sz="2800" b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marL="201168" indent="-201168">
        <a:spcBef>
          <a:spcPts val="600"/>
        </a:spcBef>
        <a:buFont typeface="Arial"/>
        <a:buChar char="•"/>
        <a:defRPr sz="1600" b="0">
          <a:solidFill>
            <a:schemeClr val="tx1"/>
          </a:solidFill>
          <a:latin typeface="+mn-lt"/>
          <a:ea typeface="+mn-ea"/>
          <a:cs typeface="+mn-cs"/>
        </a:defRPr>
      </a:lvl1pPr>
      <a:lvl2pPr algn="l" marL="411480" indent="-182880">
        <a:spcBef>
          <a:spcPts val="300"/>
        </a:spcBef>
        <a:buFont typeface="Arial"/>
        <a:buChar char="–"/>
        <a:defRPr sz="1400" b="0">
          <a:solidFill>
            <a:schemeClr val="tx1"/>
          </a:solidFill>
          <a:latin typeface="+mn-lt"/>
          <a:ea typeface="+mn-ea"/>
          <a:cs typeface="+mn-cs"/>
        </a:defRPr>
      </a:lvl2pPr>
      <a:lvl3pPr algn="l" marL="594360" indent="-182880">
        <a:spcBef>
          <a:spcPts val="300"/>
        </a:spcBef>
        <a:buFont typeface="Arial"/>
        <a:buChar char="–"/>
        <a:defRPr sz="1400" b="0">
          <a:solidFill>
            <a:schemeClr val="tx1"/>
          </a:solidFill>
          <a:latin typeface="+mn-lt"/>
          <a:ea typeface="+mn-ea"/>
          <a:cs typeface="+mn-cs"/>
        </a:defRPr>
      </a:lvl3pPr>
      <a:lvl4pPr algn="l" marL="777240" indent="-182880">
        <a:spcBef>
          <a:spcPts val="300"/>
        </a:spcBef>
        <a:buFont typeface="Arial"/>
        <a:buChar char="–"/>
        <a:defRPr sz="1400" b="0">
          <a:solidFill>
            <a:schemeClr val="tx1"/>
          </a:solidFill>
          <a:latin typeface="+mn-lt"/>
          <a:ea typeface="+mn-ea"/>
          <a:cs typeface="+mn-cs"/>
        </a:defRPr>
      </a:lvl4pPr>
      <a:lvl5pPr algn="l" marL="960120" indent="-182880">
        <a:spcBef>
          <a:spcPts val="300"/>
        </a:spcBef>
        <a:buFont typeface="Arial"/>
        <a:buChar char="–"/>
        <a:defRPr sz="1400" b="0">
          <a:solidFill>
            <a:schemeClr val="tx1"/>
          </a:solidFill>
          <a:latin typeface="+mn-lt"/>
          <a:ea typeface="+mn-ea"/>
          <a:cs typeface="+mn-cs"/>
        </a:defRPr>
      </a:lvl5pPr>
      <a:lvl6pPr algn="l" marL="1143000" indent="-182880">
        <a:spcBef>
          <a:spcPts val="300"/>
        </a:spcBef>
        <a:buFont typeface="Arial"/>
        <a:buChar char="–"/>
        <a:defRPr sz="1400" b="0">
          <a:solidFill>
            <a:schemeClr val="tx1"/>
          </a:solidFill>
          <a:latin typeface="+mn-lt"/>
          <a:ea typeface="+mn-ea"/>
          <a:cs typeface="+mn-cs"/>
        </a:defRPr>
      </a:lvl6pPr>
      <a:lvl7pPr algn="l" marL="1325880" indent="-182880">
        <a:spcBef>
          <a:spcPts val="300"/>
        </a:spcBef>
        <a:buFont typeface="Arial"/>
        <a:buChar char="–"/>
        <a:defRPr sz="1400" b="0">
          <a:solidFill>
            <a:schemeClr val="tx1"/>
          </a:solidFill>
          <a:latin typeface="+mn-lt"/>
          <a:ea typeface="+mn-ea"/>
          <a:cs typeface="+mn-cs"/>
        </a:defRPr>
      </a:lvl7pPr>
      <a:lvl8pPr algn="l" marL="1508760" indent="-182880">
        <a:spcBef>
          <a:spcPts val="300"/>
        </a:spcBef>
        <a:buFont typeface="Arial"/>
        <a:buChar char="–"/>
        <a:defRPr sz="1400" b="0">
          <a:solidFill>
            <a:schemeClr val="tx1"/>
          </a:solidFill>
          <a:latin typeface="+mn-lt"/>
          <a:ea typeface="+mn-ea"/>
          <a:cs typeface="+mn-cs"/>
        </a:defRPr>
      </a:lvl8pPr>
      <a:lvl9pPr algn="l" marL="1691640" indent="-182880">
        <a:spcBef>
          <a:spcPts val="300"/>
        </a:spcBef>
        <a:buFont typeface="Arial"/>
        <a:buChar char="–"/>
        <a:defRPr sz="1400" b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2.xml"/><Relationship Id="rId3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3.xml"/><Relationship Id="rId3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4.xml"/><Relationship Id="rId3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w:cover-title"/>
          <p:cNvSpPr>
            <a:spLocks noGrp="1"/>
          </p:cNvSpPr>
          <p:nvPr>
            <p:ph type="ctrTitle"/>
          </p:nvPr>
        </p:nvSpPr>
        <p:spPr/>
        <p:txBody>
          <a:bodyPr wrap="square"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sz="4000" b="0" lang="en-US">
                <a:latin typeface="+mj-lt"/>
                <a:ea typeface="+mj-ea"/>
                <a:cs typeface="+mj-cs"/>
              </a:rPr>
              <a:t>Q3 2026 board update</a:t>
            </a:r>
          </a:p>
        </p:txBody>
      </p:sp>
      <p:sp>
        <p:nvSpPr>
          <p:cNvPr id="3" name="sw:body"/>
          <p:cNvSpPr>
            <a:spLocks noGrp="1"/>
          </p:cNvSpPr>
          <p:nvPr>
            <p:ph type="subTitle" idx="1"/>
          </p:nvPr>
        </p:nvSpPr>
        <p:spPr/>
        <p:txBody>
          <a:bodyPr wrap="square"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sz="2000" b="0" lang="en-US">
                <a:latin typeface="+mn-lt"/>
                <a:ea typeface="+mn-ea"/>
                <a:cs typeface="+mn-cs"/>
              </a:rPr>
              <a:t>Sample Co. is a fictional B2B software company. Every figure in this deck is sample data, invented for this example.</a:t>
            </a:r>
          </a:p>
          <a:p>
            <a:pPr marL="0" indent="0">
              <a:spcBef>
                <a:spcPts val="840"/>
              </a:spcBef>
              <a:buNone/>
            </a:pPr>
            <a:r>
              <a:rPr sz="1400" b="0" lang="en-US">
                <a:latin typeface="+mn-lt"/>
                <a:ea typeface="+mn-ea"/>
                <a:cs typeface="+mn-cs"/>
              </a:rPr>
              <a:t>CEO, Sample Co. · Board meeting, October 2026</a:t>
            </a:r>
          </a:p>
        </p:txBody>
      </p:sp>
      <p:sp>
        <p:nvSpPr>
          <p:cNvPr id="4" name="sw:accent-rule"/>
          <p:cNvSpPr/>
          <p:nvPr/>
        </p:nvSpPr>
        <p:spPr>
          <a:xfrm>
            <a:off x="457200" y="1874520"/>
            <a:ext cx="822960" cy="54864"/>
          </a:xfrm>
          <a:prstGeom prst="rect">
            <a:avLst/>
          </a:prstGeom>
          <a:solidFill>
            <a:srgbClr val="1F5AA6"/>
          </a:solidFill>
          <a:ln>
            <a:noFill/>
          </a:ln>
        </p:spPr>
        <p:txBody>
          <a:bodyPr rtlCol="0" anchor="ctr"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w:title"/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sz="2800" b="0" lang="en-US">
                <a:latin typeface="+mj-lt"/>
                <a:ea typeface="+mj-ea"/>
                <a:cs typeface="+mj-cs"/>
              </a:rPr>
              <a:t>Q3 beat plan, but SMB churn puts year-end ARR $230k short; we propose moving two hires to onboarding</a:t>
            </a:r>
          </a:p>
        </p:txBody>
      </p:sp>
      <p:sp>
        <p:nvSpPr>
          <p:cNvPr id="3" name="sw:page"/>
          <p:cNvSpPr>
            <a:spLocks noGrp="1"/>
          </p:cNvSpPr>
          <p:nvPr>
            <p:ph type="sldNum" idx="12" sz="quarter"/>
          </p:nvPr>
        </p:nvSpPr>
        <p:spPr/>
        <p:txBody>
          <a:bodyPr/>
          <a:p>
            <a:fld id="{B6F15528-21DE-4FAA-801E-634DDDAF4B2B}" type="slidenum">
              <a:rPr lang="en-US" sz="1000"/>
              <a:t>2</a:t>
            </a:fld>
          </a:p>
        </p:txBody>
      </p:sp>
      <p:sp>
        <p:nvSpPr>
          <p:cNvPr id="4" name="sw:source"/>
          <p:cNvSpPr txBox="1"/>
          <p:nvPr/>
        </p:nvSpPr>
        <p:spPr>
          <a:xfrm>
            <a:off x="457200" y="6405880"/>
            <a:ext cx="10226040" cy="17780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l" marL="0" indent="0">
              <a:spcBef>
                <a:spcPts val="0"/>
              </a:spcBef>
              <a:buNone/>
            </a:pPr>
            <a:r>
              <a:rPr sz="1000" b="0" lang="en-US">
                <a:solidFill>
                  <a:srgbClr val="5A6472"/>
                </a:solidFill>
                <a:latin typeface="+mn-lt"/>
                <a:ea typeface="+mn-ea"/>
                <a:cs typeface="+mn-cs"/>
              </a:rPr>
              <a:t>Source: Sample data; metrics.csv, smb_onboarding.csv, CEO notes</a:t>
            </a:r>
          </a:p>
        </p:txBody>
      </p:sp>
      <p:sp>
        <p:nvSpPr>
          <p:cNvPr id="5" name="sw:body"/>
          <p:cNvSpPr txBox="1"/>
          <p:nvPr/>
        </p:nvSpPr>
        <p:spPr>
          <a:xfrm>
            <a:off x="1412240" y="1894967"/>
            <a:ext cx="10322560" cy="5775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spcBef>
                <a:spcPts val="0"/>
              </a:spcBef>
              <a:buNone/>
            </a:pPr>
            <a:r>
              <a:rPr sz="1800" b="1" lang="en-US">
                <a:solidFill>
                  <a:srgbClr val="1E2329"/>
                </a:solidFill>
                <a:latin typeface="+mn-lt"/>
                <a:ea typeface="+mn-ea"/>
                <a:cs typeface="+mn-cs"/>
              </a:rPr>
              <a:t>New business is healthy</a:t>
            </a:r>
          </a:p>
          <a:p>
            <a:pPr algn="l" marL="0" indent="0">
              <a:spcBef>
                <a:spcPts val="420"/>
              </a:spcBef>
              <a:buNone/>
            </a:pPr>
            <a:r>
              <a:rPr sz="1400" b="0" lang="en-US">
                <a:solidFill>
                  <a:srgbClr val="5A6472"/>
                </a:solidFill>
                <a:latin typeface="+mn-lt"/>
                <a:ea typeface="+mn-ea"/>
                <a:cs typeface="+mn-cs"/>
              </a:rPr>
              <a:t>Q3 new ARR beat plan by 21%, the third straight quarter above plan.</a:t>
            </a:r>
          </a:p>
        </p:txBody>
      </p:sp>
      <p:sp>
        <p:nvSpPr>
          <p:cNvPr id="6" name="sw:number"/>
          <p:cNvSpPr txBox="1"/>
          <p:nvPr/>
        </p:nvSpPr>
        <p:spPr>
          <a:xfrm>
            <a:off x="457200" y="1894967"/>
            <a:ext cx="772160" cy="5775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spcBef>
                <a:spcPts val="0"/>
              </a:spcBef>
              <a:buNone/>
            </a:pPr>
            <a:r>
              <a:rPr sz="1800" b="1" lang="en-US">
                <a:solidFill>
                  <a:srgbClr val="1F5AA6"/>
                </a:solidFill>
                <a:latin typeface="+mn-lt"/>
                <a:ea typeface="+mn-ea"/>
                <a:cs typeface="+mn-cs"/>
              </a:rPr>
              <a:t>1</a:t>
            </a:r>
          </a:p>
        </p:txBody>
      </p:sp>
      <p:cxnSp>
        <p:nvCxnSpPr>
          <p:cNvPr id="7" name="sw:rule"/>
          <p:cNvCxnSpPr/>
          <p:nvPr/>
        </p:nvCxnSpPr>
        <p:spPr>
          <a:xfrm>
            <a:off x="457200" y="2767330"/>
            <a:ext cx="11277600" cy="0"/>
          </a:xfrm>
          <a:prstGeom prst="line">
            <a:avLst/>
          </a:prstGeom>
          <a:ln w="9525">
            <a:solidFill>
              <a:srgbClr val="D5DAE0"/>
            </a:solidFill>
          </a:ln>
        </p:spPr>
      </p:cxnSp>
      <p:sp>
        <p:nvSpPr>
          <p:cNvPr id="8" name="sw:body"/>
          <p:cNvSpPr txBox="1"/>
          <p:nvPr/>
        </p:nvSpPr>
        <p:spPr>
          <a:xfrm>
            <a:off x="1412240" y="3062097"/>
            <a:ext cx="10322560" cy="5775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spcBef>
                <a:spcPts val="0"/>
              </a:spcBef>
              <a:buNone/>
            </a:pPr>
            <a:r>
              <a:rPr sz="1800" b="1" lang="en-US">
                <a:solidFill>
                  <a:srgbClr val="1E2329"/>
                </a:solidFill>
                <a:latin typeface="+mn-lt"/>
                <a:ea typeface="+mn-ea"/>
                <a:cs typeface="+mn-cs"/>
              </a:rPr>
              <a:t>SMB churn now limits growth</a:t>
            </a:r>
          </a:p>
          <a:p>
            <a:pPr algn="l" marL="0" indent="0">
              <a:spcBef>
                <a:spcPts val="420"/>
              </a:spcBef>
              <a:buNone/>
            </a:pPr>
            <a:r>
              <a:rPr sz="1400" b="0" lang="en-US">
                <a:solidFill>
                  <a:srgbClr val="5A6472"/>
                </a:solidFill>
                <a:latin typeface="+mn-lt"/>
                <a:ea typeface="+mn-ea"/>
                <a:cs typeface="+mn-cs"/>
              </a:rPr>
              <a:t>If the trend continues, year-end ARR lands about $230k below the $12.0M plan.</a:t>
            </a:r>
          </a:p>
        </p:txBody>
      </p:sp>
      <p:sp>
        <p:nvSpPr>
          <p:cNvPr id="9" name="sw:number"/>
          <p:cNvSpPr txBox="1"/>
          <p:nvPr/>
        </p:nvSpPr>
        <p:spPr>
          <a:xfrm>
            <a:off x="457200" y="3062097"/>
            <a:ext cx="772160" cy="5775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spcBef>
                <a:spcPts val="0"/>
              </a:spcBef>
              <a:buNone/>
            </a:pPr>
            <a:r>
              <a:rPr sz="1800" b="1" lang="en-US">
                <a:solidFill>
                  <a:srgbClr val="1F5AA6"/>
                </a:solidFill>
                <a:latin typeface="+mn-lt"/>
                <a:ea typeface="+mn-ea"/>
                <a:cs typeface="+mn-cs"/>
              </a:rPr>
              <a:t>2</a:t>
            </a:r>
          </a:p>
        </p:txBody>
      </p:sp>
      <p:cxnSp>
        <p:nvCxnSpPr>
          <p:cNvPr id="10" name="sw:rule"/>
          <p:cNvCxnSpPr/>
          <p:nvPr/>
        </p:nvCxnSpPr>
        <p:spPr>
          <a:xfrm>
            <a:off x="457200" y="3934460"/>
            <a:ext cx="11277600" cy="0"/>
          </a:xfrm>
          <a:prstGeom prst="line">
            <a:avLst/>
          </a:prstGeom>
          <a:ln w="9525">
            <a:solidFill>
              <a:srgbClr val="D5DAE0"/>
            </a:solidFill>
          </a:ln>
        </p:spPr>
      </p:cxnSp>
      <p:sp>
        <p:nvSpPr>
          <p:cNvPr id="11" name="sw:body"/>
          <p:cNvSpPr txBox="1"/>
          <p:nvPr/>
        </p:nvSpPr>
        <p:spPr>
          <a:xfrm>
            <a:off x="1412240" y="4229227"/>
            <a:ext cx="10322560" cy="5775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spcBef>
                <a:spcPts val="0"/>
              </a:spcBef>
              <a:buNone/>
            </a:pPr>
            <a:r>
              <a:rPr sz="1800" b="1" lang="en-US">
                <a:solidFill>
                  <a:srgbClr val="1E2329"/>
                </a:solidFill>
                <a:latin typeface="+mn-lt"/>
                <a:ea typeface="+mn-ea"/>
                <a:cs typeface="+mn-cs"/>
              </a:rPr>
              <a:t>The cause is SMB accounts that never finish setup</a:t>
            </a:r>
          </a:p>
          <a:p>
            <a:pPr algn="l" marL="0" indent="0">
              <a:spcBef>
                <a:spcPts val="420"/>
              </a:spcBef>
              <a:buNone/>
            </a:pPr>
            <a:r>
              <a:rPr sz="1400" b="0" lang="en-US">
                <a:solidFill>
                  <a:srgbClr val="5A6472"/>
                </a:solidFill>
                <a:latin typeface="+mn-lt"/>
                <a:ea typeface="+mn-ea"/>
                <a:cs typeface="+mn-cs"/>
              </a:rPr>
              <a:t>Onboarding load per specialist rose 41% while the team stayed at two people.</a:t>
            </a:r>
          </a:p>
        </p:txBody>
      </p:sp>
      <p:sp>
        <p:nvSpPr>
          <p:cNvPr id="12" name="sw:number"/>
          <p:cNvSpPr txBox="1"/>
          <p:nvPr/>
        </p:nvSpPr>
        <p:spPr>
          <a:xfrm>
            <a:off x="457200" y="4229227"/>
            <a:ext cx="772160" cy="5775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spcBef>
                <a:spcPts val="0"/>
              </a:spcBef>
              <a:buNone/>
            </a:pPr>
            <a:r>
              <a:rPr sz="1800" b="1" lang="en-US">
                <a:solidFill>
                  <a:srgbClr val="1F5AA6"/>
                </a:solidFill>
                <a:latin typeface="+mn-lt"/>
                <a:ea typeface="+mn-ea"/>
                <a:cs typeface="+mn-cs"/>
              </a:rPr>
              <a:t>3</a:t>
            </a:r>
          </a:p>
        </p:txBody>
      </p:sp>
      <p:cxnSp>
        <p:nvCxnSpPr>
          <p:cNvPr id="13" name="sw:rule"/>
          <p:cNvCxnSpPr/>
          <p:nvPr/>
        </p:nvCxnSpPr>
        <p:spPr>
          <a:xfrm>
            <a:off x="457200" y="5101590"/>
            <a:ext cx="11277600" cy="0"/>
          </a:xfrm>
          <a:prstGeom prst="line">
            <a:avLst/>
          </a:prstGeom>
          <a:ln w="9525">
            <a:solidFill>
              <a:srgbClr val="D5DAE0"/>
            </a:solidFill>
          </a:ln>
        </p:spPr>
      </p:cxnSp>
      <p:sp>
        <p:nvSpPr>
          <p:cNvPr id="14" name="sw:body"/>
          <p:cNvSpPr txBox="1"/>
          <p:nvPr/>
        </p:nvSpPr>
        <p:spPr>
          <a:xfrm>
            <a:off x="1412240" y="5396357"/>
            <a:ext cx="10322560" cy="5775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spcBef>
                <a:spcPts val="0"/>
              </a:spcBef>
              <a:buNone/>
            </a:pPr>
            <a:r>
              <a:rPr sz="1800" b="1" lang="en-US">
                <a:solidFill>
                  <a:srgbClr val="1E2329"/>
                </a:solidFill>
                <a:latin typeface="+mn-lt"/>
                <a:ea typeface="+mn-ea"/>
                <a:cs typeface="+mn-cs"/>
              </a:rPr>
              <a:t>Move two Q4 sales hires to onboarding</a:t>
            </a:r>
          </a:p>
          <a:p>
            <a:pPr algn="l" marL="0" indent="0">
              <a:spcBef>
                <a:spcPts val="420"/>
              </a:spcBef>
              <a:buNone/>
            </a:pPr>
            <a:r>
              <a:rPr sz="1400" b="0" lang="en-US">
                <a:solidFill>
                  <a:srgbClr val="5A6472"/>
                </a:solidFill>
                <a:latin typeface="+mn-lt"/>
                <a:ea typeface="+mn-ea"/>
                <a:cs typeface="+mn-cs"/>
              </a:rPr>
              <a:t>It saves $110k a year and recovers about $82k of Q4 ARR. We ask for two approvals today.</a:t>
            </a:r>
          </a:p>
        </p:txBody>
      </p:sp>
      <p:sp>
        <p:nvSpPr>
          <p:cNvPr id="15" name="sw:number"/>
          <p:cNvSpPr txBox="1"/>
          <p:nvPr/>
        </p:nvSpPr>
        <p:spPr>
          <a:xfrm>
            <a:off x="457200" y="5396357"/>
            <a:ext cx="772160" cy="5775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spcBef>
                <a:spcPts val="0"/>
              </a:spcBef>
              <a:buNone/>
            </a:pPr>
            <a:r>
              <a:rPr sz="1800" b="1" lang="en-US">
                <a:solidFill>
                  <a:srgbClr val="1F5AA6"/>
                </a:solidFill>
                <a:latin typeface="+mn-lt"/>
                <a:ea typeface="+mn-ea"/>
                <a:cs typeface="+mn-cs"/>
              </a:rPr>
              <a:t>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w:title"/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sz="2800" b="0" lang="en-US">
                <a:latin typeface="+mj-lt"/>
                <a:ea typeface="+mj-ea"/>
                <a:cs typeface="+mj-cs"/>
              </a:rPr>
              <a:t>New ARR beat plan by 21% in Q3, the third straight quarter above plan</a:t>
            </a:r>
          </a:p>
        </p:txBody>
      </p:sp>
      <p:sp>
        <p:nvSpPr>
          <p:cNvPr id="3" name="sw:page"/>
          <p:cNvSpPr>
            <a:spLocks noGrp="1"/>
          </p:cNvSpPr>
          <p:nvPr>
            <p:ph type="sldNum" idx="12" sz="quarter"/>
          </p:nvPr>
        </p:nvSpPr>
        <p:spPr/>
        <p:txBody>
          <a:bodyPr/>
          <a:p>
            <a:fld id="{B6F15528-21DE-4FAA-801E-634DDDAF4B2B}" type="slidenum">
              <a:rPr lang="en-US" sz="1000"/>
              <a:t>3</a:t>
            </a:fld>
          </a:p>
        </p:txBody>
      </p:sp>
      <p:sp>
        <p:nvSpPr>
          <p:cNvPr id="4" name="sw:tracker"/>
          <p:cNvSpPr txBox="1"/>
          <p:nvPr/>
        </p:nvSpPr>
        <p:spPr>
          <a:xfrm>
            <a:off x="457200" y="228600"/>
            <a:ext cx="6766560" cy="22860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l" marL="0" indent="0">
              <a:spcBef>
                <a:spcPts val="0"/>
              </a:spcBef>
              <a:buNone/>
            </a:pPr>
            <a:r>
              <a:rPr sz="1100" b="1" lang="en-US">
                <a:solidFill>
                  <a:srgbClr val="1F5AA6"/>
                </a:solidFill>
                <a:latin typeface="+mn-lt"/>
                <a:ea typeface="+mn-ea"/>
                <a:cs typeface="+mn-cs"/>
              </a:rPr>
              <a:t>Results</a:t>
            </a:r>
          </a:p>
        </p:txBody>
      </p:sp>
      <p:sp>
        <p:nvSpPr>
          <p:cNvPr id="5" name="sw:source"/>
          <p:cNvSpPr txBox="1"/>
          <p:nvPr/>
        </p:nvSpPr>
        <p:spPr>
          <a:xfrm>
            <a:off x="457200" y="6405880"/>
            <a:ext cx="10226040" cy="17780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l" marL="0" indent="0">
              <a:spcBef>
                <a:spcPts val="0"/>
              </a:spcBef>
              <a:buNone/>
            </a:pPr>
            <a:r>
              <a:rPr sz="1000" b="0" lang="en-US">
                <a:solidFill>
                  <a:srgbClr val="5A6472"/>
                </a:solidFill>
                <a:latin typeface="+mn-lt"/>
                <a:ea typeface="+mn-ea"/>
                <a:cs typeface="+mn-cs"/>
              </a:rPr>
              <a:t>Source: Sample data; metrics.csv (new ARR and plan new ARR by quarter). Beat = actual / plan - 1.</a:t>
            </a:r>
          </a:p>
        </p:txBody>
      </p:sp>
      <p:sp>
        <p:nvSpPr>
          <p:cNvPr id="6" name="sw:exhibit-title"/>
          <p:cNvSpPr txBox="1"/>
          <p:nvPr/>
        </p:nvSpPr>
        <p:spPr>
          <a:xfrm>
            <a:off x="457200" y="1600200"/>
            <a:ext cx="7457440" cy="24993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spcBef>
                <a:spcPts val="0"/>
              </a:spcBef>
              <a:buNone/>
            </a:pPr>
            <a:r>
              <a:rPr sz="1400" b="1" lang="en-US">
                <a:solidFill>
                  <a:srgbClr val="1E2329"/>
                </a:solidFill>
                <a:latin typeface="+mn-lt"/>
                <a:ea typeface="+mn-ea"/>
                <a:cs typeface="+mn-cs"/>
              </a:rPr>
              <a:t>New ARR versus plan, 2026, %</a:t>
            </a:r>
          </a:p>
        </p:txBody>
      </p:sp>
      <p:graphicFrame>
        <p:nvGraphicFramePr>
          <p:cNvPr id="7" name="sw:chart"/>
          <p:cNvGraphicFramePr>
            <a:graphicFrameLocks noGrp="1"/>
          </p:cNvGraphicFramePr>
          <p:nvPr/>
        </p:nvGraphicFramePr>
        <p:xfrm>
          <a:off x="457200" y="1959864"/>
          <a:ext cx="7457440" cy="4308856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sw:label"/>
          <p:cNvSpPr txBox="1"/>
          <p:nvPr/>
        </p:nvSpPr>
        <p:spPr>
          <a:xfrm>
            <a:off x="8097520" y="1600200"/>
            <a:ext cx="3637280" cy="2311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spcBef>
                <a:spcPts val="0"/>
              </a:spcBef>
              <a:buNone/>
            </a:pPr>
            <a:r>
              <a:rPr sz="1400" b="1" lang="en-US">
                <a:solidFill>
                  <a:srgbClr val="1F5AA6"/>
                </a:solidFill>
                <a:latin typeface="+mn-lt"/>
                <a:ea typeface="+mn-ea"/>
                <a:cs typeface="+mn-cs"/>
              </a:rPr>
              <a:t>So what</a:t>
            </a:r>
          </a:p>
        </p:txBody>
      </p:sp>
      <p:cxnSp>
        <p:nvCxnSpPr>
          <p:cNvPr id="9" name="sw:rule"/>
          <p:cNvCxnSpPr/>
          <p:nvPr/>
        </p:nvCxnSpPr>
        <p:spPr>
          <a:xfrm>
            <a:off x="8097520" y="1886204"/>
            <a:ext cx="3637280" cy="0"/>
          </a:xfrm>
          <a:prstGeom prst="line">
            <a:avLst/>
          </a:prstGeom>
          <a:ln w="25400">
            <a:solidFill>
              <a:srgbClr val="1F5AA6"/>
            </a:solidFill>
          </a:ln>
        </p:spPr>
      </p:cxnSp>
      <p:sp>
        <p:nvSpPr>
          <p:cNvPr id="10" name="sw:body"/>
          <p:cNvSpPr txBox="1"/>
          <p:nvPr/>
        </p:nvSpPr>
        <p:spPr>
          <a:xfrm>
            <a:off x="8097520" y="2014220"/>
            <a:ext cx="3637280" cy="4254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177800" indent="-177800">
              <a:spcBef>
                <a:spcPts val="0"/>
              </a:spcBef>
              <a:buFont typeface="Arial"/>
              <a:buChar char="•"/>
            </a:pPr>
            <a:r>
              <a:rPr sz="1600" b="0" lang="en-US">
                <a:solidFill>
                  <a:srgbClr val="1E2329"/>
                </a:solidFill>
                <a:latin typeface="+mn-lt"/>
                <a:ea typeface="+mn-ea"/>
                <a:cs typeface="+mn-cs"/>
              </a:rPr>
              <a:t>Q3 new ARR was $1,150k against a $950k plan</a:t>
            </a:r>
          </a:p>
          <a:p>
            <a:pPr algn="l" marL="177800" indent="-177800">
              <a:spcBef>
                <a:spcPts val="960"/>
              </a:spcBef>
              <a:buFont typeface="Arial"/>
              <a:buChar char="•"/>
            </a:pPr>
            <a:r>
              <a:rPr sz="1600" b="0" lang="en-US">
                <a:solidFill>
                  <a:srgbClr val="1E2329"/>
                </a:solidFill>
                <a:latin typeface="+mn-lt"/>
                <a:ea typeface="+mn-ea"/>
                <a:cs typeface="+mn-cs"/>
              </a:rPr>
              <a:t>Q1 and Q2 also beat plan, by $50k each</a:t>
            </a:r>
          </a:p>
          <a:p>
            <a:pPr algn="l" marL="177800" indent="-177800">
              <a:spcBef>
                <a:spcPts val="960"/>
              </a:spcBef>
              <a:buFont typeface="Arial"/>
              <a:buChar char="•"/>
            </a:pPr>
            <a:r>
              <a:rPr sz="1600" b="0" lang="en-US">
                <a:solidFill>
                  <a:srgbClr val="1E2329"/>
                </a:solidFill>
                <a:latin typeface="+mn-lt"/>
                <a:ea typeface="+mn-ea"/>
                <a:cs typeface="+mn-cs"/>
              </a:rPr>
              <a:t>Demand is not the problem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w:title"/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sz="2800" b="0" lang="en-US">
                <a:latin typeface="+mj-lt"/>
                <a:ea typeface="+mj-ea"/>
                <a:cs typeface="+mj-cs"/>
              </a:rPr>
              <a:t>Ending ARR of $11.05M beat plan by 1.4%, a smaller margin than new ARR because churn rose</a:t>
            </a:r>
          </a:p>
        </p:txBody>
      </p:sp>
      <p:sp>
        <p:nvSpPr>
          <p:cNvPr id="3" name="sw:page"/>
          <p:cNvSpPr>
            <a:spLocks noGrp="1"/>
          </p:cNvSpPr>
          <p:nvPr>
            <p:ph type="sldNum" idx="12" sz="quarter"/>
          </p:nvPr>
        </p:nvSpPr>
        <p:spPr/>
        <p:txBody>
          <a:bodyPr/>
          <a:p>
            <a:fld id="{B6F15528-21DE-4FAA-801E-634DDDAF4B2B}" type="slidenum">
              <a:rPr lang="en-US" sz="1000"/>
              <a:t>4</a:t>
            </a:fld>
          </a:p>
        </p:txBody>
      </p:sp>
      <p:sp>
        <p:nvSpPr>
          <p:cNvPr id="4" name="sw:tracker"/>
          <p:cNvSpPr txBox="1"/>
          <p:nvPr/>
        </p:nvSpPr>
        <p:spPr>
          <a:xfrm>
            <a:off x="457200" y="228600"/>
            <a:ext cx="6766560" cy="22860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l" marL="0" indent="0">
              <a:spcBef>
                <a:spcPts val="0"/>
              </a:spcBef>
              <a:buNone/>
            </a:pPr>
            <a:r>
              <a:rPr sz="1100" b="1" lang="en-US">
                <a:solidFill>
                  <a:srgbClr val="1F5AA6"/>
                </a:solidFill>
                <a:latin typeface="+mn-lt"/>
                <a:ea typeface="+mn-ea"/>
                <a:cs typeface="+mn-cs"/>
              </a:rPr>
              <a:t>Results</a:t>
            </a:r>
          </a:p>
        </p:txBody>
      </p:sp>
      <p:sp>
        <p:nvSpPr>
          <p:cNvPr id="5" name="sw:source"/>
          <p:cNvSpPr txBox="1"/>
          <p:nvPr/>
        </p:nvSpPr>
        <p:spPr>
          <a:xfrm>
            <a:off x="457200" y="6405880"/>
            <a:ext cx="10226040" cy="17780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l" marL="0" indent="0">
              <a:spcBef>
                <a:spcPts val="0"/>
              </a:spcBef>
              <a:buNone/>
            </a:pPr>
            <a:r>
              <a:rPr sz="1000" b="0" lang="en-US">
                <a:solidFill>
                  <a:srgbClr val="5A6472"/>
                </a:solidFill>
                <a:latin typeface="+mn-lt"/>
                <a:ea typeface="+mn-ea"/>
                <a:cs typeface="+mn-cs"/>
              </a:rPr>
              <a:t>Source: Sample data; metrics.csv (ARR movements and plan by quarter).</a:t>
            </a:r>
          </a:p>
        </p:txBody>
      </p:sp>
      <p:sp>
        <p:nvSpPr>
          <p:cNvPr id="6" name="sw:exhibit-title"/>
          <p:cNvSpPr txBox="1"/>
          <p:nvPr/>
        </p:nvSpPr>
        <p:spPr>
          <a:xfrm>
            <a:off x="457200" y="1600200"/>
            <a:ext cx="7457440" cy="24993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spcBef>
                <a:spcPts val="0"/>
              </a:spcBef>
              <a:buNone/>
            </a:pPr>
            <a:r>
              <a:rPr sz="1400" b="1" lang="en-US">
                <a:solidFill>
                  <a:srgbClr val="1E2329"/>
                </a:solidFill>
                <a:latin typeface="+mn-lt"/>
                <a:ea typeface="+mn-ea"/>
                <a:cs typeface="+mn-cs"/>
              </a:rPr>
              <a:t>ARR bridge by quarter, $k</a:t>
            </a:r>
          </a:p>
        </p:txBody>
      </p:sp>
      <p:graphicFrame>
        <p:nvGraphicFramePr>
          <p:cNvPr id="7" name="sw:table"/>
          <p:cNvGraphicFramePr>
            <a:graphicFrameLocks noGrp="1"/>
          </p:cNvGraphicFramePr>
          <p:nvPr/>
        </p:nvGraphicFramePr>
        <p:xfrm>
          <a:off x="457200" y="1959864"/>
          <a:ext cx="7457440" cy="2971800"/>
        </p:xfrm>
        <a:graphic>
          <a:graphicData uri="http://schemas.openxmlformats.org/drawingml/2006/table">
            <a:tbl>
              <a:tblPr firstRow="1">
                <a:tableStyleId>{2D5ABB26-0587-4C30-8999-92F81FD0307C}</a:tableStyleId>
              </a:tblPr>
              <a:tblGrid>
                <a:gridCol w="4011197"/>
                <a:gridCol w="1723121"/>
                <a:gridCol w="1723122"/>
              </a:tblGrid>
              <a:tr h="330200">
                <a:tc>
                  <a:txBody>
                    <a:bodyPr wrap="square">
                      <a:noAutofit/>
                    </a:bodyPr>
                    <a:lstStyle/>
                    <a:p>
                      <a:pPr algn="l" marL="0" indent="0">
                        <a:spcBef>
                          <a:spcPts val="0"/>
                        </a:spcBef>
                        <a:buNone/>
                      </a:pPr>
                      <a:r>
                        <a:rPr sz="1400" b="1" lang="en-US">
                          <a:solidFill>
                            <a:srgbClr val="5A6472"/>
                          </a:solidFill>
                          <a:latin typeface="+mn-lt"/>
                          <a:ea typeface="+mn-ea"/>
                          <a:cs typeface="+mn-cs"/>
                        </a:rPr>
                        <a:t>$k</a:t>
                      </a:r>
                    </a:p>
                  </a:txBody>
                  <a:tcPr marL="91440" marR="91440" marT="45720" marB="45720" anchor="b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 cap="flat" cmpd="sng">
                      <a:solidFill>
                        <a:srgbClr val="1E2329"/>
                      </a:solidFill>
                    </a:lnB>
                    <a:noFill/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 marL="0" indent="0">
                        <a:spcBef>
                          <a:spcPts val="0"/>
                        </a:spcBef>
                        <a:buNone/>
                      </a:pPr>
                      <a:r>
                        <a:rPr sz="1400" b="1" lang="en-US">
                          <a:solidFill>
                            <a:srgbClr val="5A6472"/>
                          </a:solidFill>
                          <a:latin typeface="+mn-lt"/>
                          <a:ea typeface="+mn-ea"/>
                          <a:cs typeface="+mn-cs"/>
                        </a:rPr>
                        <a:t>Q2</a:t>
                      </a:r>
                    </a:p>
                  </a:txBody>
                  <a:tcPr marL="91440" marR="91440" marT="45720" marB="45720" anchor="b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 cap="flat" cmpd="sng">
                      <a:solidFill>
                        <a:srgbClr val="1E2329"/>
                      </a:solidFill>
                    </a:lnB>
                    <a:noFill/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 marL="0" indent="0">
                        <a:spcBef>
                          <a:spcPts val="0"/>
                        </a:spcBef>
                        <a:buNone/>
                      </a:pPr>
                      <a:r>
                        <a:rPr sz="1400" b="1" lang="en-US">
                          <a:solidFill>
                            <a:srgbClr val="5A6472"/>
                          </a:solidFill>
                          <a:latin typeface="+mn-lt"/>
                          <a:ea typeface="+mn-ea"/>
                          <a:cs typeface="+mn-cs"/>
                        </a:rPr>
                        <a:t>Q3</a:t>
                      </a:r>
                    </a:p>
                  </a:txBody>
                  <a:tcPr marL="91440" marR="91440" marT="45720" marB="45720" anchor="b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 cap="flat" cmpd="sng">
                      <a:solidFill>
                        <a:srgbClr val="1E2329"/>
                      </a:solidFill>
                    </a:lnB>
                    <a:noFill/>
                  </a:tcPr>
                </a:tc>
              </a:tr>
              <a:tr h="330200">
                <a:tc>
                  <a:txBody>
                    <a:bodyPr wrap="square">
                      <a:noAutofit/>
                    </a:bodyPr>
                    <a:lstStyle/>
                    <a:p>
                      <a:pPr algn="l" marL="0" indent="0">
                        <a:spcBef>
                          <a:spcPts val="0"/>
                        </a:spcBef>
                        <a:buNone/>
                      </a:pPr>
                      <a:r>
                        <a:rPr sz="1400" b="0" lang="en-US">
                          <a:solidFill>
                            <a:srgbClr val="1E2329"/>
                          </a:solidFill>
                          <a:latin typeface="+mn-lt"/>
                          <a:ea typeface="+mn-ea"/>
                          <a:cs typeface="+mn-cs"/>
                        </a:rPr>
                        <a:t>Beginning ARR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>
                      <a:solidFill>
                        <a:srgbClr val="D5DAE0"/>
                      </a:solidFill>
                    </a:lnB>
                    <a:noFill/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 marL="0" indent="0">
                        <a:spcBef>
                          <a:spcPts val="0"/>
                        </a:spcBef>
                        <a:buNone/>
                      </a:pPr>
                      <a:r>
                        <a:rPr sz="1400" b="0" lang="en-US">
                          <a:solidFill>
                            <a:srgbClr val="1E2329"/>
                          </a:solidFill>
                          <a:latin typeface="+mn-lt"/>
                          <a:ea typeface="+mn-ea"/>
                          <a:cs typeface="+mn-cs"/>
                        </a:rPr>
                        <a:t>9,250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>
                      <a:solidFill>
                        <a:srgbClr val="D5DAE0"/>
                      </a:solidFill>
                    </a:lnB>
                    <a:noFill/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 marL="0" indent="0">
                        <a:spcBef>
                          <a:spcPts val="0"/>
                        </a:spcBef>
                        <a:buNone/>
                      </a:pPr>
                      <a:r>
                        <a:rPr sz="1400" b="0" lang="en-US">
                          <a:solidFill>
                            <a:srgbClr val="1E2329"/>
                          </a:solidFill>
                          <a:latin typeface="+mn-lt"/>
                          <a:ea typeface="+mn-ea"/>
                          <a:cs typeface="+mn-cs"/>
                        </a:rPr>
                        <a:t>10,160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>
                      <a:solidFill>
                        <a:srgbClr val="D5DAE0"/>
                      </a:solidFill>
                    </a:lnB>
                    <a:noFill/>
                  </a:tcPr>
                </a:tc>
              </a:tr>
              <a:tr h="330200">
                <a:tc>
                  <a:txBody>
                    <a:bodyPr wrap="square">
                      <a:noAutofit/>
                    </a:bodyPr>
                    <a:lstStyle/>
                    <a:p>
                      <a:pPr algn="l" marL="0" indent="0">
                        <a:spcBef>
                          <a:spcPts val="0"/>
                        </a:spcBef>
                        <a:buNone/>
                      </a:pPr>
                      <a:r>
                        <a:rPr sz="1400" b="0" lang="en-US">
                          <a:solidFill>
                            <a:srgbClr val="1E2329"/>
                          </a:solidFill>
                          <a:latin typeface="+mn-lt"/>
                          <a:ea typeface="+mn-ea"/>
                          <a:cs typeface="+mn-cs"/>
                        </a:rPr>
                        <a:t>New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>
                      <a:solidFill>
                        <a:srgbClr val="D5DAE0"/>
                      </a:solidFill>
                    </a:lnB>
                    <a:noFill/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 marL="0" indent="0">
                        <a:spcBef>
                          <a:spcPts val="0"/>
                        </a:spcBef>
                        <a:buNone/>
                      </a:pPr>
                      <a:r>
                        <a:rPr sz="1400" b="0" lang="en-US">
                          <a:solidFill>
                            <a:srgbClr val="1E2329"/>
                          </a:solidFill>
                          <a:latin typeface="+mn-lt"/>
                          <a:ea typeface="+mn-ea"/>
                          <a:cs typeface="+mn-cs"/>
                        </a:rPr>
                        <a:t>1,000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>
                      <a:solidFill>
                        <a:srgbClr val="D5DAE0"/>
                      </a:solidFill>
                    </a:lnB>
                    <a:noFill/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 marL="0" indent="0">
                        <a:spcBef>
                          <a:spcPts val="0"/>
                        </a:spcBef>
                        <a:buNone/>
                      </a:pPr>
                      <a:r>
                        <a:rPr sz="1400" b="0" lang="en-US">
                          <a:solidFill>
                            <a:srgbClr val="1E2329"/>
                          </a:solidFill>
                          <a:latin typeface="+mn-lt"/>
                          <a:ea typeface="+mn-ea"/>
                          <a:cs typeface="+mn-cs"/>
                        </a:rPr>
                        <a:t>1,150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>
                      <a:solidFill>
                        <a:srgbClr val="D5DAE0"/>
                      </a:solidFill>
                    </a:lnB>
                    <a:noFill/>
                  </a:tcPr>
                </a:tc>
              </a:tr>
              <a:tr h="330200">
                <a:tc>
                  <a:txBody>
                    <a:bodyPr wrap="square">
                      <a:noAutofit/>
                    </a:bodyPr>
                    <a:lstStyle/>
                    <a:p>
                      <a:pPr algn="l" marL="0" indent="0">
                        <a:spcBef>
                          <a:spcPts val="0"/>
                        </a:spcBef>
                        <a:buNone/>
                      </a:pPr>
                      <a:r>
                        <a:rPr sz="1400" b="0" lang="en-US">
                          <a:solidFill>
                            <a:srgbClr val="1E2329"/>
                          </a:solidFill>
                          <a:latin typeface="+mn-lt"/>
                          <a:ea typeface="+mn-ea"/>
                          <a:cs typeface="+mn-cs"/>
                        </a:rPr>
                        <a:t>Expansion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>
                      <a:solidFill>
                        <a:srgbClr val="D5DAE0"/>
                      </a:solidFill>
                    </a:lnB>
                    <a:noFill/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 marL="0" indent="0">
                        <a:spcBef>
                          <a:spcPts val="0"/>
                        </a:spcBef>
                        <a:buNone/>
                      </a:pPr>
                      <a:r>
                        <a:rPr sz="1400" b="0" lang="en-US">
                          <a:solidFill>
                            <a:srgbClr val="1E2329"/>
                          </a:solidFill>
                          <a:latin typeface="+mn-lt"/>
                          <a:ea typeface="+mn-ea"/>
                          <a:cs typeface="+mn-cs"/>
                        </a:rPr>
                        <a:t>280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>
                      <a:solidFill>
                        <a:srgbClr val="D5DAE0"/>
                      </a:solidFill>
                    </a:lnB>
                    <a:noFill/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 marL="0" indent="0">
                        <a:spcBef>
                          <a:spcPts val="0"/>
                        </a:spcBef>
                        <a:buNone/>
                      </a:pPr>
                      <a:r>
                        <a:rPr sz="1400" b="0" lang="en-US">
                          <a:solidFill>
                            <a:srgbClr val="1E2329"/>
                          </a:solidFill>
                          <a:latin typeface="+mn-lt"/>
                          <a:ea typeface="+mn-ea"/>
                          <a:cs typeface="+mn-cs"/>
                        </a:rPr>
                        <a:t>300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>
                      <a:solidFill>
                        <a:srgbClr val="D5DAE0"/>
                      </a:solidFill>
                    </a:lnB>
                    <a:noFill/>
                  </a:tcPr>
                </a:tc>
              </a:tr>
              <a:tr h="330200">
                <a:tc>
                  <a:txBody>
                    <a:bodyPr wrap="square">
                      <a:noAutofit/>
                    </a:bodyPr>
                    <a:lstStyle/>
                    <a:p>
                      <a:pPr algn="l" marL="0" indent="0">
                        <a:spcBef>
                          <a:spcPts val="0"/>
                        </a:spcBef>
                        <a:buNone/>
                      </a:pPr>
                      <a:r>
                        <a:rPr sz="1400" b="0" lang="en-US">
                          <a:solidFill>
                            <a:srgbClr val="1E2329"/>
                          </a:solidFill>
                          <a:latin typeface="+mn-lt"/>
                          <a:ea typeface="+mn-ea"/>
                          <a:cs typeface="+mn-cs"/>
                        </a:rPr>
                        <a:t>Contraction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>
                      <a:solidFill>
                        <a:srgbClr val="D5DAE0"/>
                      </a:solidFill>
                    </a:lnB>
                    <a:noFill/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 marL="0" indent="0">
                        <a:spcBef>
                          <a:spcPts val="0"/>
                        </a:spcBef>
                        <a:buNone/>
                      </a:pPr>
                      <a:r>
                        <a:rPr sz="1400" b="0" lang="en-US">
                          <a:solidFill>
                            <a:srgbClr val="1E2329"/>
                          </a:solidFill>
                          <a:latin typeface="+mn-lt"/>
                          <a:ea typeface="+mn-ea"/>
                          <a:cs typeface="+mn-cs"/>
                        </a:rPr>
                        <a:t>-70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>
                      <a:solidFill>
                        <a:srgbClr val="D5DAE0"/>
                      </a:solidFill>
                    </a:lnB>
                    <a:noFill/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 marL="0" indent="0">
                        <a:spcBef>
                          <a:spcPts val="0"/>
                        </a:spcBef>
                        <a:buNone/>
                      </a:pPr>
                      <a:r>
                        <a:rPr sz="1400" b="0" lang="en-US">
                          <a:solidFill>
                            <a:srgbClr val="1E2329"/>
                          </a:solidFill>
                          <a:latin typeface="+mn-lt"/>
                          <a:ea typeface="+mn-ea"/>
                          <a:cs typeface="+mn-cs"/>
                        </a:rPr>
                        <a:t>-80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>
                      <a:solidFill>
                        <a:srgbClr val="D5DAE0"/>
                      </a:solidFill>
                    </a:lnB>
                    <a:noFill/>
                  </a:tcPr>
                </a:tc>
              </a:tr>
              <a:tr h="330200">
                <a:tc>
                  <a:txBody>
                    <a:bodyPr wrap="square">
                      <a:noAutofit/>
                    </a:bodyPr>
                    <a:lstStyle/>
                    <a:p>
                      <a:pPr algn="l" marL="0" indent="0">
                        <a:spcBef>
                          <a:spcPts val="0"/>
                        </a:spcBef>
                        <a:buNone/>
                      </a:pPr>
                      <a:r>
                        <a:rPr sz="1400" b="1" lang="en-US">
                          <a:solidFill>
                            <a:srgbClr val="1E2329"/>
                          </a:solidFill>
                          <a:latin typeface="+mn-lt"/>
                          <a:ea typeface="+mn-ea"/>
                          <a:cs typeface="+mn-cs"/>
                        </a:rPr>
                        <a:t>Churned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>
                      <a:solidFill>
                        <a:srgbClr val="D5DAE0"/>
                      </a:solidFill>
                    </a:lnB>
                    <a:solidFill>
                      <a:srgbClr val="E0E8F3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 marL="0" indent="0">
                        <a:spcBef>
                          <a:spcPts val="0"/>
                        </a:spcBef>
                        <a:buNone/>
                      </a:pPr>
                      <a:r>
                        <a:rPr sz="1400" b="1" lang="en-US">
                          <a:solidFill>
                            <a:srgbClr val="1E2329"/>
                          </a:solidFill>
                          <a:latin typeface="+mn-lt"/>
                          <a:ea typeface="+mn-ea"/>
                          <a:cs typeface="+mn-cs"/>
                        </a:rPr>
                        <a:t>-300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>
                      <a:solidFill>
                        <a:srgbClr val="D5DAE0"/>
                      </a:solidFill>
                    </a:lnB>
                    <a:solidFill>
                      <a:srgbClr val="E0E8F3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 marL="0" indent="0">
                        <a:spcBef>
                          <a:spcPts val="0"/>
                        </a:spcBef>
                        <a:buNone/>
                      </a:pPr>
                      <a:r>
                        <a:rPr sz="1400" b="1" lang="en-US">
                          <a:solidFill>
                            <a:srgbClr val="1E2329"/>
                          </a:solidFill>
                          <a:latin typeface="+mn-lt"/>
                          <a:ea typeface="+mn-ea"/>
                          <a:cs typeface="+mn-cs"/>
                        </a:rPr>
                        <a:t>-480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>
                      <a:solidFill>
                        <a:srgbClr val="D5DAE0"/>
                      </a:solidFill>
                    </a:lnB>
                    <a:solidFill>
                      <a:srgbClr val="E0E8F3"/>
                    </a:solidFill>
                  </a:tcPr>
                </a:tc>
              </a:tr>
              <a:tr h="330200">
                <a:tc>
                  <a:txBody>
                    <a:bodyPr wrap="square">
                      <a:noAutofit/>
                    </a:bodyPr>
                    <a:lstStyle/>
                    <a:p>
                      <a:pPr algn="l" marL="0" indent="0">
                        <a:spcBef>
                          <a:spcPts val="0"/>
                        </a:spcBef>
                        <a:buNone/>
                      </a:pPr>
                      <a:r>
                        <a:rPr sz="1400" b="0" lang="en-US">
                          <a:solidFill>
                            <a:srgbClr val="1E2329"/>
                          </a:solidFill>
                          <a:latin typeface="+mn-lt"/>
                          <a:ea typeface="+mn-ea"/>
                          <a:cs typeface="+mn-cs"/>
                        </a:rPr>
                        <a:t>Ending ARR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>
                      <a:solidFill>
                        <a:srgbClr val="D5DAE0"/>
                      </a:solidFill>
                    </a:lnB>
                    <a:noFill/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 marL="0" indent="0">
                        <a:spcBef>
                          <a:spcPts val="0"/>
                        </a:spcBef>
                        <a:buNone/>
                      </a:pPr>
                      <a:r>
                        <a:rPr sz="1400" b="0" lang="en-US">
                          <a:solidFill>
                            <a:srgbClr val="1E2329"/>
                          </a:solidFill>
                          <a:latin typeface="+mn-lt"/>
                          <a:ea typeface="+mn-ea"/>
                          <a:cs typeface="+mn-cs"/>
                        </a:rPr>
                        <a:t>10,160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>
                      <a:solidFill>
                        <a:srgbClr val="D5DAE0"/>
                      </a:solidFill>
                    </a:lnB>
                    <a:noFill/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 marL="0" indent="0">
                        <a:spcBef>
                          <a:spcPts val="0"/>
                        </a:spcBef>
                        <a:buNone/>
                      </a:pPr>
                      <a:r>
                        <a:rPr sz="1400" b="0" lang="en-US">
                          <a:solidFill>
                            <a:srgbClr val="1E2329"/>
                          </a:solidFill>
                          <a:latin typeface="+mn-lt"/>
                          <a:ea typeface="+mn-ea"/>
                          <a:cs typeface="+mn-cs"/>
                        </a:rPr>
                        <a:t>11,050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>
                      <a:solidFill>
                        <a:srgbClr val="D5DAE0"/>
                      </a:solidFill>
                    </a:lnB>
                    <a:noFill/>
                  </a:tcPr>
                </a:tc>
              </a:tr>
              <a:tr h="330200">
                <a:tc>
                  <a:txBody>
                    <a:bodyPr wrap="square">
                      <a:noAutofit/>
                    </a:bodyPr>
                    <a:lstStyle/>
                    <a:p>
                      <a:pPr algn="l" marL="0" indent="0">
                        <a:spcBef>
                          <a:spcPts val="0"/>
                        </a:spcBef>
                        <a:buNone/>
                      </a:pPr>
                      <a:r>
                        <a:rPr sz="1400" b="0" lang="en-US">
                          <a:solidFill>
                            <a:srgbClr val="1E2329"/>
                          </a:solidFill>
                          <a:latin typeface="+mn-lt"/>
                          <a:ea typeface="+mn-ea"/>
                          <a:cs typeface="+mn-cs"/>
                        </a:rPr>
                        <a:t>Plan, ending ARR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>
                      <a:solidFill>
                        <a:srgbClr val="D5DAE0"/>
                      </a:solidFill>
                    </a:lnB>
                    <a:noFill/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 marL="0" indent="0">
                        <a:spcBef>
                          <a:spcPts val="0"/>
                        </a:spcBef>
                        <a:buNone/>
                      </a:pPr>
                      <a:r>
                        <a:rPr sz="1400" b="0" lang="en-US">
                          <a:solidFill>
                            <a:srgbClr val="1E2329"/>
                          </a:solidFill>
                          <a:latin typeface="+mn-lt"/>
                          <a:ea typeface="+mn-ea"/>
                          <a:cs typeface="+mn-cs"/>
                        </a:rPr>
                        <a:t>10,050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>
                      <a:solidFill>
                        <a:srgbClr val="D5DAE0"/>
                      </a:solidFill>
                    </a:lnB>
                    <a:noFill/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 marL="0" indent="0">
                        <a:spcBef>
                          <a:spcPts val="0"/>
                        </a:spcBef>
                        <a:buNone/>
                      </a:pPr>
                      <a:r>
                        <a:rPr sz="1400" b="0" lang="en-US">
                          <a:solidFill>
                            <a:srgbClr val="1E2329"/>
                          </a:solidFill>
                          <a:latin typeface="+mn-lt"/>
                          <a:ea typeface="+mn-ea"/>
                          <a:cs typeface="+mn-cs"/>
                        </a:rPr>
                        <a:t>10,900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>
                      <a:solidFill>
                        <a:srgbClr val="D5DAE0"/>
                      </a:solidFill>
                    </a:lnB>
                    <a:noFill/>
                  </a:tcPr>
                </a:tc>
              </a:tr>
              <a:tr h="330200">
                <a:tc>
                  <a:txBody>
                    <a:bodyPr wrap="square">
                      <a:noAutofit/>
                    </a:bodyPr>
                    <a:lstStyle/>
                    <a:p>
                      <a:pPr algn="l" marL="0" indent="0">
                        <a:spcBef>
                          <a:spcPts val="0"/>
                        </a:spcBef>
                        <a:buNone/>
                      </a:pPr>
                      <a:r>
                        <a:rPr sz="1400" b="0" lang="en-US">
                          <a:solidFill>
                            <a:srgbClr val="1E2329"/>
                          </a:solidFill>
                          <a:latin typeface="+mn-lt"/>
                          <a:ea typeface="+mn-ea"/>
                          <a:cs typeface="+mn-cs"/>
                        </a:rPr>
                        <a:t>Ending ARR vs plan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>
                      <a:solidFill>
                        <a:srgbClr val="B7BEC7"/>
                      </a:solidFill>
                    </a:lnB>
                    <a:noFill/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 marL="0" indent="0">
                        <a:spcBef>
                          <a:spcPts val="0"/>
                        </a:spcBef>
                        <a:buNone/>
                      </a:pPr>
                      <a:r>
                        <a:rPr sz="1400" b="0" lang="en-US">
                          <a:solidFill>
                            <a:srgbClr val="1E2329"/>
                          </a:solidFill>
                          <a:latin typeface="+mn-lt"/>
                          <a:ea typeface="+mn-ea"/>
                          <a:cs typeface="+mn-cs"/>
                        </a:rPr>
                        <a:t>110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>
                      <a:solidFill>
                        <a:srgbClr val="B7BEC7"/>
                      </a:solidFill>
                    </a:lnB>
                    <a:noFill/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 marL="0" indent="0">
                        <a:spcBef>
                          <a:spcPts val="0"/>
                        </a:spcBef>
                        <a:buNone/>
                      </a:pPr>
                      <a:r>
                        <a:rPr sz="1400" b="0" lang="en-US">
                          <a:solidFill>
                            <a:srgbClr val="1E2329"/>
                          </a:solidFill>
                          <a:latin typeface="+mn-lt"/>
                          <a:ea typeface="+mn-ea"/>
                          <a:cs typeface="+mn-cs"/>
                        </a:rPr>
                        <a:t>150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>
                      <a:solidFill>
                        <a:srgbClr val="B7BEC7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8" name="sw:label"/>
          <p:cNvSpPr txBox="1"/>
          <p:nvPr/>
        </p:nvSpPr>
        <p:spPr>
          <a:xfrm>
            <a:off x="8097520" y="1600200"/>
            <a:ext cx="3637280" cy="2311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spcBef>
                <a:spcPts val="0"/>
              </a:spcBef>
              <a:buNone/>
            </a:pPr>
            <a:r>
              <a:rPr sz="1400" b="1" lang="en-US">
                <a:solidFill>
                  <a:srgbClr val="1F5AA6"/>
                </a:solidFill>
                <a:latin typeface="+mn-lt"/>
                <a:ea typeface="+mn-ea"/>
                <a:cs typeface="+mn-cs"/>
              </a:rPr>
              <a:t>So what</a:t>
            </a:r>
          </a:p>
        </p:txBody>
      </p:sp>
      <p:cxnSp>
        <p:nvCxnSpPr>
          <p:cNvPr id="9" name="sw:rule"/>
          <p:cNvCxnSpPr/>
          <p:nvPr/>
        </p:nvCxnSpPr>
        <p:spPr>
          <a:xfrm>
            <a:off x="8097520" y="1886204"/>
            <a:ext cx="3637280" cy="0"/>
          </a:xfrm>
          <a:prstGeom prst="line">
            <a:avLst/>
          </a:prstGeom>
          <a:ln w="25400">
            <a:solidFill>
              <a:srgbClr val="1F5AA6"/>
            </a:solidFill>
          </a:ln>
        </p:spPr>
      </p:cxnSp>
      <p:sp>
        <p:nvSpPr>
          <p:cNvPr id="10" name="sw:body"/>
          <p:cNvSpPr txBox="1"/>
          <p:nvPr/>
        </p:nvSpPr>
        <p:spPr>
          <a:xfrm>
            <a:off x="8097520" y="2014220"/>
            <a:ext cx="3637280" cy="4254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177800" indent="-177800">
              <a:spcBef>
                <a:spcPts val="0"/>
              </a:spcBef>
              <a:buFont typeface="Arial"/>
              <a:buChar char="•"/>
            </a:pPr>
            <a:r>
              <a:rPr sz="1600" b="0" lang="en-US">
                <a:solidFill>
                  <a:srgbClr val="1E2329"/>
                </a:solidFill>
                <a:latin typeface="+mn-lt"/>
                <a:ea typeface="+mn-ea"/>
                <a:cs typeface="+mn-cs"/>
              </a:rPr>
              <a:t>New ARR beat plan by $200k, ending ARR by only $150k</a:t>
            </a:r>
          </a:p>
          <a:p>
            <a:pPr algn="l" marL="177800" indent="-177800">
              <a:spcBef>
                <a:spcPts val="960"/>
              </a:spcBef>
              <a:buFont typeface="Arial"/>
              <a:buChar char="•"/>
            </a:pPr>
            <a:r>
              <a:rPr sz="1600" b="0" lang="en-US">
                <a:solidFill>
                  <a:srgbClr val="1E2329"/>
                </a:solidFill>
                <a:latin typeface="+mn-lt"/>
                <a:ea typeface="+mn-ea"/>
                <a:cs typeface="+mn-cs"/>
              </a:rPr>
              <a:t>Churned ARR rose from $300k in Q2 to $480k in Q3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w:title"/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sz="2800" b="0" lang="en-US">
                <a:latin typeface="+mj-lt"/>
                <a:ea typeface="+mj-ea"/>
                <a:cs typeface="+mj-cs"/>
              </a:rPr>
              <a:t>SMB churned ARR more than doubled since Q1 and now offsets a third of new bookings</a:t>
            </a:r>
          </a:p>
        </p:txBody>
      </p:sp>
      <p:sp>
        <p:nvSpPr>
          <p:cNvPr id="3" name="sw:page"/>
          <p:cNvSpPr>
            <a:spLocks noGrp="1"/>
          </p:cNvSpPr>
          <p:nvPr>
            <p:ph type="sldNum" idx="12" sz="quarter"/>
          </p:nvPr>
        </p:nvSpPr>
        <p:spPr/>
        <p:txBody>
          <a:bodyPr/>
          <a:p>
            <a:fld id="{B6F15528-21DE-4FAA-801E-634DDDAF4B2B}" type="slidenum">
              <a:rPr lang="en-US" sz="1000"/>
              <a:t>5</a:t>
            </a:fld>
          </a:p>
        </p:txBody>
      </p:sp>
      <p:sp>
        <p:nvSpPr>
          <p:cNvPr id="4" name="sw:tracker"/>
          <p:cNvSpPr txBox="1"/>
          <p:nvPr/>
        </p:nvSpPr>
        <p:spPr>
          <a:xfrm>
            <a:off x="457200" y="228600"/>
            <a:ext cx="6766560" cy="22860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l" marL="0" indent="0">
              <a:spcBef>
                <a:spcPts val="0"/>
              </a:spcBef>
              <a:buNone/>
            </a:pPr>
            <a:r>
              <a:rPr sz="1100" b="1" lang="en-US">
                <a:solidFill>
                  <a:srgbClr val="1F5AA6"/>
                </a:solidFill>
                <a:latin typeface="+mn-lt"/>
                <a:ea typeface="+mn-ea"/>
                <a:cs typeface="+mn-cs"/>
              </a:rPr>
              <a:t>Constraint</a:t>
            </a:r>
          </a:p>
        </p:txBody>
      </p:sp>
      <p:sp>
        <p:nvSpPr>
          <p:cNvPr id="5" name="sw:source"/>
          <p:cNvSpPr txBox="1"/>
          <p:nvPr/>
        </p:nvSpPr>
        <p:spPr>
          <a:xfrm>
            <a:off x="457200" y="6405880"/>
            <a:ext cx="10226040" cy="17780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l" marL="0" indent="0">
              <a:spcBef>
                <a:spcPts val="0"/>
              </a:spcBef>
              <a:buNone/>
            </a:pPr>
            <a:r>
              <a:rPr sz="1000" b="0" lang="en-US">
                <a:solidFill>
                  <a:srgbClr val="5A6472"/>
                </a:solidFill>
                <a:latin typeface="+mn-lt"/>
                <a:ea typeface="+mn-ea"/>
                <a:cs typeface="+mn-cs"/>
              </a:rPr>
              <a:t>Source: Sample data; metrics.csv (churned ARR by segment, monthly logo churn). 390 / 1,150 = 34%.</a:t>
            </a:r>
          </a:p>
        </p:txBody>
      </p:sp>
      <p:sp>
        <p:nvSpPr>
          <p:cNvPr id="6" name="sw:exhibit-title"/>
          <p:cNvSpPr txBox="1"/>
          <p:nvPr/>
        </p:nvSpPr>
        <p:spPr>
          <a:xfrm>
            <a:off x="457200" y="1600200"/>
            <a:ext cx="7457440" cy="24993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spcBef>
                <a:spcPts val="0"/>
              </a:spcBef>
              <a:buNone/>
            </a:pPr>
            <a:r>
              <a:rPr sz="1400" b="1" lang="en-US">
                <a:solidFill>
                  <a:srgbClr val="1E2329"/>
                </a:solidFill>
                <a:latin typeface="+mn-lt"/>
                <a:ea typeface="+mn-ea"/>
                <a:cs typeface="+mn-cs"/>
              </a:rPr>
              <a:t>Churned ARR by segment, 2026, $k</a:t>
            </a:r>
          </a:p>
        </p:txBody>
      </p:sp>
      <p:graphicFrame>
        <p:nvGraphicFramePr>
          <p:cNvPr id="7" name="sw:chart"/>
          <p:cNvGraphicFramePr>
            <a:graphicFrameLocks noGrp="1"/>
          </p:cNvGraphicFramePr>
          <p:nvPr/>
        </p:nvGraphicFramePr>
        <p:xfrm>
          <a:off x="457200" y="1959864"/>
          <a:ext cx="7457440" cy="4308856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sw:label"/>
          <p:cNvSpPr txBox="1"/>
          <p:nvPr/>
        </p:nvSpPr>
        <p:spPr>
          <a:xfrm>
            <a:off x="6646100" y="5512572"/>
            <a:ext cx="1268540" cy="1981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 marL="0" indent="0">
              <a:spcBef>
                <a:spcPts val="0"/>
              </a:spcBef>
              <a:buNone/>
            </a:pPr>
            <a:r>
              <a:rPr sz="1200" b="0" lang="en-US">
                <a:solidFill>
                  <a:srgbClr val="5A6472"/>
                </a:solidFill>
                <a:latin typeface="+mn-lt"/>
                <a:ea typeface="+mn-ea"/>
                <a:cs typeface="+mn-cs"/>
              </a:rPr>
              <a:t>Mid-market</a:t>
            </a:r>
          </a:p>
        </p:txBody>
      </p:sp>
      <p:sp>
        <p:nvSpPr>
          <p:cNvPr id="9" name="sw:label"/>
          <p:cNvSpPr txBox="1"/>
          <p:nvPr/>
        </p:nvSpPr>
        <p:spPr>
          <a:xfrm>
            <a:off x="6646100" y="3714984"/>
            <a:ext cx="1268540" cy="1981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 marL="0" indent="0">
              <a:spcBef>
                <a:spcPts val="0"/>
              </a:spcBef>
              <a:buNone/>
            </a:pPr>
            <a:r>
              <a:rPr sz="1200" b="1" lang="en-US">
                <a:solidFill>
                  <a:srgbClr val="1F5AA6"/>
                </a:solidFill>
                <a:latin typeface="+mn-lt"/>
                <a:ea typeface="+mn-ea"/>
                <a:cs typeface="+mn-cs"/>
              </a:rPr>
              <a:t>SMB</a:t>
            </a:r>
          </a:p>
        </p:txBody>
      </p:sp>
      <p:sp>
        <p:nvSpPr>
          <p:cNvPr id="10" name="sw:label"/>
          <p:cNvSpPr txBox="1"/>
          <p:nvPr/>
        </p:nvSpPr>
        <p:spPr>
          <a:xfrm>
            <a:off x="531774" y="3927572"/>
            <a:ext cx="2139222" cy="19812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ctr" marL="0" indent="0">
              <a:spcBef>
                <a:spcPts val="0"/>
              </a:spcBef>
              <a:buNone/>
            </a:pPr>
            <a:r>
              <a:rPr sz="1200" b="1" lang="en-US">
                <a:solidFill>
                  <a:srgbClr val="1E2329"/>
                </a:solidFill>
                <a:latin typeface="+mn-lt"/>
                <a:ea typeface="+mn-ea"/>
                <a:cs typeface="+mn-cs"/>
              </a:rPr>
              <a:t>240</a:t>
            </a:r>
          </a:p>
        </p:txBody>
      </p:sp>
      <p:sp>
        <p:nvSpPr>
          <p:cNvPr id="11" name="sw:label"/>
          <p:cNvSpPr txBox="1"/>
          <p:nvPr/>
        </p:nvSpPr>
        <p:spPr>
          <a:xfrm>
            <a:off x="2670996" y="3478174"/>
            <a:ext cx="2139222" cy="19812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ctr" marL="0" indent="0">
              <a:spcBef>
                <a:spcPts val="0"/>
              </a:spcBef>
              <a:buNone/>
            </a:pPr>
            <a:r>
              <a:rPr sz="1200" b="1" lang="en-US">
                <a:solidFill>
                  <a:srgbClr val="1E2329"/>
                </a:solidFill>
                <a:latin typeface="+mn-lt"/>
                <a:ea typeface="+mn-ea"/>
                <a:cs typeface="+mn-cs"/>
              </a:rPr>
              <a:t>300</a:t>
            </a:r>
          </a:p>
        </p:txBody>
      </p:sp>
      <p:sp>
        <p:nvSpPr>
          <p:cNvPr id="12" name="sw:label"/>
          <p:cNvSpPr txBox="1"/>
          <p:nvPr/>
        </p:nvSpPr>
        <p:spPr>
          <a:xfrm>
            <a:off x="4810218" y="2129983"/>
            <a:ext cx="2139222" cy="19812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ctr" marL="0" indent="0">
              <a:spcBef>
                <a:spcPts val="0"/>
              </a:spcBef>
              <a:buNone/>
            </a:pPr>
            <a:r>
              <a:rPr sz="1200" b="1" lang="en-US">
                <a:solidFill>
                  <a:srgbClr val="1E2329"/>
                </a:solidFill>
                <a:latin typeface="+mn-lt"/>
                <a:ea typeface="+mn-ea"/>
                <a:cs typeface="+mn-cs"/>
              </a:rPr>
              <a:t>480</a:t>
            </a:r>
          </a:p>
        </p:txBody>
      </p:sp>
      <p:sp>
        <p:nvSpPr>
          <p:cNvPr id="13" name="sw:label"/>
          <p:cNvSpPr txBox="1"/>
          <p:nvPr/>
        </p:nvSpPr>
        <p:spPr>
          <a:xfrm>
            <a:off x="8097520" y="1600200"/>
            <a:ext cx="3637280" cy="2311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spcBef>
                <a:spcPts val="0"/>
              </a:spcBef>
              <a:buNone/>
            </a:pPr>
            <a:r>
              <a:rPr sz="1400" b="1" lang="en-US">
                <a:solidFill>
                  <a:srgbClr val="1F5AA6"/>
                </a:solidFill>
                <a:latin typeface="+mn-lt"/>
                <a:ea typeface="+mn-ea"/>
                <a:cs typeface="+mn-cs"/>
              </a:rPr>
              <a:t>So what</a:t>
            </a:r>
          </a:p>
        </p:txBody>
      </p:sp>
      <p:cxnSp>
        <p:nvCxnSpPr>
          <p:cNvPr id="14" name="sw:rule"/>
          <p:cNvCxnSpPr/>
          <p:nvPr/>
        </p:nvCxnSpPr>
        <p:spPr>
          <a:xfrm>
            <a:off x="8097520" y="1886204"/>
            <a:ext cx="3637280" cy="0"/>
          </a:xfrm>
          <a:prstGeom prst="line">
            <a:avLst/>
          </a:prstGeom>
          <a:ln w="25400">
            <a:solidFill>
              <a:srgbClr val="1F5AA6"/>
            </a:solidFill>
          </a:ln>
        </p:spPr>
      </p:cxnSp>
      <p:sp>
        <p:nvSpPr>
          <p:cNvPr id="15" name="sw:body"/>
          <p:cNvSpPr txBox="1"/>
          <p:nvPr/>
        </p:nvSpPr>
        <p:spPr>
          <a:xfrm>
            <a:off x="8097520" y="2014220"/>
            <a:ext cx="3637280" cy="4254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177800" indent="-177800">
              <a:spcBef>
                <a:spcPts val="0"/>
              </a:spcBef>
              <a:buFont typeface="Arial"/>
              <a:buChar char="•"/>
            </a:pPr>
            <a:r>
              <a:rPr sz="1600" b="0" lang="en-US">
                <a:solidFill>
                  <a:srgbClr val="1E2329"/>
                </a:solidFill>
                <a:latin typeface="+mn-lt"/>
                <a:ea typeface="+mn-ea"/>
                <a:cs typeface="+mn-cs"/>
              </a:rPr>
              <a:t>Q3 SMB churn of $390k equals 34% of Q3 new ARR</a:t>
            </a:r>
          </a:p>
          <a:p>
            <a:pPr algn="l" marL="177800" indent="-177800">
              <a:spcBef>
                <a:spcPts val="960"/>
              </a:spcBef>
              <a:buFont typeface="Arial"/>
              <a:buChar char="•"/>
            </a:pPr>
            <a:r>
              <a:rPr sz="1600" b="0" lang="en-US">
                <a:solidFill>
                  <a:srgbClr val="1E2329"/>
                </a:solidFill>
                <a:latin typeface="+mn-lt"/>
                <a:ea typeface="+mn-ea"/>
                <a:cs typeface="+mn-cs"/>
              </a:rPr>
              <a:t>SMB logo churn rose from 1.8% to 3.1% a month</a:t>
            </a:r>
          </a:p>
          <a:p>
            <a:pPr algn="l" marL="177800" indent="-177800">
              <a:spcBef>
                <a:spcPts val="960"/>
              </a:spcBef>
              <a:buFont typeface="Arial"/>
              <a:buChar char="•"/>
            </a:pPr>
            <a:r>
              <a:rPr sz="1600" b="0" lang="en-US">
                <a:solidFill>
                  <a:srgbClr val="1E2329"/>
                </a:solidFill>
                <a:latin typeface="+mn-lt"/>
                <a:ea typeface="+mn-ea"/>
                <a:cs typeface="+mn-cs"/>
              </a:rPr>
              <a:t>Mid-market churn is flat at $70-90k a quarter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w:title"/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sz="2800" b="0" lang="en-US">
                <a:latin typeface="+mj-lt"/>
                <a:ea typeface="+mj-ea"/>
                <a:cs typeface="+mj-cs"/>
              </a:rPr>
              <a:t>If the SMB trend continues, year-end ARR lands about $230k below the $12.0M plan</a:t>
            </a:r>
          </a:p>
        </p:txBody>
      </p:sp>
      <p:sp>
        <p:nvSpPr>
          <p:cNvPr id="3" name="sw:page"/>
          <p:cNvSpPr>
            <a:spLocks noGrp="1"/>
          </p:cNvSpPr>
          <p:nvPr>
            <p:ph type="sldNum" idx="12" sz="quarter"/>
          </p:nvPr>
        </p:nvSpPr>
        <p:spPr/>
        <p:txBody>
          <a:bodyPr/>
          <a:p>
            <a:fld id="{B6F15528-21DE-4FAA-801E-634DDDAF4B2B}" type="slidenum">
              <a:rPr lang="en-US" sz="1000"/>
              <a:t>6</a:t>
            </a:fld>
          </a:p>
        </p:txBody>
      </p:sp>
      <p:sp>
        <p:nvSpPr>
          <p:cNvPr id="4" name="sw:tracker"/>
          <p:cNvSpPr txBox="1"/>
          <p:nvPr/>
        </p:nvSpPr>
        <p:spPr>
          <a:xfrm>
            <a:off x="457200" y="228600"/>
            <a:ext cx="6766560" cy="22860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l" marL="0" indent="0">
              <a:spcBef>
                <a:spcPts val="0"/>
              </a:spcBef>
              <a:buNone/>
            </a:pPr>
            <a:r>
              <a:rPr sz="1100" b="1" lang="en-US">
                <a:solidFill>
                  <a:srgbClr val="1F5AA6"/>
                </a:solidFill>
                <a:latin typeface="+mn-lt"/>
                <a:ea typeface="+mn-ea"/>
                <a:cs typeface="+mn-cs"/>
              </a:rPr>
              <a:t>Constraint</a:t>
            </a:r>
          </a:p>
        </p:txBody>
      </p:sp>
      <p:sp>
        <p:nvSpPr>
          <p:cNvPr id="5" name="sw:source"/>
          <p:cNvSpPr txBox="1"/>
          <p:nvPr/>
        </p:nvSpPr>
        <p:spPr>
          <a:xfrm>
            <a:off x="457200" y="6405880"/>
            <a:ext cx="10226040" cy="17780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l" marL="0" indent="0">
              <a:spcBef>
                <a:spcPts val="0"/>
              </a:spcBef>
              <a:buNone/>
            </a:pPr>
            <a:r>
              <a:rPr sz="1000" b="0" lang="en-US">
                <a:solidFill>
                  <a:srgbClr val="5A6472"/>
                </a:solidFill>
                <a:latin typeface="+mn-lt"/>
                <a:ea typeface="+mn-ea"/>
                <a:cs typeface="+mn-cs"/>
              </a:rPr>
              <a:t>Source: Sample data; metrics.csv; projection uses the assumptions in the right-hand column.</a:t>
            </a:r>
          </a:p>
        </p:txBody>
      </p:sp>
      <p:graphicFrame>
        <p:nvGraphicFramePr>
          <p:cNvPr id="6" name="sw:table"/>
          <p:cNvGraphicFramePr>
            <a:graphicFrameLocks noGrp="1"/>
          </p:cNvGraphicFramePr>
          <p:nvPr/>
        </p:nvGraphicFramePr>
        <p:xfrm>
          <a:off x="457200" y="1600200"/>
          <a:ext cx="11277600" cy="3302000"/>
        </p:xfrm>
        <a:graphic>
          <a:graphicData uri="http://schemas.openxmlformats.org/drawingml/2006/table">
            <a:tbl>
              <a:tblPr firstRow="1">
                <a:tableStyleId>{2D5ABB26-0587-4C30-8999-92F81FD0307C}</a:tableStyleId>
              </a:tblPr>
              <a:tblGrid>
                <a:gridCol w="3142769"/>
                <a:gridCol w="1430048"/>
                <a:gridCol w="6704783"/>
              </a:tblGrid>
              <a:tr h="330200">
                <a:tc>
                  <a:txBody>
                    <a:bodyPr wrap="square">
                      <a:noAutofit/>
                    </a:bodyPr>
                    <a:lstStyle/>
                    <a:p>
                      <a:pPr algn="l" marL="0" indent="0">
                        <a:spcBef>
                          <a:spcPts val="0"/>
                        </a:spcBef>
                        <a:buNone/>
                      </a:pPr>
                      <a:r>
                        <a:rPr sz="1400" b="1" lang="en-US">
                          <a:solidFill>
                            <a:srgbClr val="5A6472"/>
                          </a:solidFill>
                          <a:latin typeface="+mn-lt"/>
                          <a:ea typeface="+mn-ea"/>
                          <a:cs typeface="+mn-cs"/>
                        </a:rPr>
                        <a:t>Q4 projection</a:t>
                      </a:r>
                    </a:p>
                  </a:txBody>
                  <a:tcPr marL="91440" marR="91440" marT="45720" marB="45720" anchor="b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 cap="flat" cmpd="sng">
                      <a:solidFill>
                        <a:srgbClr val="1E2329"/>
                      </a:solidFill>
                    </a:lnB>
                    <a:noFill/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 marL="0" indent="0">
                        <a:spcBef>
                          <a:spcPts val="0"/>
                        </a:spcBef>
                        <a:buNone/>
                      </a:pPr>
                      <a:r>
                        <a:rPr sz="1400" b="1" lang="en-US">
                          <a:solidFill>
                            <a:srgbClr val="5A6472"/>
                          </a:solidFill>
                          <a:latin typeface="+mn-lt"/>
                          <a:ea typeface="+mn-ea"/>
                          <a:cs typeface="+mn-cs"/>
                        </a:rPr>
                        <a:t>$k</a:t>
                      </a:r>
                    </a:p>
                  </a:txBody>
                  <a:tcPr marL="91440" marR="91440" marT="45720" marB="45720" anchor="b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 cap="flat" cmpd="sng">
                      <a:solidFill>
                        <a:srgbClr val="1E2329"/>
                      </a:solidFill>
                    </a:lnB>
                    <a:noFill/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 marL="0" indent="0">
                        <a:spcBef>
                          <a:spcPts val="0"/>
                        </a:spcBef>
                        <a:buNone/>
                      </a:pPr>
                      <a:r>
                        <a:rPr sz="1400" b="1" lang="en-US">
                          <a:solidFill>
                            <a:srgbClr val="5A6472"/>
                          </a:solidFill>
                          <a:latin typeface="+mn-lt"/>
                          <a:ea typeface="+mn-ea"/>
                          <a:cs typeface="+mn-cs"/>
                        </a:rPr>
                        <a:t>Assumption</a:t>
                      </a:r>
                    </a:p>
                  </a:txBody>
                  <a:tcPr marL="91440" marR="91440" marT="45720" marB="45720" anchor="b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 cap="flat" cmpd="sng">
                      <a:solidFill>
                        <a:srgbClr val="1E2329"/>
                      </a:solidFill>
                    </a:lnB>
                    <a:noFill/>
                  </a:tcPr>
                </a:tc>
              </a:tr>
              <a:tr h="330200">
                <a:tc>
                  <a:txBody>
                    <a:bodyPr wrap="square">
                      <a:noAutofit/>
                    </a:bodyPr>
                    <a:lstStyle/>
                    <a:p>
                      <a:pPr algn="l" marL="0" indent="0">
                        <a:spcBef>
                          <a:spcPts val="0"/>
                        </a:spcBef>
                        <a:buNone/>
                      </a:pPr>
                      <a:r>
                        <a:rPr sz="1400" b="0" lang="en-US">
                          <a:solidFill>
                            <a:srgbClr val="1E2329"/>
                          </a:solidFill>
                          <a:latin typeface="+mn-lt"/>
                          <a:ea typeface="+mn-ea"/>
                          <a:cs typeface="+mn-cs"/>
                        </a:rPr>
                        <a:t>Q3 ending ARR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>
                      <a:solidFill>
                        <a:srgbClr val="D5DAE0"/>
                      </a:solidFill>
                    </a:lnB>
                    <a:noFill/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 marL="0" indent="0">
                        <a:spcBef>
                          <a:spcPts val="0"/>
                        </a:spcBef>
                        <a:buNone/>
                      </a:pPr>
                      <a:r>
                        <a:rPr sz="1400" b="0" lang="en-US">
                          <a:solidFill>
                            <a:srgbClr val="1E2329"/>
                          </a:solidFill>
                          <a:latin typeface="+mn-lt"/>
                          <a:ea typeface="+mn-ea"/>
                          <a:cs typeface="+mn-cs"/>
                        </a:rPr>
                        <a:t>11,050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>
                      <a:solidFill>
                        <a:srgbClr val="D5DAE0"/>
                      </a:solidFill>
                    </a:lnB>
                    <a:noFill/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 marL="0" indent="0">
                        <a:spcBef>
                          <a:spcPts val="0"/>
                        </a:spcBef>
                        <a:buNone/>
                      </a:pPr>
                      <a:r>
                        <a:rPr sz="1400" b="0" lang="en-US">
                          <a:solidFill>
                            <a:srgbClr val="1E2329"/>
                          </a:solidFill>
                          <a:latin typeface="+mn-lt"/>
                          <a:ea typeface="+mn-ea"/>
                          <a:cs typeface="+mn-cs"/>
                        </a:rPr>
                        <a:t>Actual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>
                      <a:solidFill>
                        <a:srgbClr val="D5DAE0"/>
                      </a:solidFill>
                    </a:lnB>
                    <a:noFill/>
                  </a:tcPr>
                </a:tc>
              </a:tr>
              <a:tr h="330200">
                <a:tc>
                  <a:txBody>
                    <a:bodyPr wrap="square">
                      <a:noAutofit/>
                    </a:bodyPr>
                    <a:lstStyle/>
                    <a:p>
                      <a:pPr algn="l" marL="0" indent="0">
                        <a:spcBef>
                          <a:spcPts val="0"/>
                        </a:spcBef>
                        <a:buNone/>
                      </a:pPr>
                      <a:r>
                        <a:rPr sz="1400" b="0" lang="en-US">
                          <a:solidFill>
                            <a:srgbClr val="1E2329"/>
                          </a:solidFill>
                          <a:latin typeface="+mn-lt"/>
                          <a:ea typeface="+mn-ea"/>
                          <a:cs typeface="+mn-cs"/>
                        </a:rPr>
                        <a:t>+ New ARR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>
                      <a:solidFill>
                        <a:srgbClr val="D5DAE0"/>
                      </a:solidFill>
                    </a:lnB>
                    <a:noFill/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 marL="0" indent="0">
                        <a:spcBef>
                          <a:spcPts val="0"/>
                        </a:spcBef>
                        <a:buNone/>
                      </a:pPr>
                      <a:r>
                        <a:rPr sz="1400" b="0" lang="en-US">
                          <a:solidFill>
                            <a:srgbClr val="1E2329"/>
                          </a:solidFill>
                          <a:latin typeface="+mn-lt"/>
                          <a:ea typeface="+mn-ea"/>
                          <a:cs typeface="+mn-cs"/>
                        </a:rPr>
                        <a:t>1,150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>
                      <a:solidFill>
                        <a:srgbClr val="D5DAE0"/>
                      </a:solidFill>
                    </a:lnB>
                    <a:noFill/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 marL="0" indent="0">
                        <a:spcBef>
                          <a:spcPts val="0"/>
                        </a:spcBef>
                        <a:buNone/>
                      </a:pPr>
                      <a:r>
                        <a:rPr sz="1400" b="0" lang="en-US">
                          <a:solidFill>
                            <a:srgbClr val="1E2329"/>
                          </a:solidFill>
                          <a:latin typeface="+mn-lt"/>
                          <a:ea typeface="+mn-ea"/>
                          <a:cs typeface="+mn-cs"/>
                        </a:rPr>
                        <a:t>Same as Q3 (plan: 1,050)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>
                      <a:solidFill>
                        <a:srgbClr val="D5DAE0"/>
                      </a:solidFill>
                    </a:lnB>
                    <a:noFill/>
                  </a:tcPr>
                </a:tc>
              </a:tr>
              <a:tr h="330200">
                <a:tc>
                  <a:txBody>
                    <a:bodyPr wrap="square">
                      <a:noAutofit/>
                    </a:bodyPr>
                    <a:lstStyle/>
                    <a:p>
                      <a:pPr algn="l" marL="0" indent="0">
                        <a:spcBef>
                          <a:spcPts val="0"/>
                        </a:spcBef>
                        <a:buNone/>
                      </a:pPr>
                      <a:r>
                        <a:rPr sz="1400" b="0" lang="en-US">
                          <a:solidFill>
                            <a:srgbClr val="1E2329"/>
                          </a:solidFill>
                          <a:latin typeface="+mn-lt"/>
                          <a:ea typeface="+mn-ea"/>
                          <a:cs typeface="+mn-cs"/>
                        </a:rPr>
                        <a:t>+ Expansion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>
                      <a:solidFill>
                        <a:srgbClr val="D5DAE0"/>
                      </a:solidFill>
                    </a:lnB>
                    <a:noFill/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 marL="0" indent="0">
                        <a:spcBef>
                          <a:spcPts val="0"/>
                        </a:spcBef>
                        <a:buNone/>
                      </a:pPr>
                      <a:r>
                        <a:rPr sz="1400" b="0" lang="en-US">
                          <a:solidFill>
                            <a:srgbClr val="1E2329"/>
                          </a:solidFill>
                          <a:latin typeface="+mn-lt"/>
                          <a:ea typeface="+mn-ea"/>
                          <a:cs typeface="+mn-cs"/>
                        </a:rPr>
                        <a:t>300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>
                      <a:solidFill>
                        <a:srgbClr val="D5DAE0"/>
                      </a:solidFill>
                    </a:lnB>
                    <a:noFill/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 marL="0" indent="0">
                        <a:spcBef>
                          <a:spcPts val="0"/>
                        </a:spcBef>
                        <a:buNone/>
                      </a:pPr>
                      <a:r>
                        <a:rPr sz="1400" b="0" lang="en-US">
                          <a:solidFill>
                            <a:srgbClr val="1E2329"/>
                          </a:solidFill>
                          <a:latin typeface="+mn-lt"/>
                          <a:ea typeface="+mn-ea"/>
                          <a:cs typeface="+mn-cs"/>
                        </a:rPr>
                        <a:t>Same as Q3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>
                      <a:solidFill>
                        <a:srgbClr val="D5DAE0"/>
                      </a:solidFill>
                    </a:lnB>
                    <a:noFill/>
                  </a:tcPr>
                </a:tc>
              </a:tr>
              <a:tr h="330200">
                <a:tc>
                  <a:txBody>
                    <a:bodyPr wrap="square">
                      <a:noAutofit/>
                    </a:bodyPr>
                    <a:lstStyle/>
                    <a:p>
                      <a:pPr algn="l" marL="0" indent="0">
                        <a:spcBef>
                          <a:spcPts val="0"/>
                        </a:spcBef>
                        <a:buNone/>
                      </a:pPr>
                      <a:r>
                        <a:rPr sz="1400" b="0" lang="en-US">
                          <a:solidFill>
                            <a:srgbClr val="1E2329"/>
                          </a:solidFill>
                          <a:latin typeface="+mn-lt"/>
                          <a:ea typeface="+mn-ea"/>
                          <a:cs typeface="+mn-cs"/>
                        </a:rPr>
                        <a:t>- Contraction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>
                      <a:solidFill>
                        <a:srgbClr val="D5DAE0"/>
                      </a:solidFill>
                    </a:lnB>
                    <a:noFill/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 marL="0" indent="0">
                        <a:spcBef>
                          <a:spcPts val="0"/>
                        </a:spcBef>
                        <a:buNone/>
                      </a:pPr>
                      <a:r>
                        <a:rPr sz="1400" b="0" lang="en-US">
                          <a:solidFill>
                            <a:srgbClr val="1E2329"/>
                          </a:solidFill>
                          <a:latin typeface="+mn-lt"/>
                          <a:ea typeface="+mn-ea"/>
                          <a:cs typeface="+mn-cs"/>
                        </a:rPr>
                        <a:t>-80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>
                      <a:solidFill>
                        <a:srgbClr val="D5DAE0"/>
                      </a:solidFill>
                    </a:lnB>
                    <a:noFill/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 marL="0" indent="0">
                        <a:spcBef>
                          <a:spcPts val="0"/>
                        </a:spcBef>
                        <a:buNone/>
                      </a:pPr>
                      <a:r>
                        <a:rPr sz="1400" b="0" lang="en-US">
                          <a:solidFill>
                            <a:srgbClr val="1E2329"/>
                          </a:solidFill>
                          <a:latin typeface="+mn-lt"/>
                          <a:ea typeface="+mn-ea"/>
                          <a:cs typeface="+mn-cs"/>
                        </a:rPr>
                        <a:t>Same as Q3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>
                      <a:solidFill>
                        <a:srgbClr val="D5DAE0"/>
                      </a:solidFill>
                    </a:lnB>
                    <a:noFill/>
                  </a:tcPr>
                </a:tc>
              </a:tr>
              <a:tr h="330200">
                <a:tc>
                  <a:txBody>
                    <a:bodyPr wrap="square">
                      <a:noAutofit/>
                    </a:bodyPr>
                    <a:lstStyle/>
                    <a:p>
                      <a:pPr algn="l" marL="0" indent="0">
                        <a:spcBef>
                          <a:spcPts val="0"/>
                        </a:spcBef>
                        <a:buNone/>
                      </a:pPr>
                      <a:r>
                        <a:rPr sz="1400" b="0" lang="en-US">
                          <a:solidFill>
                            <a:srgbClr val="1E2329"/>
                          </a:solidFill>
                          <a:latin typeface="+mn-lt"/>
                          <a:ea typeface="+mn-ea"/>
                          <a:cs typeface="+mn-cs"/>
                        </a:rPr>
                        <a:t>- SMB churn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>
                      <a:solidFill>
                        <a:srgbClr val="D5DAE0"/>
                      </a:solidFill>
                    </a:lnB>
                    <a:noFill/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 marL="0" indent="0">
                        <a:spcBef>
                          <a:spcPts val="0"/>
                        </a:spcBef>
                        <a:buNone/>
                      </a:pPr>
                      <a:r>
                        <a:rPr sz="1400" b="0" lang="en-US">
                          <a:solidFill>
                            <a:srgbClr val="1E2329"/>
                          </a:solidFill>
                          <a:latin typeface="+mn-lt"/>
                          <a:ea typeface="+mn-ea"/>
                          <a:cs typeface="+mn-cs"/>
                        </a:rPr>
                        <a:t>-560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>
                      <a:solidFill>
                        <a:srgbClr val="D5DAE0"/>
                      </a:solidFill>
                    </a:lnB>
                    <a:noFill/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 marL="0" indent="0">
                        <a:spcBef>
                          <a:spcPts val="0"/>
                        </a:spcBef>
                        <a:buNone/>
                      </a:pPr>
                      <a:r>
                        <a:rPr sz="1400" b="0" lang="en-US">
                          <a:solidFill>
                            <a:srgbClr val="1E2329"/>
                          </a:solidFill>
                          <a:latin typeface="+mn-lt"/>
                          <a:ea typeface="+mn-ea"/>
                          <a:cs typeface="+mn-cs"/>
                        </a:rPr>
                        <a:t>Rises by the same $170k step as Q2 to Q3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>
                      <a:solidFill>
                        <a:srgbClr val="D5DAE0"/>
                      </a:solidFill>
                    </a:lnB>
                    <a:noFill/>
                  </a:tcPr>
                </a:tc>
              </a:tr>
              <a:tr h="330200">
                <a:tc>
                  <a:txBody>
                    <a:bodyPr wrap="square">
                      <a:noAutofit/>
                    </a:bodyPr>
                    <a:lstStyle/>
                    <a:p>
                      <a:pPr algn="l" marL="0" indent="0">
                        <a:spcBef>
                          <a:spcPts val="0"/>
                        </a:spcBef>
                        <a:buNone/>
                      </a:pPr>
                      <a:r>
                        <a:rPr sz="1400" b="0" lang="en-US">
                          <a:solidFill>
                            <a:srgbClr val="1E2329"/>
                          </a:solidFill>
                          <a:latin typeface="+mn-lt"/>
                          <a:ea typeface="+mn-ea"/>
                          <a:cs typeface="+mn-cs"/>
                        </a:rPr>
                        <a:t>- Mid-market churn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>
                      <a:solidFill>
                        <a:srgbClr val="D5DAE0"/>
                      </a:solidFill>
                    </a:lnB>
                    <a:noFill/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 marL="0" indent="0">
                        <a:spcBef>
                          <a:spcPts val="0"/>
                        </a:spcBef>
                        <a:buNone/>
                      </a:pPr>
                      <a:r>
                        <a:rPr sz="1400" b="0" lang="en-US">
                          <a:solidFill>
                            <a:srgbClr val="1E2329"/>
                          </a:solidFill>
                          <a:latin typeface="+mn-lt"/>
                          <a:ea typeface="+mn-ea"/>
                          <a:cs typeface="+mn-cs"/>
                        </a:rPr>
                        <a:t>-90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>
                      <a:solidFill>
                        <a:srgbClr val="D5DAE0"/>
                      </a:solidFill>
                    </a:lnB>
                    <a:noFill/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 marL="0" indent="0">
                        <a:spcBef>
                          <a:spcPts val="0"/>
                        </a:spcBef>
                        <a:buNone/>
                      </a:pPr>
                      <a:r>
                        <a:rPr sz="1400" b="0" lang="en-US">
                          <a:solidFill>
                            <a:srgbClr val="1E2329"/>
                          </a:solidFill>
                          <a:latin typeface="+mn-lt"/>
                          <a:ea typeface="+mn-ea"/>
                          <a:cs typeface="+mn-cs"/>
                        </a:rPr>
                        <a:t>Flat at Q3 level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>
                      <a:solidFill>
                        <a:srgbClr val="D5DAE0"/>
                      </a:solidFill>
                    </a:lnB>
                    <a:noFill/>
                  </a:tcPr>
                </a:tc>
              </a:tr>
              <a:tr h="330200">
                <a:tc>
                  <a:txBody>
                    <a:bodyPr wrap="square">
                      <a:noAutofit/>
                    </a:bodyPr>
                    <a:lstStyle/>
                    <a:p>
                      <a:pPr algn="l" marL="0" indent="0">
                        <a:spcBef>
                          <a:spcPts val="0"/>
                        </a:spcBef>
                        <a:buNone/>
                      </a:pPr>
                      <a:r>
                        <a:rPr sz="1400" b="0" lang="en-US">
                          <a:solidFill>
                            <a:srgbClr val="1E2329"/>
                          </a:solidFill>
                          <a:latin typeface="+mn-lt"/>
                          <a:ea typeface="+mn-ea"/>
                          <a:cs typeface="+mn-cs"/>
                        </a:rPr>
                        <a:t>Year-end ARR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>
                      <a:solidFill>
                        <a:srgbClr val="D5DAE0"/>
                      </a:solidFill>
                    </a:lnB>
                    <a:noFill/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 marL="0" indent="0">
                        <a:spcBef>
                          <a:spcPts val="0"/>
                        </a:spcBef>
                        <a:buNone/>
                      </a:pPr>
                      <a:r>
                        <a:rPr sz="1400" b="0" lang="en-US">
                          <a:solidFill>
                            <a:srgbClr val="1E2329"/>
                          </a:solidFill>
                          <a:latin typeface="+mn-lt"/>
                          <a:ea typeface="+mn-ea"/>
                          <a:cs typeface="+mn-cs"/>
                        </a:rPr>
                        <a:t>11,770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>
                      <a:solidFill>
                        <a:srgbClr val="D5DAE0"/>
                      </a:solidFill>
                    </a:lnB>
                    <a:noFill/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 marL="0" indent="0">
                        <a:spcBef>
                          <a:spcPts val="0"/>
                        </a:spcBef>
                        <a:buNone/>
                      </a:pPr>
                      <a:r>
                        <a:rPr sz="1400" b="0" lang="en-US">
                          <a:solidFill>
                            <a:srgbClr val="1E2329"/>
                          </a:solidFill>
                          <a:latin typeface="+mn-lt"/>
                          <a:ea typeface="+mn-ea"/>
                          <a:cs typeface="+mn-cs"/>
                        </a:rPr>
                        <a:t>Projection, not a commitment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>
                      <a:solidFill>
                        <a:srgbClr val="D5DAE0"/>
                      </a:solidFill>
                    </a:lnB>
                    <a:noFill/>
                  </a:tcPr>
                </a:tc>
              </a:tr>
              <a:tr h="330200">
                <a:tc>
                  <a:txBody>
                    <a:bodyPr wrap="square">
                      <a:noAutofit/>
                    </a:bodyPr>
                    <a:lstStyle/>
                    <a:p>
                      <a:pPr algn="l" marL="0" indent="0">
                        <a:spcBef>
                          <a:spcPts val="0"/>
                        </a:spcBef>
                        <a:buNone/>
                      </a:pPr>
                      <a:r>
                        <a:rPr sz="1400" b="0" lang="en-US">
                          <a:solidFill>
                            <a:srgbClr val="1E2329"/>
                          </a:solidFill>
                          <a:latin typeface="+mn-lt"/>
                          <a:ea typeface="+mn-ea"/>
                          <a:cs typeface="+mn-cs"/>
                        </a:rPr>
                        <a:t>Plan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>
                      <a:solidFill>
                        <a:srgbClr val="D5DAE0"/>
                      </a:solidFill>
                    </a:lnB>
                    <a:noFill/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 marL="0" indent="0">
                        <a:spcBef>
                          <a:spcPts val="0"/>
                        </a:spcBef>
                        <a:buNone/>
                      </a:pPr>
                      <a:r>
                        <a:rPr sz="1400" b="0" lang="en-US">
                          <a:solidFill>
                            <a:srgbClr val="1E2329"/>
                          </a:solidFill>
                          <a:latin typeface="+mn-lt"/>
                          <a:ea typeface="+mn-ea"/>
                          <a:cs typeface="+mn-cs"/>
                        </a:rPr>
                        <a:t>12,000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>
                      <a:solidFill>
                        <a:srgbClr val="D5DAE0"/>
                      </a:solidFill>
                    </a:lnB>
                    <a:noFill/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 marL="0" indent="0">
                        <a:spcBef>
                          <a:spcPts val="0"/>
                        </a:spcBef>
                        <a:buNone/>
                      </a:pPr>
                      <a:r>
                        <a:rPr sz="1400" b="0" lang="en-US">
                          <a:solidFill>
                            <a:srgbClr val="1E2329"/>
                          </a:solidFill>
                          <a:latin typeface="+mn-lt"/>
                          <a:ea typeface="+mn-ea"/>
                          <a:cs typeface="+mn-cs"/>
                        </a:rPr>
                        <a:t>Approved annual plan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>
                      <a:solidFill>
                        <a:srgbClr val="D5DAE0"/>
                      </a:solidFill>
                    </a:lnB>
                    <a:noFill/>
                  </a:tcPr>
                </a:tc>
              </a:tr>
              <a:tr h="330200">
                <a:tc>
                  <a:txBody>
                    <a:bodyPr wrap="square">
                      <a:noAutofit/>
                    </a:bodyPr>
                    <a:lstStyle/>
                    <a:p>
                      <a:pPr algn="l" marL="0" indent="0">
                        <a:spcBef>
                          <a:spcPts val="0"/>
                        </a:spcBef>
                        <a:buNone/>
                      </a:pPr>
                      <a:r>
                        <a:rPr sz="1400" b="1" lang="en-US">
                          <a:solidFill>
                            <a:srgbClr val="1E2329"/>
                          </a:solidFill>
                          <a:latin typeface="+mn-lt"/>
                          <a:ea typeface="+mn-ea"/>
                          <a:cs typeface="+mn-cs"/>
                        </a:rPr>
                        <a:t>Gap to plan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>
                      <a:solidFill>
                        <a:srgbClr val="B7BEC7"/>
                      </a:solidFill>
                    </a:lnB>
                    <a:solidFill>
                      <a:srgbClr val="E0E8F3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 marL="0" indent="0">
                        <a:spcBef>
                          <a:spcPts val="0"/>
                        </a:spcBef>
                        <a:buNone/>
                      </a:pPr>
                      <a:r>
                        <a:rPr sz="1400" b="1" lang="en-US">
                          <a:solidFill>
                            <a:srgbClr val="1E2329"/>
                          </a:solidFill>
                          <a:latin typeface="+mn-lt"/>
                          <a:ea typeface="+mn-ea"/>
                          <a:cs typeface="+mn-cs"/>
                        </a:rPr>
                        <a:t>-230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>
                      <a:solidFill>
                        <a:srgbClr val="B7BEC7"/>
                      </a:solidFill>
                    </a:lnB>
                    <a:solidFill>
                      <a:srgbClr val="E0E8F3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 marL="0" indent="0">
                        <a:spcBef>
                          <a:spcPts val="0"/>
                        </a:spcBef>
                        <a:buNone/>
                      </a:pPr>
                      <a:r>
                        <a:rPr sz="1400" b="1" lang="en-US">
                          <a:solidFill>
                            <a:srgbClr val="1E2329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>
                      <a:solidFill>
                        <a:srgbClr val="B7BEC7"/>
                      </a:solidFill>
                    </a:lnB>
                    <a:solidFill>
                      <a:srgbClr val="E0E8F3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w:title"/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sz="2800" b="0" lang="en-US">
                <a:latin typeface="+mj-lt"/>
                <a:ea typeface="+mj-ea"/>
                <a:cs typeface="+mj-cs"/>
              </a:rPr>
              <a:t>Most SMB accounts that churned in Q3 never finished setup in their first 30 days</a:t>
            </a:r>
          </a:p>
        </p:txBody>
      </p:sp>
      <p:sp>
        <p:nvSpPr>
          <p:cNvPr id="3" name="sw:page"/>
          <p:cNvSpPr>
            <a:spLocks noGrp="1"/>
          </p:cNvSpPr>
          <p:nvPr>
            <p:ph type="sldNum" idx="12" sz="quarter"/>
          </p:nvPr>
        </p:nvSpPr>
        <p:spPr/>
        <p:txBody>
          <a:bodyPr/>
          <a:p>
            <a:fld id="{B6F15528-21DE-4FAA-801E-634DDDAF4B2B}" type="slidenum">
              <a:rPr lang="en-US" sz="1000"/>
              <a:t>7</a:t>
            </a:fld>
          </a:p>
        </p:txBody>
      </p:sp>
      <p:sp>
        <p:nvSpPr>
          <p:cNvPr id="4" name="sw:tracker"/>
          <p:cNvSpPr txBox="1"/>
          <p:nvPr/>
        </p:nvSpPr>
        <p:spPr>
          <a:xfrm>
            <a:off x="457200" y="228600"/>
            <a:ext cx="6766560" cy="22860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l" marL="0" indent="0">
              <a:spcBef>
                <a:spcPts val="0"/>
              </a:spcBef>
              <a:buNone/>
            </a:pPr>
            <a:r>
              <a:rPr sz="1100" b="1" lang="en-US">
                <a:solidFill>
                  <a:srgbClr val="1F5AA6"/>
                </a:solidFill>
                <a:latin typeface="+mn-lt"/>
                <a:ea typeface="+mn-ea"/>
                <a:cs typeface="+mn-cs"/>
              </a:rPr>
              <a:t>Cause</a:t>
            </a:r>
          </a:p>
        </p:txBody>
      </p:sp>
      <p:sp>
        <p:nvSpPr>
          <p:cNvPr id="5" name="sw:source"/>
          <p:cNvSpPr txBox="1"/>
          <p:nvPr/>
        </p:nvSpPr>
        <p:spPr>
          <a:xfrm>
            <a:off x="457200" y="6405880"/>
            <a:ext cx="10226040" cy="17780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l" marL="0" indent="0">
              <a:spcBef>
                <a:spcPts val="0"/>
              </a:spcBef>
              <a:buNone/>
            </a:pPr>
            <a:r>
              <a:rPr sz="1000" b="0" lang="en-US">
                <a:solidFill>
                  <a:srgbClr val="5A6472"/>
                </a:solidFill>
                <a:latin typeface="+mn-lt"/>
                <a:ea typeface="+mn-ea"/>
                <a:cs typeface="+mn-cs"/>
              </a:rPr>
              <a:t>Source: Sample data; RevOps pull of the 61 SMB accounts that churned in Q3 (CEO notes). 44 / 61 = 72%.</a:t>
            </a:r>
          </a:p>
        </p:txBody>
      </p:sp>
      <p:sp>
        <p:nvSpPr>
          <p:cNvPr id="6" name="sw:exhibit-title"/>
          <p:cNvSpPr txBox="1"/>
          <p:nvPr/>
        </p:nvSpPr>
        <p:spPr>
          <a:xfrm>
            <a:off x="457200" y="1600200"/>
            <a:ext cx="7457440" cy="24993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spcBef>
                <a:spcPts val="0"/>
              </a:spcBef>
              <a:buNone/>
            </a:pPr>
            <a:r>
              <a:rPr sz="1400" b="1" lang="en-US">
                <a:solidFill>
                  <a:srgbClr val="1E2329"/>
                </a:solidFill>
                <a:latin typeface="+mn-lt"/>
                <a:ea typeface="+mn-ea"/>
                <a:cs typeface="+mn-cs"/>
              </a:rPr>
              <a:t>SMB accounts that churned in Q3, by setup status, count</a:t>
            </a:r>
          </a:p>
        </p:txBody>
      </p:sp>
      <p:graphicFrame>
        <p:nvGraphicFramePr>
          <p:cNvPr id="7" name="sw:chart"/>
          <p:cNvGraphicFramePr>
            <a:graphicFrameLocks noGrp="1"/>
          </p:cNvGraphicFramePr>
          <p:nvPr/>
        </p:nvGraphicFramePr>
        <p:xfrm>
          <a:off x="457200" y="1959864"/>
          <a:ext cx="7457440" cy="4308856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sw:label"/>
          <p:cNvSpPr txBox="1"/>
          <p:nvPr/>
        </p:nvSpPr>
        <p:spPr>
          <a:xfrm>
            <a:off x="8097520" y="1600200"/>
            <a:ext cx="3637280" cy="2311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spcBef>
                <a:spcPts val="0"/>
              </a:spcBef>
              <a:buNone/>
            </a:pPr>
            <a:r>
              <a:rPr sz="1400" b="1" lang="en-US">
                <a:solidFill>
                  <a:srgbClr val="1F5AA6"/>
                </a:solidFill>
                <a:latin typeface="+mn-lt"/>
                <a:ea typeface="+mn-ea"/>
                <a:cs typeface="+mn-cs"/>
              </a:rPr>
              <a:t>So what</a:t>
            </a:r>
          </a:p>
        </p:txBody>
      </p:sp>
      <p:cxnSp>
        <p:nvCxnSpPr>
          <p:cNvPr id="9" name="sw:rule"/>
          <p:cNvCxnSpPr/>
          <p:nvPr/>
        </p:nvCxnSpPr>
        <p:spPr>
          <a:xfrm>
            <a:off x="8097520" y="1886204"/>
            <a:ext cx="3637280" cy="0"/>
          </a:xfrm>
          <a:prstGeom prst="line">
            <a:avLst/>
          </a:prstGeom>
          <a:ln w="25400">
            <a:solidFill>
              <a:srgbClr val="1F5AA6"/>
            </a:solidFill>
          </a:ln>
        </p:spPr>
      </p:cxnSp>
      <p:sp>
        <p:nvSpPr>
          <p:cNvPr id="10" name="sw:body"/>
          <p:cNvSpPr txBox="1"/>
          <p:nvPr/>
        </p:nvSpPr>
        <p:spPr>
          <a:xfrm>
            <a:off x="8097520" y="2014220"/>
            <a:ext cx="3637280" cy="4254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177800" indent="-177800">
              <a:spcBef>
                <a:spcPts val="0"/>
              </a:spcBef>
              <a:buFont typeface="Arial"/>
              <a:buChar char="•"/>
            </a:pPr>
            <a:r>
              <a:rPr sz="1600" b="0" lang="en-US">
                <a:solidFill>
                  <a:srgbClr val="1E2329"/>
                </a:solidFill>
                <a:latin typeface="+mn-lt"/>
                <a:ea typeface="+mn-ea"/>
                <a:cs typeface="+mn-cs"/>
              </a:rPr>
              <a:t>44 of 61 churned SMB accounts (72%) never connected their integrations within 30 days</a:t>
            </a:r>
          </a:p>
          <a:p>
            <a:pPr algn="l" marL="177800" indent="-177800">
              <a:spcBef>
                <a:spcPts val="960"/>
              </a:spcBef>
              <a:buFont typeface="Arial"/>
              <a:buChar char="•"/>
            </a:pPr>
            <a:r>
              <a:rPr sz="1600" b="0" lang="en-US">
                <a:solidFill>
                  <a:srgbClr val="1E2329"/>
                </a:solidFill>
                <a:latin typeface="+mn-lt"/>
                <a:ea typeface="+mn-ea"/>
                <a:cs typeface="+mn-cs"/>
              </a:rPr>
              <a:t>Setup is the common thread among the SMB accounts we lost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w:title"/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sz="2800" b="0" lang="en-US">
                <a:latin typeface="+mj-lt"/>
                <a:ea typeface="+mj-ea"/>
                <a:cs typeface="+mj-cs"/>
              </a:rPr>
              <a:t>Accounts that finish setup churn at about a fifth of the rate of those that do not</a:t>
            </a:r>
          </a:p>
        </p:txBody>
      </p:sp>
      <p:sp>
        <p:nvSpPr>
          <p:cNvPr id="3" name="sw:page"/>
          <p:cNvSpPr>
            <a:spLocks noGrp="1"/>
          </p:cNvSpPr>
          <p:nvPr>
            <p:ph type="sldNum" idx="12" sz="quarter"/>
          </p:nvPr>
        </p:nvSpPr>
        <p:spPr/>
        <p:txBody>
          <a:bodyPr/>
          <a:p>
            <a:fld id="{B6F15528-21DE-4FAA-801E-634DDDAF4B2B}" type="slidenum">
              <a:rPr lang="en-US" sz="1000"/>
              <a:t>8</a:t>
            </a:fld>
          </a:p>
        </p:txBody>
      </p:sp>
      <p:sp>
        <p:nvSpPr>
          <p:cNvPr id="4" name="sw:tracker"/>
          <p:cNvSpPr txBox="1"/>
          <p:nvPr/>
        </p:nvSpPr>
        <p:spPr>
          <a:xfrm>
            <a:off x="457200" y="228600"/>
            <a:ext cx="6766560" cy="22860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l" marL="0" indent="0">
              <a:spcBef>
                <a:spcPts val="0"/>
              </a:spcBef>
              <a:buNone/>
            </a:pPr>
            <a:r>
              <a:rPr sz="1100" b="1" lang="en-US">
                <a:solidFill>
                  <a:srgbClr val="1F5AA6"/>
                </a:solidFill>
                <a:latin typeface="+mn-lt"/>
                <a:ea typeface="+mn-ea"/>
                <a:cs typeface="+mn-cs"/>
              </a:rPr>
              <a:t>Cause</a:t>
            </a:r>
          </a:p>
        </p:txBody>
      </p:sp>
      <p:sp>
        <p:nvSpPr>
          <p:cNvPr id="5" name="sw:source"/>
          <p:cNvSpPr txBox="1"/>
          <p:nvPr/>
        </p:nvSpPr>
        <p:spPr>
          <a:xfrm>
            <a:off x="457200" y="6405880"/>
            <a:ext cx="10226040" cy="17780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l" marL="0" indent="0">
              <a:spcBef>
                <a:spcPts val="0"/>
              </a:spcBef>
              <a:buNone/>
            </a:pPr>
            <a:r>
              <a:rPr sz="1000" b="0" lang="en-US">
                <a:solidFill>
                  <a:srgbClr val="5A6472"/>
                </a:solidFill>
                <a:latin typeface="+mn-lt"/>
                <a:ea typeface="+mn-ea"/>
                <a:cs typeface="+mn-cs"/>
              </a:rPr>
              <a:t>Source: Sample data; Jan-Jun 2026 SMB cohort (CEO notes). 4 / 19 = 0.21.</a:t>
            </a:r>
          </a:p>
        </p:txBody>
      </p:sp>
      <p:sp>
        <p:nvSpPr>
          <p:cNvPr id="6" name="sw:exhibit-title"/>
          <p:cNvSpPr txBox="1"/>
          <p:nvPr/>
        </p:nvSpPr>
        <p:spPr>
          <a:xfrm>
            <a:off x="457200" y="1600200"/>
            <a:ext cx="7457440" cy="24993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spcBef>
                <a:spcPts val="0"/>
              </a:spcBef>
              <a:buNone/>
            </a:pPr>
            <a:r>
              <a:rPr sz="1400" b="1" lang="en-US">
                <a:solidFill>
                  <a:srgbClr val="1E2329"/>
                </a:solidFill>
                <a:latin typeface="+mn-lt"/>
                <a:ea typeface="+mn-ea"/>
                <a:cs typeface="+mn-cs"/>
              </a:rPr>
              <a:t>90-day churn by setup status, SMB accounts signed Jan-Jun 2026, %</a:t>
            </a:r>
          </a:p>
        </p:txBody>
      </p:sp>
      <p:graphicFrame>
        <p:nvGraphicFramePr>
          <p:cNvPr id="7" name="sw:chart"/>
          <p:cNvGraphicFramePr>
            <a:graphicFrameLocks noGrp="1"/>
          </p:cNvGraphicFramePr>
          <p:nvPr/>
        </p:nvGraphicFramePr>
        <p:xfrm>
          <a:off x="457200" y="1959864"/>
          <a:ext cx="7457440" cy="4308856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sw:label"/>
          <p:cNvSpPr txBox="1"/>
          <p:nvPr/>
        </p:nvSpPr>
        <p:spPr>
          <a:xfrm>
            <a:off x="8097520" y="1600200"/>
            <a:ext cx="3637280" cy="2311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spcBef>
                <a:spcPts val="0"/>
              </a:spcBef>
              <a:buNone/>
            </a:pPr>
            <a:r>
              <a:rPr sz="1400" b="1" lang="en-US">
                <a:solidFill>
                  <a:srgbClr val="1F5AA6"/>
                </a:solidFill>
                <a:latin typeface="+mn-lt"/>
                <a:ea typeface="+mn-ea"/>
                <a:cs typeface="+mn-cs"/>
              </a:rPr>
              <a:t>So what</a:t>
            </a:r>
          </a:p>
        </p:txBody>
      </p:sp>
      <p:cxnSp>
        <p:nvCxnSpPr>
          <p:cNvPr id="9" name="sw:rule"/>
          <p:cNvCxnSpPr/>
          <p:nvPr/>
        </p:nvCxnSpPr>
        <p:spPr>
          <a:xfrm>
            <a:off x="8097520" y="1886204"/>
            <a:ext cx="3637280" cy="0"/>
          </a:xfrm>
          <a:prstGeom prst="line">
            <a:avLst/>
          </a:prstGeom>
          <a:ln w="25400">
            <a:solidFill>
              <a:srgbClr val="1F5AA6"/>
            </a:solidFill>
          </a:ln>
        </p:spPr>
      </p:cxnSp>
      <p:sp>
        <p:nvSpPr>
          <p:cNvPr id="10" name="sw:body"/>
          <p:cNvSpPr txBox="1"/>
          <p:nvPr/>
        </p:nvSpPr>
        <p:spPr>
          <a:xfrm>
            <a:off x="8097520" y="2014220"/>
            <a:ext cx="3637280" cy="4254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177800" indent="-177800">
              <a:spcBef>
                <a:spcPts val="0"/>
              </a:spcBef>
              <a:buFont typeface="Arial"/>
              <a:buChar char="•"/>
            </a:pPr>
            <a:r>
              <a:rPr sz="1600" b="0" lang="en-US">
                <a:solidFill>
                  <a:srgbClr val="1E2329"/>
                </a:solidFill>
                <a:latin typeface="+mn-lt"/>
                <a:ea typeface="+mn-ea"/>
                <a:cs typeface="+mn-cs"/>
              </a:rPr>
              <a:t>4% against 19% in the Jan-Jun cohort</a:t>
            </a:r>
          </a:p>
          <a:p>
            <a:pPr algn="l" marL="177800" indent="-177800">
              <a:spcBef>
                <a:spcPts val="960"/>
              </a:spcBef>
              <a:buFont typeface="Arial"/>
              <a:buChar char="•"/>
            </a:pPr>
            <a:r>
              <a:rPr sz="1600" b="0" lang="en-US">
                <a:solidFill>
                  <a:srgbClr val="1E2329"/>
                </a:solidFill>
                <a:latin typeface="+mn-lt"/>
                <a:ea typeface="+mn-ea"/>
                <a:cs typeface="+mn-cs"/>
              </a:rPr>
              <a:t>Getting accounts through setup is the lever onboarding controls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w:title"/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sz="2800" b="0" lang="en-US">
                <a:latin typeface="+mj-lt"/>
                <a:ea typeface="+mj-ea"/>
                <a:cs typeface="+mj-cs"/>
              </a:rPr>
              <a:t>Setup completion fell from 68% to 55% as new accounts per specialist rose 41%</a:t>
            </a:r>
          </a:p>
        </p:txBody>
      </p:sp>
      <p:sp>
        <p:nvSpPr>
          <p:cNvPr id="3" name="sw:page"/>
          <p:cNvSpPr>
            <a:spLocks noGrp="1"/>
          </p:cNvSpPr>
          <p:nvPr>
            <p:ph type="sldNum" idx="12" sz="quarter"/>
          </p:nvPr>
        </p:nvSpPr>
        <p:spPr/>
        <p:txBody>
          <a:bodyPr/>
          <a:p>
            <a:fld id="{B6F15528-21DE-4FAA-801E-634DDDAF4B2B}" type="slidenum">
              <a:rPr lang="en-US" sz="1000"/>
              <a:t>9</a:t>
            </a:fld>
          </a:p>
        </p:txBody>
      </p:sp>
      <p:sp>
        <p:nvSpPr>
          <p:cNvPr id="4" name="sw:tracker"/>
          <p:cNvSpPr txBox="1"/>
          <p:nvPr/>
        </p:nvSpPr>
        <p:spPr>
          <a:xfrm>
            <a:off x="457200" y="228600"/>
            <a:ext cx="6766560" cy="22860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l" marL="0" indent="0">
              <a:spcBef>
                <a:spcPts val="0"/>
              </a:spcBef>
              <a:buNone/>
            </a:pPr>
            <a:r>
              <a:rPr sz="1100" b="1" lang="en-US">
                <a:solidFill>
                  <a:srgbClr val="1F5AA6"/>
                </a:solidFill>
                <a:latin typeface="+mn-lt"/>
                <a:ea typeface="+mn-ea"/>
                <a:cs typeface="+mn-cs"/>
              </a:rPr>
              <a:t>Cause</a:t>
            </a:r>
          </a:p>
        </p:txBody>
      </p:sp>
      <p:sp>
        <p:nvSpPr>
          <p:cNvPr id="5" name="sw:source"/>
          <p:cNvSpPr txBox="1"/>
          <p:nvPr/>
        </p:nvSpPr>
        <p:spPr>
          <a:xfrm>
            <a:off x="457200" y="6405880"/>
            <a:ext cx="10226040" cy="17780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l" marL="0" indent="0">
              <a:spcBef>
                <a:spcPts val="0"/>
              </a:spcBef>
              <a:buNone/>
            </a:pPr>
            <a:r>
              <a:rPr sz="1000" b="0" lang="en-US">
                <a:solidFill>
                  <a:srgbClr val="5A6472"/>
                </a:solidFill>
                <a:latin typeface="+mn-lt"/>
                <a:ea typeface="+mn-ea"/>
                <a:cs typeface="+mn-cs"/>
              </a:rPr>
              <a:t>Source: Sample data; smb_onboarding.csv. Per specialist = new SMB accounts per month / specialists; 60 / 42.5 - 1 = 41%.</a:t>
            </a:r>
          </a:p>
        </p:txBody>
      </p:sp>
      <p:sp>
        <p:nvSpPr>
          <p:cNvPr id="6" name="sw:exhibit-title"/>
          <p:cNvSpPr txBox="1"/>
          <p:nvPr/>
        </p:nvSpPr>
        <p:spPr>
          <a:xfrm>
            <a:off x="457200" y="1600200"/>
            <a:ext cx="7457440" cy="24993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spcBef>
                <a:spcPts val="0"/>
              </a:spcBef>
              <a:buNone/>
            </a:pPr>
            <a:r>
              <a:rPr sz="1400" b="1" lang="en-US">
                <a:solidFill>
                  <a:srgbClr val="1E2329"/>
                </a:solidFill>
                <a:latin typeface="+mn-lt"/>
                <a:ea typeface="+mn-ea"/>
                <a:cs typeface="+mn-cs"/>
              </a:rPr>
              <a:t>SMB onboarding load and results, 2026</a:t>
            </a:r>
          </a:p>
        </p:txBody>
      </p:sp>
      <p:graphicFrame>
        <p:nvGraphicFramePr>
          <p:cNvPr id="7" name="sw:table"/>
          <p:cNvGraphicFramePr>
            <a:graphicFrameLocks noGrp="1"/>
          </p:cNvGraphicFramePr>
          <p:nvPr/>
        </p:nvGraphicFramePr>
        <p:xfrm>
          <a:off x="457200" y="1959864"/>
          <a:ext cx="7457440" cy="1320800"/>
        </p:xfrm>
        <a:graphic>
          <a:graphicData uri="http://schemas.openxmlformats.org/drawingml/2006/table">
            <a:tbl>
              <a:tblPr firstRow="1">
                <a:tableStyleId>{2D5ABB26-0587-4C30-8999-92F81FD0307C}</a:tableStyleId>
              </a:tblPr>
              <a:tblGrid>
                <a:gridCol w="905703"/>
                <a:gridCol w="1848962"/>
                <a:gridCol w="1220513"/>
                <a:gridCol w="1459206"/>
                <a:gridCol w="2023056"/>
              </a:tblGrid>
              <a:tr h="330200">
                <a:tc>
                  <a:txBody>
                    <a:bodyPr wrap="square">
                      <a:noAutofit/>
                    </a:bodyPr>
                    <a:lstStyle/>
                    <a:p>
                      <a:pPr algn="l" marL="0" indent="0">
                        <a:spcBef>
                          <a:spcPts val="0"/>
                        </a:spcBef>
                        <a:buNone/>
                      </a:pPr>
                      <a:r>
                        <a:rPr sz="1400" b="1" lang="en-US">
                          <a:solidFill>
                            <a:srgbClr val="5A6472"/>
                          </a:solidFill>
                          <a:latin typeface="+mn-lt"/>
                          <a:ea typeface="+mn-ea"/>
                          <a:cs typeface="+mn-cs"/>
                        </a:rPr>
                        <a:t>Quarter</a:t>
                      </a:r>
                    </a:p>
                  </a:txBody>
                  <a:tcPr marL="91440" marR="91440" marT="45720" marB="45720" anchor="b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 cap="flat" cmpd="sng">
                      <a:solidFill>
                        <a:srgbClr val="1E2329"/>
                      </a:solidFill>
                    </a:lnB>
                    <a:noFill/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 marL="0" indent="0">
                        <a:spcBef>
                          <a:spcPts val="0"/>
                        </a:spcBef>
                        <a:buNone/>
                      </a:pPr>
                      <a:r>
                        <a:rPr sz="1400" b="1" lang="en-US">
                          <a:solidFill>
                            <a:srgbClr val="5A6472"/>
                          </a:solidFill>
                          <a:latin typeface="+mn-lt"/>
                          <a:ea typeface="+mn-ea"/>
                          <a:cs typeface="+mn-cs"/>
                        </a:rPr>
                        <a:t>New SMB / month</a:t>
                      </a:r>
                    </a:p>
                  </a:txBody>
                  <a:tcPr marL="91440" marR="91440" marT="45720" marB="45720" anchor="b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 cap="flat" cmpd="sng">
                      <a:solidFill>
                        <a:srgbClr val="1E2329"/>
                      </a:solidFill>
                    </a:lnB>
                    <a:noFill/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 marL="0" indent="0">
                        <a:spcBef>
                          <a:spcPts val="0"/>
                        </a:spcBef>
                        <a:buNone/>
                      </a:pPr>
                      <a:r>
                        <a:rPr sz="1400" b="1" lang="en-US">
                          <a:solidFill>
                            <a:srgbClr val="5A6472"/>
                          </a:solidFill>
                          <a:latin typeface="+mn-lt"/>
                          <a:ea typeface="+mn-ea"/>
                          <a:cs typeface="+mn-cs"/>
                        </a:rPr>
                        <a:t>Specialists</a:t>
                      </a:r>
                    </a:p>
                  </a:txBody>
                  <a:tcPr marL="91440" marR="91440" marT="45720" marB="45720" anchor="b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 cap="flat" cmpd="sng">
                      <a:solidFill>
                        <a:srgbClr val="1E2329"/>
                      </a:solidFill>
                    </a:lnB>
                    <a:noFill/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 marL="0" indent="0">
                        <a:spcBef>
                          <a:spcPts val="0"/>
                        </a:spcBef>
                        <a:buNone/>
                      </a:pPr>
                      <a:r>
                        <a:rPr sz="1400" b="1" lang="en-US">
                          <a:solidFill>
                            <a:srgbClr val="5A6472"/>
                          </a:solidFill>
                          <a:latin typeface="+mn-lt"/>
                          <a:ea typeface="+mn-ea"/>
                          <a:cs typeface="+mn-cs"/>
                        </a:rPr>
                        <a:t>Per specialist</a:t>
                      </a:r>
                    </a:p>
                  </a:txBody>
                  <a:tcPr marL="91440" marR="91440" marT="45720" marB="45720" anchor="b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 cap="flat" cmpd="sng">
                      <a:solidFill>
                        <a:srgbClr val="1E2329"/>
                      </a:solidFill>
                    </a:lnB>
                    <a:noFill/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 marL="0" indent="0">
                        <a:spcBef>
                          <a:spcPts val="0"/>
                        </a:spcBef>
                        <a:buNone/>
                      </a:pPr>
                      <a:r>
                        <a:rPr sz="1400" b="1" lang="en-US">
                          <a:solidFill>
                            <a:srgbClr val="5A6472"/>
                          </a:solidFill>
                          <a:latin typeface="+mn-lt"/>
                          <a:ea typeface="+mn-ea"/>
                          <a:cs typeface="+mn-cs"/>
                        </a:rPr>
                        <a:t>Setup in 30 days, %</a:t>
                      </a:r>
                    </a:p>
                  </a:txBody>
                  <a:tcPr marL="91440" marR="91440" marT="45720" marB="45720" anchor="b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 cap="flat" cmpd="sng">
                      <a:solidFill>
                        <a:srgbClr val="1E2329"/>
                      </a:solidFill>
                    </a:lnB>
                    <a:noFill/>
                  </a:tcPr>
                </a:tc>
              </a:tr>
              <a:tr h="330200">
                <a:tc>
                  <a:txBody>
                    <a:bodyPr wrap="square">
                      <a:noAutofit/>
                    </a:bodyPr>
                    <a:lstStyle/>
                    <a:p>
                      <a:pPr algn="l" marL="0" indent="0">
                        <a:spcBef>
                          <a:spcPts val="0"/>
                        </a:spcBef>
                        <a:buNone/>
                      </a:pPr>
                      <a:r>
                        <a:rPr sz="1400" b="0" lang="en-US">
                          <a:solidFill>
                            <a:srgbClr val="1E2329"/>
                          </a:solidFill>
                          <a:latin typeface="+mn-lt"/>
                          <a:ea typeface="+mn-ea"/>
                          <a:cs typeface="+mn-cs"/>
                        </a:rPr>
                        <a:t>Q1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>
                      <a:solidFill>
                        <a:srgbClr val="D5DAE0"/>
                      </a:solidFill>
                    </a:lnB>
                    <a:noFill/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 marL="0" indent="0">
                        <a:spcBef>
                          <a:spcPts val="0"/>
                        </a:spcBef>
                        <a:buNone/>
                      </a:pPr>
                      <a:r>
                        <a:rPr sz="1400" b="0" lang="en-US">
                          <a:solidFill>
                            <a:srgbClr val="1E2329"/>
                          </a:solidFill>
                          <a:latin typeface="+mn-lt"/>
                          <a:ea typeface="+mn-ea"/>
                          <a:cs typeface="+mn-cs"/>
                        </a:rPr>
                        <a:t>85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>
                      <a:solidFill>
                        <a:srgbClr val="D5DAE0"/>
                      </a:solidFill>
                    </a:lnB>
                    <a:noFill/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 marL="0" indent="0">
                        <a:spcBef>
                          <a:spcPts val="0"/>
                        </a:spcBef>
                        <a:buNone/>
                      </a:pPr>
                      <a:r>
                        <a:rPr sz="1400" b="0" lang="en-US">
                          <a:solidFill>
                            <a:srgbClr val="1E2329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>
                      <a:solidFill>
                        <a:srgbClr val="D5DAE0"/>
                      </a:solidFill>
                    </a:lnB>
                    <a:noFill/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 marL="0" indent="0">
                        <a:spcBef>
                          <a:spcPts val="0"/>
                        </a:spcBef>
                        <a:buNone/>
                      </a:pPr>
                      <a:r>
                        <a:rPr sz="1400" b="1" lang="en-US">
                          <a:solidFill>
                            <a:srgbClr val="1E2329"/>
                          </a:solidFill>
                          <a:latin typeface="+mn-lt"/>
                          <a:ea typeface="+mn-ea"/>
                          <a:cs typeface="+mn-cs"/>
                        </a:rPr>
                        <a:t>42.5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>
                      <a:solidFill>
                        <a:srgbClr val="D5DAE0"/>
                      </a:solidFill>
                    </a:lnB>
                    <a:solidFill>
                      <a:srgbClr val="E0E8F3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 marL="0" indent="0">
                        <a:spcBef>
                          <a:spcPts val="0"/>
                        </a:spcBef>
                        <a:buNone/>
                      </a:pPr>
                      <a:r>
                        <a:rPr sz="1400" b="1" lang="en-US">
                          <a:solidFill>
                            <a:srgbClr val="1E2329"/>
                          </a:solidFill>
                          <a:latin typeface="+mn-lt"/>
                          <a:ea typeface="+mn-ea"/>
                          <a:cs typeface="+mn-cs"/>
                        </a:rPr>
                        <a:t>68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>
                      <a:solidFill>
                        <a:srgbClr val="D5DAE0"/>
                      </a:solidFill>
                    </a:lnB>
                    <a:solidFill>
                      <a:srgbClr val="E0E8F3"/>
                    </a:solidFill>
                  </a:tcPr>
                </a:tc>
              </a:tr>
              <a:tr h="330200">
                <a:tc>
                  <a:txBody>
                    <a:bodyPr wrap="square">
                      <a:noAutofit/>
                    </a:bodyPr>
                    <a:lstStyle/>
                    <a:p>
                      <a:pPr algn="l" marL="0" indent="0">
                        <a:spcBef>
                          <a:spcPts val="0"/>
                        </a:spcBef>
                        <a:buNone/>
                      </a:pPr>
                      <a:r>
                        <a:rPr sz="1400" b="0" lang="en-US">
                          <a:solidFill>
                            <a:srgbClr val="1E2329"/>
                          </a:solidFill>
                          <a:latin typeface="+mn-lt"/>
                          <a:ea typeface="+mn-ea"/>
                          <a:cs typeface="+mn-cs"/>
                        </a:rPr>
                        <a:t>Q2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>
                      <a:solidFill>
                        <a:srgbClr val="D5DAE0"/>
                      </a:solidFill>
                    </a:lnB>
                    <a:noFill/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 marL="0" indent="0">
                        <a:spcBef>
                          <a:spcPts val="0"/>
                        </a:spcBef>
                        <a:buNone/>
                      </a:pPr>
                      <a:r>
                        <a:rPr sz="1400" b="0" lang="en-US">
                          <a:solidFill>
                            <a:srgbClr val="1E2329"/>
                          </a:solidFill>
                          <a:latin typeface="+mn-lt"/>
                          <a:ea typeface="+mn-ea"/>
                          <a:cs typeface="+mn-cs"/>
                        </a:rPr>
                        <a:t>100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>
                      <a:solidFill>
                        <a:srgbClr val="D5DAE0"/>
                      </a:solidFill>
                    </a:lnB>
                    <a:noFill/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 marL="0" indent="0">
                        <a:spcBef>
                          <a:spcPts val="0"/>
                        </a:spcBef>
                        <a:buNone/>
                      </a:pPr>
                      <a:r>
                        <a:rPr sz="1400" b="0" lang="en-US">
                          <a:solidFill>
                            <a:srgbClr val="1E2329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>
                      <a:solidFill>
                        <a:srgbClr val="D5DAE0"/>
                      </a:solidFill>
                    </a:lnB>
                    <a:noFill/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 marL="0" indent="0">
                        <a:spcBef>
                          <a:spcPts val="0"/>
                        </a:spcBef>
                        <a:buNone/>
                      </a:pPr>
                      <a:r>
                        <a:rPr sz="1400" b="1" lang="en-US">
                          <a:solidFill>
                            <a:srgbClr val="1E2329"/>
                          </a:solidFill>
                          <a:latin typeface="+mn-lt"/>
                          <a:ea typeface="+mn-ea"/>
                          <a:cs typeface="+mn-cs"/>
                        </a:rPr>
                        <a:t>50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>
                      <a:solidFill>
                        <a:srgbClr val="D5DAE0"/>
                      </a:solidFill>
                    </a:lnB>
                    <a:solidFill>
                      <a:srgbClr val="E0E8F3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 marL="0" indent="0">
                        <a:spcBef>
                          <a:spcPts val="0"/>
                        </a:spcBef>
                        <a:buNone/>
                      </a:pPr>
                      <a:r>
                        <a:rPr sz="1400" b="1" lang="en-US">
                          <a:solidFill>
                            <a:srgbClr val="1E2329"/>
                          </a:solidFill>
                          <a:latin typeface="+mn-lt"/>
                          <a:ea typeface="+mn-ea"/>
                          <a:cs typeface="+mn-cs"/>
                        </a:rPr>
                        <a:t>61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>
                      <a:solidFill>
                        <a:srgbClr val="D5DAE0"/>
                      </a:solidFill>
                    </a:lnB>
                    <a:solidFill>
                      <a:srgbClr val="E0E8F3"/>
                    </a:solidFill>
                  </a:tcPr>
                </a:tc>
              </a:tr>
              <a:tr h="330200">
                <a:tc>
                  <a:txBody>
                    <a:bodyPr wrap="square">
                      <a:noAutofit/>
                    </a:bodyPr>
                    <a:lstStyle/>
                    <a:p>
                      <a:pPr algn="l" marL="0" indent="0">
                        <a:spcBef>
                          <a:spcPts val="0"/>
                        </a:spcBef>
                        <a:buNone/>
                      </a:pPr>
                      <a:r>
                        <a:rPr sz="1400" b="0" lang="en-US">
                          <a:solidFill>
                            <a:srgbClr val="1E2329"/>
                          </a:solidFill>
                          <a:latin typeface="+mn-lt"/>
                          <a:ea typeface="+mn-ea"/>
                          <a:cs typeface="+mn-cs"/>
                        </a:rPr>
                        <a:t>Q3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>
                      <a:solidFill>
                        <a:srgbClr val="B7BEC7"/>
                      </a:solidFill>
                    </a:lnB>
                    <a:noFill/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 marL="0" indent="0">
                        <a:spcBef>
                          <a:spcPts val="0"/>
                        </a:spcBef>
                        <a:buNone/>
                      </a:pPr>
                      <a:r>
                        <a:rPr sz="1400" b="0" lang="en-US">
                          <a:solidFill>
                            <a:srgbClr val="1E2329"/>
                          </a:solidFill>
                          <a:latin typeface="+mn-lt"/>
                          <a:ea typeface="+mn-ea"/>
                          <a:cs typeface="+mn-cs"/>
                        </a:rPr>
                        <a:t>120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>
                      <a:solidFill>
                        <a:srgbClr val="B7BEC7"/>
                      </a:solidFill>
                    </a:lnB>
                    <a:noFill/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 marL="0" indent="0">
                        <a:spcBef>
                          <a:spcPts val="0"/>
                        </a:spcBef>
                        <a:buNone/>
                      </a:pPr>
                      <a:r>
                        <a:rPr sz="1400" b="0" lang="en-US">
                          <a:solidFill>
                            <a:srgbClr val="1E2329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>
                      <a:solidFill>
                        <a:srgbClr val="B7BEC7"/>
                      </a:solidFill>
                    </a:lnB>
                    <a:noFill/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 marL="0" indent="0">
                        <a:spcBef>
                          <a:spcPts val="0"/>
                        </a:spcBef>
                        <a:buNone/>
                      </a:pPr>
                      <a:r>
                        <a:rPr sz="1400" b="1" lang="en-US">
                          <a:solidFill>
                            <a:srgbClr val="1E2329"/>
                          </a:solidFill>
                          <a:latin typeface="+mn-lt"/>
                          <a:ea typeface="+mn-ea"/>
                          <a:cs typeface="+mn-cs"/>
                        </a:rPr>
                        <a:t>60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>
                      <a:solidFill>
                        <a:srgbClr val="B7BEC7"/>
                      </a:solidFill>
                    </a:lnB>
                    <a:solidFill>
                      <a:srgbClr val="E0E8F3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 marL="0" indent="0">
                        <a:spcBef>
                          <a:spcPts val="0"/>
                        </a:spcBef>
                        <a:buNone/>
                      </a:pPr>
                      <a:r>
                        <a:rPr sz="1400" b="1" lang="en-US">
                          <a:solidFill>
                            <a:srgbClr val="1E2329"/>
                          </a:solidFill>
                          <a:latin typeface="+mn-lt"/>
                          <a:ea typeface="+mn-ea"/>
                          <a:cs typeface="+mn-cs"/>
                        </a:rPr>
                        <a:t>55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>
                      <a:solidFill>
                        <a:srgbClr val="B7BEC7"/>
                      </a:solidFill>
                    </a:lnB>
                    <a:solidFill>
                      <a:srgbClr val="E0E8F3"/>
                    </a:solidFill>
                  </a:tcPr>
                </a:tc>
              </a:tr>
            </a:tbl>
          </a:graphicData>
        </a:graphic>
      </p:graphicFrame>
      <p:sp>
        <p:nvSpPr>
          <p:cNvPr id="8" name="sw:label"/>
          <p:cNvSpPr txBox="1"/>
          <p:nvPr/>
        </p:nvSpPr>
        <p:spPr>
          <a:xfrm>
            <a:off x="8097520" y="1600200"/>
            <a:ext cx="3637280" cy="2311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spcBef>
                <a:spcPts val="0"/>
              </a:spcBef>
              <a:buNone/>
            </a:pPr>
            <a:r>
              <a:rPr sz="1400" b="1" lang="en-US">
                <a:solidFill>
                  <a:srgbClr val="1F5AA6"/>
                </a:solidFill>
                <a:latin typeface="+mn-lt"/>
                <a:ea typeface="+mn-ea"/>
                <a:cs typeface="+mn-cs"/>
              </a:rPr>
              <a:t>So what</a:t>
            </a:r>
          </a:p>
        </p:txBody>
      </p:sp>
      <p:cxnSp>
        <p:nvCxnSpPr>
          <p:cNvPr id="9" name="sw:rule"/>
          <p:cNvCxnSpPr/>
          <p:nvPr/>
        </p:nvCxnSpPr>
        <p:spPr>
          <a:xfrm>
            <a:off x="8097520" y="1886204"/>
            <a:ext cx="3637280" cy="0"/>
          </a:xfrm>
          <a:prstGeom prst="line">
            <a:avLst/>
          </a:prstGeom>
          <a:ln w="25400">
            <a:solidFill>
              <a:srgbClr val="1F5AA6"/>
            </a:solidFill>
          </a:ln>
        </p:spPr>
      </p:cxnSp>
      <p:sp>
        <p:nvSpPr>
          <p:cNvPr id="10" name="sw:body"/>
          <p:cNvSpPr txBox="1"/>
          <p:nvPr/>
        </p:nvSpPr>
        <p:spPr>
          <a:xfrm>
            <a:off x="8097520" y="2014220"/>
            <a:ext cx="3637280" cy="4254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177800" indent="-177800">
              <a:spcBef>
                <a:spcPts val="0"/>
              </a:spcBef>
              <a:buFont typeface="Arial"/>
              <a:buChar char="•"/>
            </a:pPr>
            <a:r>
              <a:rPr sz="1600" b="0" lang="en-US">
                <a:solidFill>
                  <a:srgbClr val="1E2329"/>
                </a:solidFill>
                <a:latin typeface="+mn-lt"/>
                <a:ea typeface="+mn-ea"/>
                <a:cs typeface="+mn-cs"/>
              </a:rPr>
              <a:t>The team is still two specialists, as in January</a:t>
            </a:r>
          </a:p>
          <a:p>
            <a:pPr algn="l" marL="177800" indent="-177800">
              <a:spcBef>
                <a:spcPts val="960"/>
              </a:spcBef>
              <a:buFont typeface="Arial"/>
              <a:buChar char="•"/>
            </a:pPr>
            <a:r>
              <a:rPr sz="1600" b="0" lang="en-US">
                <a:solidFill>
                  <a:srgbClr val="1E2329"/>
                </a:solidFill>
                <a:latin typeface="+mn-lt"/>
                <a:ea typeface="+mn-ea"/>
                <a:cs typeface="+mn-cs"/>
              </a:rPr>
              <a:t>Median days to setup went from 9 to 17</a:t>
            </a:r>
          </a:p>
          <a:p>
            <a:pPr algn="l" marL="177800" indent="-177800">
              <a:spcBef>
                <a:spcPts val="960"/>
              </a:spcBef>
              <a:buFont typeface="Arial"/>
              <a:buChar char="•"/>
            </a:pPr>
            <a:r>
              <a:rPr sz="1600" b="0" lang="en-US">
                <a:solidFill>
                  <a:srgbClr val="1E2329"/>
                </a:solidFill>
                <a:latin typeface="+mn-lt"/>
                <a:ea typeface="+mn-ea"/>
                <a:cs typeface="+mn-cs"/>
              </a:rPr>
              <a:t>Load per specialist: 42.5 to 60 new accounts a month (+41%)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w:title"/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sz="2800" b="0" lang="en-US">
                <a:latin typeface="+mj-lt"/>
                <a:ea typeface="+mj-ea"/>
                <a:cs typeface="+mj-cs"/>
              </a:rPr>
              <a:t>Shifting two Q4 sales hires to onboarding saves $110k a year and recovers about $82k of Q4 ARR</a:t>
            </a:r>
          </a:p>
        </p:txBody>
      </p:sp>
      <p:sp>
        <p:nvSpPr>
          <p:cNvPr id="3" name="sw:page"/>
          <p:cNvSpPr>
            <a:spLocks noGrp="1"/>
          </p:cNvSpPr>
          <p:nvPr>
            <p:ph type="sldNum" idx="12" sz="quarter"/>
          </p:nvPr>
        </p:nvSpPr>
        <p:spPr/>
        <p:txBody>
          <a:bodyPr/>
          <a:p>
            <a:fld id="{B6F15528-21DE-4FAA-801E-634DDDAF4B2B}" type="slidenum">
              <a:rPr lang="en-US" sz="1000"/>
              <a:t>10</a:t>
            </a:fld>
          </a:p>
        </p:txBody>
      </p:sp>
      <p:sp>
        <p:nvSpPr>
          <p:cNvPr id="4" name="sw:tracker"/>
          <p:cNvSpPr txBox="1"/>
          <p:nvPr/>
        </p:nvSpPr>
        <p:spPr>
          <a:xfrm>
            <a:off x="457200" y="228600"/>
            <a:ext cx="6766560" cy="22860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l" marL="0" indent="0">
              <a:spcBef>
                <a:spcPts val="0"/>
              </a:spcBef>
              <a:buNone/>
            </a:pPr>
            <a:r>
              <a:rPr sz="1100" b="1" lang="en-US">
                <a:solidFill>
                  <a:srgbClr val="1F5AA6"/>
                </a:solidFill>
                <a:latin typeface="+mn-lt"/>
                <a:ea typeface="+mn-ea"/>
                <a:cs typeface="+mn-cs"/>
              </a:rPr>
              <a:t>Fix</a:t>
            </a:r>
          </a:p>
        </p:txBody>
      </p:sp>
      <p:sp>
        <p:nvSpPr>
          <p:cNvPr id="5" name="sw:source"/>
          <p:cNvSpPr txBox="1"/>
          <p:nvPr/>
        </p:nvSpPr>
        <p:spPr>
          <a:xfrm>
            <a:off x="457200" y="6253480"/>
            <a:ext cx="10226040" cy="33020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l" marL="0" indent="0">
              <a:spcBef>
                <a:spcPts val="0"/>
              </a:spcBef>
              <a:buNone/>
            </a:pPr>
            <a:r>
              <a:rPr sz="1000" b="0" lang="en-US">
                <a:solidFill>
                  <a:srgbClr val="5A6472"/>
                </a:solidFill>
                <a:latin typeface="+mn-lt"/>
                <a:ea typeface="+mn-ea"/>
                <a:cs typeface="+mn-cs"/>
              </a:rPr>
              <a:t>The $82k is an estimate: it assumes half the backlog is set up in Q4 and the cohort churn rates hold.</a:t>
            </a:r>
          </a:p>
          <a:p>
            <a:pPr algn="l" marL="0" indent="0">
              <a:spcBef>
                <a:spcPts val="0"/>
              </a:spcBef>
              <a:buNone/>
            </a:pPr>
            <a:r>
              <a:rPr sz="1000" b="0" lang="en-US">
                <a:solidFill>
                  <a:srgbClr val="5A6472"/>
                </a:solidFill>
                <a:latin typeface="+mn-lt"/>
                <a:ea typeface="+mn-ea"/>
                <a:cs typeface="+mn-cs"/>
              </a:rPr>
              <a:t>Source: Sample data; CEO notes (costs, ramp time, backlog of 170 accounts, average SMB ARR $6.4k). $82k = 85 accounts x (19% - 4%) x $6.4k.</a:t>
            </a:r>
          </a:p>
        </p:txBody>
      </p:sp>
      <p:sp>
        <p:nvSpPr>
          <p:cNvPr id="6" name="sw:body"/>
          <p:cNvSpPr txBox="1"/>
          <p:nvPr/>
        </p:nvSpPr>
        <p:spPr>
          <a:xfrm>
            <a:off x="457200" y="1600200"/>
            <a:ext cx="5547360" cy="59436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l" marL="0" indent="0">
              <a:spcBef>
                <a:spcPts val="0"/>
              </a:spcBef>
              <a:buNone/>
            </a:pPr>
            <a:r>
              <a:rPr sz="1800" b="1" lang="en-US">
                <a:solidFill>
                  <a:srgbClr val="1E2329"/>
                </a:solidFill>
                <a:latin typeface="+mn-lt"/>
                <a:ea typeface="+mn-ea"/>
                <a:cs typeface="+mn-cs"/>
              </a:rPr>
              <a:t>Plan as approved: 4 sales hires</a:t>
            </a:r>
          </a:p>
        </p:txBody>
      </p:sp>
      <p:cxnSp>
        <p:nvCxnSpPr>
          <p:cNvPr id="7" name="sw:rule"/>
          <p:cNvCxnSpPr/>
          <p:nvPr/>
        </p:nvCxnSpPr>
        <p:spPr>
          <a:xfrm>
            <a:off x="457200" y="2267712"/>
            <a:ext cx="5547360" cy="0"/>
          </a:xfrm>
          <a:prstGeom prst="line">
            <a:avLst/>
          </a:prstGeom>
          <a:ln w="9525">
            <a:solidFill>
              <a:srgbClr val="D5DAE0"/>
            </a:solidFill>
          </a:ln>
        </p:spPr>
      </p:cxnSp>
      <p:sp>
        <p:nvSpPr>
          <p:cNvPr id="8" name="sw:body"/>
          <p:cNvSpPr txBox="1"/>
          <p:nvPr/>
        </p:nvSpPr>
        <p:spPr>
          <a:xfrm>
            <a:off x="457200" y="2423160"/>
            <a:ext cx="5547360" cy="36931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177800" indent="-177800">
              <a:spcBef>
                <a:spcPts val="0"/>
              </a:spcBef>
              <a:buFont typeface="Arial"/>
              <a:buChar char="•"/>
            </a:pPr>
            <a:r>
              <a:rPr sz="1600" b="0" lang="en-US">
                <a:solidFill>
                  <a:srgbClr val="1E2329"/>
                </a:solidFill>
                <a:latin typeface="+mn-lt"/>
                <a:ea typeface="+mn-ea"/>
                <a:cs typeface="+mn-cs"/>
              </a:rPr>
              <a:t>4 account executives at about $150k each: $600k a year</a:t>
            </a:r>
          </a:p>
          <a:p>
            <a:pPr algn="l" marL="177800" indent="-177800">
              <a:spcBef>
                <a:spcPts val="800"/>
              </a:spcBef>
              <a:buFont typeface="Arial"/>
              <a:buChar char="•"/>
            </a:pPr>
            <a:r>
              <a:rPr sz="1600" b="0" lang="en-US">
                <a:solidFill>
                  <a:srgbClr val="1E2329"/>
                </a:solidFill>
                <a:latin typeface="+mn-lt"/>
                <a:ea typeface="+mn-ea"/>
                <a:cs typeface="+mn-cs"/>
              </a:rPr>
              <a:t>New hires take about 5 months to ramp, so Q4 bookings barely change</a:t>
            </a:r>
          </a:p>
          <a:p>
            <a:pPr algn="l" marL="177800" indent="-177800">
              <a:spcBef>
                <a:spcPts val="800"/>
              </a:spcBef>
              <a:buFont typeface="Arial"/>
              <a:buChar char="•"/>
            </a:pPr>
            <a:r>
              <a:rPr sz="1600" b="0" lang="en-US">
                <a:solidFill>
                  <a:srgbClr val="1E2329"/>
                </a:solidFill>
                <a:latin typeface="+mn-lt"/>
                <a:ea typeface="+mn-ea"/>
                <a:cs typeface="+mn-cs"/>
              </a:rPr>
              <a:t>Onboarding stays at 2 specialists</a:t>
            </a:r>
          </a:p>
        </p:txBody>
      </p:sp>
      <p:sp>
        <p:nvSpPr>
          <p:cNvPr id="9" name="sw:body"/>
          <p:cNvSpPr txBox="1"/>
          <p:nvPr/>
        </p:nvSpPr>
        <p:spPr>
          <a:xfrm>
            <a:off x="6187440" y="1600200"/>
            <a:ext cx="5547360" cy="59436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l" marL="0" indent="0">
              <a:spcBef>
                <a:spcPts val="0"/>
              </a:spcBef>
              <a:buNone/>
            </a:pPr>
            <a:r>
              <a:rPr sz="1800" b="1" lang="en-US">
                <a:solidFill>
                  <a:srgbClr val="1F5AA6"/>
                </a:solidFill>
                <a:latin typeface="+mn-lt"/>
                <a:ea typeface="+mn-ea"/>
                <a:cs typeface="+mn-cs"/>
              </a:rPr>
              <a:t>Proposed: 2 sales hires + 2 onboarding</a:t>
            </a:r>
          </a:p>
        </p:txBody>
      </p:sp>
      <p:cxnSp>
        <p:nvCxnSpPr>
          <p:cNvPr id="10" name="sw:rule"/>
          <p:cNvCxnSpPr/>
          <p:nvPr/>
        </p:nvCxnSpPr>
        <p:spPr>
          <a:xfrm>
            <a:off x="6187440" y="2267712"/>
            <a:ext cx="5547360" cy="0"/>
          </a:xfrm>
          <a:prstGeom prst="line">
            <a:avLst/>
          </a:prstGeom>
          <a:ln w="19050">
            <a:solidFill>
              <a:srgbClr val="1F5AA6"/>
            </a:solidFill>
          </a:ln>
        </p:spPr>
      </p:cxnSp>
      <p:sp>
        <p:nvSpPr>
          <p:cNvPr id="11" name="sw:body"/>
          <p:cNvSpPr txBox="1"/>
          <p:nvPr/>
        </p:nvSpPr>
        <p:spPr>
          <a:xfrm>
            <a:off x="6187440" y="2423160"/>
            <a:ext cx="5547360" cy="36931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177800" indent="-177800">
              <a:spcBef>
                <a:spcPts val="0"/>
              </a:spcBef>
              <a:buFont typeface="Arial"/>
              <a:buChar char="•"/>
            </a:pPr>
            <a:r>
              <a:rPr sz="1600" b="0" lang="en-US">
                <a:solidFill>
                  <a:srgbClr val="1E2329"/>
                </a:solidFill>
                <a:latin typeface="+mn-lt"/>
                <a:ea typeface="+mn-ea"/>
                <a:cs typeface="+mn-cs"/>
              </a:rPr>
              <a:t>2 account executives ($300k) and 2 onboarding specialists ($190k): $110k less a year</a:t>
            </a:r>
          </a:p>
          <a:p>
            <a:pPr algn="l" marL="177800" indent="-177800">
              <a:spcBef>
                <a:spcPts val="800"/>
              </a:spcBef>
              <a:buFont typeface="Arial"/>
              <a:buChar char="•"/>
            </a:pPr>
            <a:r>
              <a:rPr sz="1600" b="0" lang="en-US">
                <a:solidFill>
                  <a:srgbClr val="1E2329"/>
                </a:solidFill>
                <a:latin typeface="+mn-lt"/>
                <a:ea typeface="+mn-ea"/>
                <a:cs typeface="+mn-cs"/>
              </a:rPr>
              <a:t>Two support team members can transfer now</a:t>
            </a:r>
          </a:p>
          <a:p>
            <a:pPr algn="l" marL="177800" indent="-177800">
              <a:spcBef>
                <a:spcPts val="800"/>
              </a:spcBef>
              <a:buFont typeface="Arial"/>
              <a:buChar char="•"/>
            </a:pPr>
            <a:r>
              <a:rPr sz="1600" b="0" lang="en-US">
                <a:solidFill>
                  <a:srgbClr val="1E2329"/>
                </a:solidFill>
                <a:latin typeface="+mn-lt"/>
                <a:ea typeface="+mn-ea"/>
                <a:cs typeface="+mn-cs"/>
              </a:rPr>
              <a:t>Setting up half of the 170-account backlog saves about $82k of ARR in Q4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w:title"/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sz="2800" b="0" lang="en-US">
                <a:latin typeface="+mj-lt"/>
                <a:ea typeface="+mj-ea"/>
                <a:cs typeface="+mj-cs"/>
              </a:rPr>
              <a:t>The cost is slower sales capacity in 2027, which Sales has not yet sized</a:t>
            </a:r>
          </a:p>
        </p:txBody>
      </p:sp>
      <p:sp>
        <p:nvSpPr>
          <p:cNvPr id="3" name="sw:page"/>
          <p:cNvSpPr>
            <a:spLocks noGrp="1"/>
          </p:cNvSpPr>
          <p:nvPr>
            <p:ph type="sldNum" idx="12" sz="quarter"/>
          </p:nvPr>
        </p:nvSpPr>
        <p:spPr/>
        <p:txBody>
          <a:bodyPr/>
          <a:p>
            <a:fld id="{B6F15528-21DE-4FAA-801E-634DDDAF4B2B}" type="slidenum">
              <a:rPr lang="en-US" sz="1000"/>
              <a:t>11</a:t>
            </a:fld>
          </a:p>
        </p:txBody>
      </p:sp>
      <p:sp>
        <p:nvSpPr>
          <p:cNvPr id="4" name="sw:tracker"/>
          <p:cNvSpPr txBox="1"/>
          <p:nvPr/>
        </p:nvSpPr>
        <p:spPr>
          <a:xfrm>
            <a:off x="457200" y="228600"/>
            <a:ext cx="6766560" cy="22860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l" marL="0" indent="0">
              <a:spcBef>
                <a:spcPts val="0"/>
              </a:spcBef>
              <a:buNone/>
            </a:pPr>
            <a:r>
              <a:rPr sz="1100" b="1" lang="en-US">
                <a:solidFill>
                  <a:srgbClr val="1F5AA6"/>
                </a:solidFill>
                <a:latin typeface="+mn-lt"/>
                <a:ea typeface="+mn-ea"/>
                <a:cs typeface="+mn-cs"/>
              </a:rPr>
              <a:t>Fix</a:t>
            </a:r>
          </a:p>
        </p:txBody>
      </p:sp>
      <p:sp>
        <p:nvSpPr>
          <p:cNvPr id="5" name="sw:source"/>
          <p:cNvSpPr txBox="1"/>
          <p:nvPr/>
        </p:nvSpPr>
        <p:spPr>
          <a:xfrm>
            <a:off x="457200" y="6405880"/>
            <a:ext cx="10226040" cy="17780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l" marL="0" indent="0">
              <a:spcBef>
                <a:spcPts val="0"/>
              </a:spcBef>
              <a:buNone/>
            </a:pPr>
            <a:r>
              <a:rPr sz="1000" b="0" lang="en-US">
                <a:solidFill>
                  <a:srgbClr val="5A6472"/>
                </a:solidFill>
                <a:latin typeface="+mn-lt"/>
                <a:ea typeface="+mn-ea"/>
                <a:cs typeface="+mn-cs"/>
              </a:rPr>
              <a:t>Source: Sample data; CEO notes (ramp time, costs); Sales capacity model to follow in January.</a:t>
            </a:r>
          </a:p>
        </p:txBody>
      </p:sp>
      <p:sp>
        <p:nvSpPr>
          <p:cNvPr id="6" name="sw:body"/>
          <p:cNvSpPr txBox="1"/>
          <p:nvPr/>
        </p:nvSpPr>
        <p:spPr>
          <a:xfrm>
            <a:off x="457200" y="1600200"/>
            <a:ext cx="5547360" cy="59436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l" marL="0" indent="0">
              <a:spcBef>
                <a:spcPts val="0"/>
              </a:spcBef>
              <a:buNone/>
            </a:pPr>
            <a:r>
              <a:rPr sz="1800" b="1" lang="en-US">
                <a:solidFill>
                  <a:srgbClr val="1E2329"/>
                </a:solidFill>
                <a:latin typeface="+mn-lt"/>
                <a:ea typeface="+mn-ea"/>
                <a:cs typeface="+mn-cs"/>
              </a:rPr>
              <a:t>What we give up</a:t>
            </a:r>
          </a:p>
        </p:txBody>
      </p:sp>
      <p:cxnSp>
        <p:nvCxnSpPr>
          <p:cNvPr id="7" name="sw:rule"/>
          <p:cNvCxnSpPr/>
          <p:nvPr/>
        </p:nvCxnSpPr>
        <p:spPr>
          <a:xfrm>
            <a:off x="457200" y="2267712"/>
            <a:ext cx="5547360" cy="0"/>
          </a:xfrm>
          <a:prstGeom prst="line">
            <a:avLst/>
          </a:prstGeom>
          <a:ln w="9525">
            <a:solidFill>
              <a:srgbClr val="D5DAE0"/>
            </a:solidFill>
          </a:ln>
        </p:spPr>
      </p:cxnSp>
      <p:sp>
        <p:nvSpPr>
          <p:cNvPr id="8" name="sw:body"/>
          <p:cNvSpPr txBox="1"/>
          <p:nvPr/>
        </p:nvSpPr>
        <p:spPr>
          <a:xfrm>
            <a:off x="457200" y="2423160"/>
            <a:ext cx="5547360" cy="38455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177800" indent="-177800">
              <a:spcBef>
                <a:spcPts val="0"/>
              </a:spcBef>
              <a:buFont typeface="Arial"/>
              <a:buChar char="•"/>
            </a:pPr>
            <a:r>
              <a:rPr sz="1600" b="0" lang="en-US">
                <a:solidFill>
                  <a:srgbClr val="1E2329"/>
                </a:solidFill>
                <a:latin typeface="+mn-lt"/>
                <a:ea typeface="+mn-ea"/>
                <a:cs typeface="+mn-cs"/>
              </a:rPr>
              <a:t>Two fewer account executives ramping into 2027</a:t>
            </a:r>
          </a:p>
          <a:p>
            <a:pPr algn="l" marL="177800" indent="-177800">
              <a:spcBef>
                <a:spcPts val="800"/>
              </a:spcBef>
              <a:buFont typeface="Arial"/>
              <a:buChar char="•"/>
            </a:pPr>
            <a:r>
              <a:rPr sz="1600" b="0" lang="en-US">
                <a:solidFill>
                  <a:srgbClr val="1E2329"/>
                </a:solidFill>
                <a:latin typeface="+mn-lt"/>
                <a:ea typeface="+mn-ea"/>
                <a:cs typeface="+mn-cs"/>
              </a:rPr>
              <a:t>Sales has not yet modelled the effect on 2027 new ARR</a:t>
            </a:r>
          </a:p>
          <a:p>
            <a:pPr algn="l" marL="177800" indent="-177800">
              <a:spcBef>
                <a:spcPts val="800"/>
              </a:spcBef>
              <a:buFont typeface="Arial"/>
              <a:buChar char="•"/>
            </a:pPr>
            <a:r>
              <a:rPr sz="1600" b="0" lang="en-US">
                <a:solidFill>
                  <a:srgbClr val="1E2329"/>
                </a:solidFill>
                <a:latin typeface="+mn-lt"/>
                <a:ea typeface="+mn-ea"/>
                <a:cs typeface="+mn-cs"/>
              </a:rPr>
              <a:t>VP Sales brings that model to the January board</a:t>
            </a:r>
          </a:p>
        </p:txBody>
      </p:sp>
      <p:sp>
        <p:nvSpPr>
          <p:cNvPr id="9" name="sw:body"/>
          <p:cNvSpPr txBox="1"/>
          <p:nvPr/>
        </p:nvSpPr>
        <p:spPr>
          <a:xfrm>
            <a:off x="6187440" y="1600200"/>
            <a:ext cx="5547360" cy="59436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l" marL="0" indent="0">
              <a:spcBef>
                <a:spcPts val="0"/>
              </a:spcBef>
              <a:buNone/>
            </a:pPr>
            <a:r>
              <a:rPr sz="1800" b="1" lang="en-US">
                <a:solidFill>
                  <a:srgbClr val="1F5AA6"/>
                </a:solidFill>
                <a:latin typeface="+mn-lt"/>
                <a:ea typeface="+mn-ea"/>
                <a:cs typeface="+mn-cs"/>
              </a:rPr>
              <a:t>What we keep</a:t>
            </a:r>
          </a:p>
        </p:txBody>
      </p:sp>
      <p:cxnSp>
        <p:nvCxnSpPr>
          <p:cNvPr id="10" name="sw:rule"/>
          <p:cNvCxnSpPr/>
          <p:nvPr/>
        </p:nvCxnSpPr>
        <p:spPr>
          <a:xfrm>
            <a:off x="6187440" y="2267712"/>
            <a:ext cx="5547360" cy="0"/>
          </a:xfrm>
          <a:prstGeom prst="line">
            <a:avLst/>
          </a:prstGeom>
          <a:ln w="19050">
            <a:solidFill>
              <a:srgbClr val="1F5AA6"/>
            </a:solidFill>
          </a:ln>
        </p:spPr>
      </p:cxnSp>
      <p:sp>
        <p:nvSpPr>
          <p:cNvPr id="11" name="sw:body"/>
          <p:cNvSpPr txBox="1"/>
          <p:nvPr/>
        </p:nvSpPr>
        <p:spPr>
          <a:xfrm>
            <a:off x="6187440" y="2423160"/>
            <a:ext cx="5547360" cy="38455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177800" indent="-177800">
              <a:spcBef>
                <a:spcPts val="0"/>
              </a:spcBef>
              <a:buFont typeface="Arial"/>
              <a:buChar char="•"/>
            </a:pPr>
            <a:r>
              <a:rPr sz="1600" b="0" lang="en-US">
                <a:solidFill>
                  <a:srgbClr val="1E2329"/>
                </a:solidFill>
                <a:latin typeface="+mn-lt"/>
                <a:ea typeface="+mn-ea"/>
                <a:cs typeface="+mn-cs"/>
              </a:rPr>
              <a:t>Q4 bookings: new hires would add little before they ramp</a:t>
            </a:r>
          </a:p>
          <a:p>
            <a:pPr algn="l" marL="177800" indent="-177800">
              <a:spcBef>
                <a:spcPts val="800"/>
              </a:spcBef>
              <a:buFont typeface="Arial"/>
              <a:buChar char="•"/>
            </a:pPr>
            <a:r>
              <a:rPr sz="1600" b="0" lang="en-US">
                <a:solidFill>
                  <a:srgbClr val="1E2329"/>
                </a:solidFill>
                <a:latin typeface="+mn-lt"/>
                <a:ea typeface="+mn-ea"/>
                <a:cs typeface="+mn-cs"/>
              </a:rPr>
              <a:t>The $110k a year saving</a:t>
            </a:r>
          </a:p>
          <a:p>
            <a:pPr algn="l" marL="177800" indent="-177800">
              <a:spcBef>
                <a:spcPts val="800"/>
              </a:spcBef>
              <a:buFont typeface="Arial"/>
              <a:buChar char="•"/>
            </a:pPr>
            <a:r>
              <a:rPr sz="1600" b="0" lang="en-US">
                <a:solidFill>
                  <a:srgbClr val="1E2329"/>
                </a:solidFill>
                <a:latin typeface="+mn-lt"/>
                <a:ea typeface="+mn-ea"/>
                <a:cs typeface="+mn-cs"/>
              </a:rPr>
              <a:t>A fix for the cause of SMB churn before it grows further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w:title"/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sz="2800" b="0" lang="en-US">
                <a:latin typeface="+mj-lt"/>
                <a:ea typeface="+mj-ea"/>
                <a:cs typeface="+mj-cs"/>
              </a:rPr>
              <a:t>We ask the board to approve the swap and a revised year-end forecast of $11.85M</a:t>
            </a:r>
          </a:p>
        </p:txBody>
      </p:sp>
      <p:sp>
        <p:nvSpPr>
          <p:cNvPr id="3" name="sw:page"/>
          <p:cNvSpPr>
            <a:spLocks noGrp="1"/>
          </p:cNvSpPr>
          <p:nvPr>
            <p:ph type="sldNum" idx="12" sz="quarter"/>
          </p:nvPr>
        </p:nvSpPr>
        <p:spPr/>
        <p:txBody>
          <a:bodyPr/>
          <a:p>
            <a:fld id="{B6F15528-21DE-4FAA-801E-634DDDAF4B2B}" type="slidenum">
              <a:rPr lang="en-US" sz="1000"/>
              <a:t>12</a:t>
            </a:fld>
          </a:p>
        </p:txBody>
      </p:sp>
      <p:sp>
        <p:nvSpPr>
          <p:cNvPr id="4" name="sw:source"/>
          <p:cNvSpPr txBox="1"/>
          <p:nvPr/>
        </p:nvSpPr>
        <p:spPr>
          <a:xfrm>
            <a:off x="457200" y="6405880"/>
            <a:ext cx="10226040" cy="17780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l" marL="0" indent="0">
              <a:spcBef>
                <a:spcPts val="0"/>
              </a:spcBef>
              <a:buNone/>
            </a:pPr>
            <a:r>
              <a:rPr sz="1000" b="0" lang="en-US">
                <a:solidFill>
                  <a:srgbClr val="5A6472"/>
                </a:solidFill>
                <a:latin typeface="+mn-lt"/>
                <a:ea typeface="+mn-ea"/>
                <a:cs typeface="+mn-cs"/>
              </a:rPr>
              <a:t>Source: Sample data; Slides 6 and 10. 11,770 + 82 = 11,852, shown as $11.85M.</a:t>
            </a:r>
          </a:p>
        </p:txBody>
      </p:sp>
      <p:sp>
        <p:nvSpPr>
          <p:cNvPr id="5" name="sw:label"/>
          <p:cNvSpPr txBox="1"/>
          <p:nvPr/>
        </p:nvSpPr>
        <p:spPr>
          <a:xfrm>
            <a:off x="8097520" y="1600200"/>
            <a:ext cx="1727200" cy="32004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l" marL="0" indent="0">
              <a:spcBef>
                <a:spcPts val="0"/>
              </a:spcBef>
              <a:buNone/>
            </a:pPr>
            <a:r>
              <a:rPr sz="1200" b="1" lang="en-US">
                <a:solidFill>
                  <a:srgbClr val="5A6472"/>
                </a:solidFill>
                <a:latin typeface="+mn-lt"/>
                <a:ea typeface="+mn-ea"/>
                <a:cs typeface="+mn-cs"/>
              </a:rPr>
              <a:t>Owner</a:t>
            </a:r>
          </a:p>
        </p:txBody>
      </p:sp>
      <p:sp>
        <p:nvSpPr>
          <p:cNvPr id="6" name="sw:label"/>
          <p:cNvSpPr txBox="1"/>
          <p:nvPr/>
        </p:nvSpPr>
        <p:spPr>
          <a:xfrm>
            <a:off x="10007600" y="1600200"/>
            <a:ext cx="1727200" cy="32004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l" marL="0" indent="0">
              <a:spcBef>
                <a:spcPts val="0"/>
              </a:spcBef>
              <a:buNone/>
            </a:pPr>
            <a:r>
              <a:rPr sz="1200" b="1" lang="en-US">
                <a:solidFill>
                  <a:srgbClr val="5A6472"/>
                </a:solidFill>
                <a:latin typeface="+mn-lt"/>
                <a:ea typeface="+mn-ea"/>
                <a:cs typeface="+mn-cs"/>
              </a:rPr>
              <a:t>Timing</a:t>
            </a:r>
          </a:p>
        </p:txBody>
      </p:sp>
      <p:cxnSp>
        <p:nvCxnSpPr>
          <p:cNvPr id="7" name="sw:rule"/>
          <p:cNvCxnSpPr/>
          <p:nvPr/>
        </p:nvCxnSpPr>
        <p:spPr>
          <a:xfrm>
            <a:off x="457200" y="1975104"/>
            <a:ext cx="11277600" cy="0"/>
          </a:xfrm>
          <a:prstGeom prst="line">
            <a:avLst/>
          </a:prstGeom>
          <a:ln w="9525">
            <a:solidFill>
              <a:srgbClr val="1E2329"/>
            </a:solidFill>
          </a:ln>
        </p:spPr>
      </p:cxnSp>
      <p:sp>
        <p:nvSpPr>
          <p:cNvPr id="8" name="sw:body"/>
          <p:cNvSpPr txBox="1"/>
          <p:nvPr/>
        </p:nvSpPr>
        <p:spPr>
          <a:xfrm>
            <a:off x="1412240" y="2240280"/>
            <a:ext cx="6502400" cy="7909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spcBef>
                <a:spcPts val="0"/>
              </a:spcBef>
              <a:buNone/>
            </a:pPr>
            <a:r>
              <a:rPr sz="1600" b="1" lang="en-US">
                <a:solidFill>
                  <a:srgbClr val="1E2329"/>
                </a:solidFill>
                <a:latin typeface="+mn-lt"/>
                <a:ea typeface="+mn-ea"/>
                <a:cs typeface="+mn-cs"/>
              </a:rPr>
              <a:t>Approve converting two Q4 sales requisitions into onboarding specialists</a:t>
            </a:r>
          </a:p>
          <a:p>
            <a:pPr algn="l" marL="0" indent="0">
              <a:spcBef>
                <a:spcPts val="420"/>
              </a:spcBef>
              <a:buNone/>
            </a:pPr>
            <a:r>
              <a:rPr sz="1400" b="0" lang="en-US">
                <a:solidFill>
                  <a:srgbClr val="5A6472"/>
                </a:solidFill>
                <a:latin typeface="+mn-lt"/>
                <a:ea typeface="+mn-ea"/>
                <a:cs typeface="+mn-cs"/>
              </a:rPr>
              <a:t>Two support team members transfer now; saves $110k a year</a:t>
            </a:r>
          </a:p>
        </p:txBody>
      </p:sp>
      <p:sp>
        <p:nvSpPr>
          <p:cNvPr id="9" name="sw:number"/>
          <p:cNvSpPr txBox="1"/>
          <p:nvPr/>
        </p:nvSpPr>
        <p:spPr>
          <a:xfrm>
            <a:off x="457200" y="2240280"/>
            <a:ext cx="772160" cy="7909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spcBef>
                <a:spcPts val="0"/>
              </a:spcBef>
              <a:buNone/>
            </a:pPr>
            <a:r>
              <a:rPr sz="1600" b="1" lang="en-US">
                <a:solidFill>
                  <a:srgbClr val="1F5AA6"/>
                </a:solidFill>
                <a:latin typeface="+mn-lt"/>
                <a:ea typeface="+mn-ea"/>
                <a:cs typeface="+mn-cs"/>
              </a:rPr>
              <a:t>1</a:t>
            </a:r>
          </a:p>
        </p:txBody>
      </p:sp>
      <p:cxnSp>
        <p:nvCxnSpPr>
          <p:cNvPr id="10" name="sw:rule"/>
          <p:cNvCxnSpPr/>
          <p:nvPr/>
        </p:nvCxnSpPr>
        <p:spPr>
          <a:xfrm>
            <a:off x="457200" y="3296412"/>
            <a:ext cx="11277600" cy="0"/>
          </a:xfrm>
          <a:prstGeom prst="line">
            <a:avLst/>
          </a:prstGeom>
          <a:ln w="9525">
            <a:solidFill>
              <a:srgbClr val="D5DAE0"/>
            </a:solidFill>
          </a:ln>
        </p:spPr>
      </p:cxnSp>
      <p:sp>
        <p:nvSpPr>
          <p:cNvPr id="11" name="sw:body"/>
          <p:cNvSpPr txBox="1"/>
          <p:nvPr/>
        </p:nvSpPr>
        <p:spPr>
          <a:xfrm>
            <a:off x="1412240" y="3561588"/>
            <a:ext cx="6502400" cy="54711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spcBef>
                <a:spcPts val="0"/>
              </a:spcBef>
              <a:buNone/>
            </a:pPr>
            <a:r>
              <a:rPr sz="1600" b="1" lang="en-US">
                <a:solidFill>
                  <a:srgbClr val="1E2329"/>
                </a:solidFill>
                <a:latin typeface="+mn-lt"/>
                <a:ea typeface="+mn-ea"/>
                <a:cs typeface="+mn-cs"/>
              </a:rPr>
              <a:t>Accept a revised year-end ARR forecast of $11.85M</a:t>
            </a:r>
          </a:p>
          <a:p>
            <a:pPr algn="l" marL="0" indent="0">
              <a:spcBef>
                <a:spcPts val="420"/>
              </a:spcBef>
              <a:buNone/>
            </a:pPr>
            <a:r>
              <a:rPr sz="1400" b="0" lang="en-US">
                <a:solidFill>
                  <a:srgbClr val="5A6472"/>
                </a:solidFill>
                <a:latin typeface="+mn-lt"/>
                <a:ea typeface="+mn-ea"/>
                <a:cs typeface="+mn-cs"/>
              </a:rPr>
              <a:t>$11.77M projection plus about $82k recovered by onboarding</a:t>
            </a:r>
          </a:p>
        </p:txBody>
      </p:sp>
      <p:sp>
        <p:nvSpPr>
          <p:cNvPr id="12" name="sw:number"/>
          <p:cNvSpPr txBox="1"/>
          <p:nvPr/>
        </p:nvSpPr>
        <p:spPr>
          <a:xfrm>
            <a:off x="457200" y="3561588"/>
            <a:ext cx="772160" cy="54711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spcBef>
                <a:spcPts val="0"/>
              </a:spcBef>
              <a:buNone/>
            </a:pPr>
            <a:r>
              <a:rPr sz="1600" b="1" lang="en-US">
                <a:solidFill>
                  <a:srgbClr val="1F5AA6"/>
                </a:solidFill>
                <a:latin typeface="+mn-lt"/>
                <a:ea typeface="+mn-ea"/>
                <a:cs typeface="+mn-cs"/>
              </a:rPr>
              <a:t>2</a:t>
            </a:r>
          </a:p>
        </p:txBody>
      </p:sp>
      <p:cxnSp>
        <p:nvCxnSpPr>
          <p:cNvPr id="13" name="sw:rule"/>
          <p:cNvCxnSpPr/>
          <p:nvPr/>
        </p:nvCxnSpPr>
        <p:spPr>
          <a:xfrm>
            <a:off x="457200" y="4373880"/>
            <a:ext cx="11277600" cy="0"/>
          </a:xfrm>
          <a:prstGeom prst="line">
            <a:avLst/>
          </a:prstGeom>
          <a:ln w="9525">
            <a:solidFill>
              <a:srgbClr val="D5DAE0"/>
            </a:solidFill>
          </a:ln>
        </p:spPr>
      </p:cxnSp>
      <p:sp>
        <p:nvSpPr>
          <p:cNvPr id="14" name="sw:body"/>
          <p:cNvSpPr txBox="1"/>
          <p:nvPr/>
        </p:nvSpPr>
        <p:spPr>
          <a:xfrm>
            <a:off x="1412240" y="4639056"/>
            <a:ext cx="6502400" cy="54711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spcBef>
                <a:spcPts val="0"/>
              </a:spcBef>
              <a:buNone/>
            </a:pPr>
            <a:r>
              <a:rPr sz="1600" b="1" lang="en-US">
                <a:solidFill>
                  <a:srgbClr val="1E2329"/>
                </a:solidFill>
                <a:latin typeface="+mn-lt"/>
                <a:ea typeface="+mn-ea"/>
                <a:cs typeface="+mn-cs"/>
              </a:rPr>
              <a:t>Review SMB churn and the 2027 sales capacity model</a:t>
            </a:r>
          </a:p>
          <a:p>
            <a:pPr algn="l" marL="0" indent="0">
              <a:spcBef>
                <a:spcPts val="420"/>
              </a:spcBef>
              <a:buNone/>
            </a:pPr>
            <a:r>
              <a:rPr sz="1400" b="0" lang="en-US">
                <a:solidFill>
                  <a:srgbClr val="5A6472"/>
                </a:solidFill>
                <a:latin typeface="+mn-lt"/>
                <a:ea typeface="+mn-ea"/>
                <a:cs typeface="+mn-cs"/>
              </a:rPr>
              <a:t>Setup completion back above 60% is the first test</a:t>
            </a:r>
          </a:p>
        </p:txBody>
      </p:sp>
      <p:sp>
        <p:nvSpPr>
          <p:cNvPr id="15" name="sw:number"/>
          <p:cNvSpPr txBox="1"/>
          <p:nvPr/>
        </p:nvSpPr>
        <p:spPr>
          <a:xfrm>
            <a:off x="457200" y="4639056"/>
            <a:ext cx="772160" cy="54711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spcBef>
                <a:spcPts val="0"/>
              </a:spcBef>
              <a:buNone/>
            </a:pPr>
            <a:r>
              <a:rPr sz="1600" b="1" lang="en-US">
                <a:solidFill>
                  <a:srgbClr val="1F5AA6"/>
                </a:solidFill>
                <a:latin typeface="+mn-lt"/>
                <a:ea typeface="+mn-ea"/>
                <a:cs typeface="+mn-cs"/>
              </a:rPr>
              <a:t>3</a:t>
            </a:r>
          </a:p>
        </p:txBody>
      </p:sp>
      <p:sp>
        <p:nvSpPr>
          <p:cNvPr id="16" name="sw:body"/>
          <p:cNvSpPr txBox="1"/>
          <p:nvPr/>
        </p:nvSpPr>
        <p:spPr>
          <a:xfrm>
            <a:off x="8097520" y="2240280"/>
            <a:ext cx="1727200" cy="10561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spcBef>
                <a:spcPts val="0"/>
              </a:spcBef>
              <a:buNone/>
            </a:pPr>
            <a:r>
              <a:rPr sz="1400" b="0" lang="en-US">
                <a:solidFill>
                  <a:srgbClr val="1E2329"/>
                </a:solidFill>
                <a:latin typeface="+mn-lt"/>
                <a:ea typeface="+mn-ea"/>
                <a:cs typeface="+mn-cs"/>
              </a:rPr>
              <a:t>Board</a:t>
            </a:r>
          </a:p>
        </p:txBody>
      </p:sp>
      <p:sp>
        <p:nvSpPr>
          <p:cNvPr id="17" name="sw:body"/>
          <p:cNvSpPr txBox="1"/>
          <p:nvPr/>
        </p:nvSpPr>
        <p:spPr>
          <a:xfrm>
            <a:off x="10007600" y="2240280"/>
            <a:ext cx="1727200" cy="10561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spcBef>
                <a:spcPts val="0"/>
              </a:spcBef>
              <a:buNone/>
            </a:pPr>
            <a:r>
              <a:rPr sz="1400" b="0" lang="en-US">
                <a:solidFill>
                  <a:srgbClr val="1E2329"/>
                </a:solidFill>
                <a:latin typeface="+mn-lt"/>
                <a:ea typeface="+mn-ea"/>
                <a:cs typeface="+mn-cs"/>
              </a:rPr>
              <a:t>Today</a:t>
            </a:r>
          </a:p>
        </p:txBody>
      </p:sp>
      <p:sp>
        <p:nvSpPr>
          <p:cNvPr id="18" name="sw:body"/>
          <p:cNvSpPr txBox="1"/>
          <p:nvPr/>
        </p:nvSpPr>
        <p:spPr>
          <a:xfrm>
            <a:off x="8097520" y="3561588"/>
            <a:ext cx="1727200" cy="8122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spcBef>
                <a:spcPts val="0"/>
              </a:spcBef>
              <a:buNone/>
            </a:pPr>
            <a:r>
              <a:rPr sz="1400" b="0" lang="en-US">
                <a:solidFill>
                  <a:srgbClr val="1E2329"/>
                </a:solidFill>
                <a:latin typeface="+mn-lt"/>
                <a:ea typeface="+mn-ea"/>
                <a:cs typeface="+mn-cs"/>
              </a:rPr>
              <a:t>Board</a:t>
            </a:r>
          </a:p>
        </p:txBody>
      </p:sp>
      <p:sp>
        <p:nvSpPr>
          <p:cNvPr id="19" name="sw:body"/>
          <p:cNvSpPr txBox="1"/>
          <p:nvPr/>
        </p:nvSpPr>
        <p:spPr>
          <a:xfrm>
            <a:off x="10007600" y="3561588"/>
            <a:ext cx="1727200" cy="8122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spcBef>
                <a:spcPts val="0"/>
              </a:spcBef>
              <a:buNone/>
            </a:pPr>
            <a:r>
              <a:rPr sz="1400" b="0" lang="en-US">
                <a:solidFill>
                  <a:srgbClr val="1E2329"/>
                </a:solidFill>
                <a:latin typeface="+mn-lt"/>
                <a:ea typeface="+mn-ea"/>
                <a:cs typeface="+mn-cs"/>
              </a:rPr>
              <a:t>Today</a:t>
            </a:r>
          </a:p>
        </p:txBody>
      </p:sp>
      <p:sp>
        <p:nvSpPr>
          <p:cNvPr id="20" name="sw:body"/>
          <p:cNvSpPr txBox="1"/>
          <p:nvPr/>
        </p:nvSpPr>
        <p:spPr>
          <a:xfrm>
            <a:off x="8097520" y="4639056"/>
            <a:ext cx="1727200" cy="8122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spcBef>
                <a:spcPts val="0"/>
              </a:spcBef>
              <a:buNone/>
            </a:pPr>
            <a:r>
              <a:rPr sz="1400" b="0" lang="en-US">
                <a:solidFill>
                  <a:srgbClr val="1E2329"/>
                </a:solidFill>
                <a:latin typeface="+mn-lt"/>
                <a:ea typeface="+mn-ea"/>
                <a:cs typeface="+mn-cs"/>
              </a:rPr>
              <a:t>CEO and VP Sales</a:t>
            </a:r>
          </a:p>
        </p:txBody>
      </p:sp>
      <p:sp>
        <p:nvSpPr>
          <p:cNvPr id="21" name="sw:body"/>
          <p:cNvSpPr txBox="1"/>
          <p:nvPr/>
        </p:nvSpPr>
        <p:spPr>
          <a:xfrm>
            <a:off x="10007600" y="4639056"/>
            <a:ext cx="1727200" cy="8122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spcBef>
                <a:spcPts val="0"/>
              </a:spcBef>
              <a:buNone/>
            </a:pPr>
            <a:r>
              <a:rPr sz="1400" b="0" lang="en-US">
                <a:solidFill>
                  <a:srgbClr val="1E2329"/>
                </a:solidFill>
                <a:latin typeface="+mn-lt"/>
                <a:ea typeface="+mn-ea"/>
                <a:cs typeface="+mn-cs"/>
              </a:rPr>
              <a:t>January board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w:title"/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sz="2800" b="0" lang="en-US">
                <a:latin typeface="+mj-lt"/>
                <a:ea typeface="+mj-ea"/>
                <a:cs typeface="+mj-cs"/>
              </a:rPr>
              <a:t>Cash runway stays near 22 months at the current $650k monthly burn</a:t>
            </a:r>
          </a:p>
        </p:txBody>
      </p:sp>
      <p:sp>
        <p:nvSpPr>
          <p:cNvPr id="3" name="sw:page"/>
          <p:cNvSpPr>
            <a:spLocks noGrp="1"/>
          </p:cNvSpPr>
          <p:nvPr>
            <p:ph type="sldNum" idx="12" sz="quarter"/>
          </p:nvPr>
        </p:nvSpPr>
        <p:spPr/>
        <p:txBody>
          <a:bodyPr/>
          <a:p>
            <a:fld id="{B6F15528-21DE-4FAA-801E-634DDDAF4B2B}" type="slidenum">
              <a:rPr lang="en-US" sz="1000"/>
              <a:t>13</a:t>
            </a:fld>
          </a:p>
        </p:txBody>
      </p:sp>
      <p:sp>
        <p:nvSpPr>
          <p:cNvPr id="4" name="sw:tracker"/>
          <p:cNvSpPr txBox="1"/>
          <p:nvPr/>
        </p:nvSpPr>
        <p:spPr>
          <a:xfrm>
            <a:off x="457200" y="228600"/>
            <a:ext cx="6766560" cy="22860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l" marL="0" indent="0">
              <a:spcBef>
                <a:spcPts val="0"/>
              </a:spcBef>
              <a:buNone/>
            </a:pPr>
            <a:r>
              <a:rPr sz="1100" b="1" lang="en-US">
                <a:solidFill>
                  <a:srgbClr val="1F5AA6"/>
                </a:solidFill>
                <a:latin typeface="+mn-lt"/>
                <a:ea typeface="+mn-ea"/>
                <a:cs typeface="+mn-cs"/>
              </a:rPr>
              <a:t>Appendix</a:t>
            </a:r>
          </a:p>
        </p:txBody>
      </p:sp>
      <p:sp>
        <p:nvSpPr>
          <p:cNvPr id="5" name="sw:source"/>
          <p:cNvSpPr txBox="1"/>
          <p:nvPr/>
        </p:nvSpPr>
        <p:spPr>
          <a:xfrm>
            <a:off x="457200" y="6253480"/>
            <a:ext cx="10226040" cy="33020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l" marL="0" indent="0">
              <a:spcBef>
                <a:spcPts val="0"/>
              </a:spcBef>
              <a:buNone/>
            </a:pPr>
            <a:r>
              <a:rPr sz="1000" b="0" lang="en-US">
                <a:solidFill>
                  <a:srgbClr val="5A6472"/>
                </a:solidFill>
                <a:latin typeface="+mn-lt"/>
                <a:ea typeface="+mn-ea"/>
                <a:cs typeface="+mn-cs"/>
              </a:rPr>
              <a:t>The swap lowers annual cost slightly; runway is not the constraint.</a:t>
            </a:r>
          </a:p>
          <a:p>
            <a:pPr algn="l" marL="0" indent="0">
              <a:spcBef>
                <a:spcPts val="0"/>
              </a:spcBef>
              <a:buNone/>
            </a:pPr>
            <a:r>
              <a:rPr sz="1000" b="0" lang="en-US">
                <a:solidFill>
                  <a:srgbClr val="5A6472"/>
                </a:solidFill>
                <a:latin typeface="+mn-lt"/>
                <a:ea typeface="+mn-ea"/>
                <a:cs typeface="+mn-cs"/>
              </a:rPr>
              <a:t>Source: Sample data; CEO notes. Runway = 14,200 / 650 = 21.8 months.</a:t>
            </a:r>
          </a:p>
        </p:txBody>
      </p:sp>
      <p:graphicFrame>
        <p:nvGraphicFramePr>
          <p:cNvPr id="6" name="sw:table"/>
          <p:cNvGraphicFramePr>
            <a:graphicFrameLocks noGrp="1"/>
          </p:cNvGraphicFramePr>
          <p:nvPr/>
        </p:nvGraphicFramePr>
        <p:xfrm>
          <a:off x="457200" y="1600200"/>
          <a:ext cx="11277600" cy="1651000"/>
        </p:xfrm>
        <a:graphic>
          <a:graphicData uri="http://schemas.openxmlformats.org/drawingml/2006/table">
            <a:tbl>
              <a:tblPr firstRow="1">
                <a:tableStyleId>{2D5ABB26-0587-4C30-8999-92F81FD0307C}</a:tableStyleId>
              </a:tblPr>
              <a:tblGrid>
                <a:gridCol w="7299535"/>
                <a:gridCol w="3978065"/>
              </a:tblGrid>
              <a:tr h="330200">
                <a:tc>
                  <a:txBody>
                    <a:bodyPr wrap="square">
                      <a:noAutofit/>
                    </a:bodyPr>
                    <a:lstStyle/>
                    <a:p>
                      <a:pPr algn="l" marL="0" indent="0">
                        <a:spcBef>
                          <a:spcPts val="0"/>
                        </a:spcBef>
                        <a:buNone/>
                      </a:pPr>
                      <a:r>
                        <a:rPr sz="1400" b="1" lang="en-US">
                          <a:solidFill>
                            <a:srgbClr val="5A6472"/>
                          </a:solidFill>
                          <a:latin typeface="+mn-lt"/>
                          <a:ea typeface="+mn-ea"/>
                          <a:cs typeface="+mn-cs"/>
                        </a:rPr>
                        <a:t>Item</a:t>
                      </a:r>
                    </a:p>
                  </a:txBody>
                  <a:tcPr marL="91440" marR="91440" marT="45720" marB="45720" anchor="b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 cap="flat" cmpd="sng">
                      <a:solidFill>
                        <a:srgbClr val="1E2329"/>
                      </a:solidFill>
                    </a:lnB>
                    <a:noFill/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 marL="0" indent="0">
                        <a:spcBef>
                          <a:spcPts val="0"/>
                        </a:spcBef>
                        <a:buNone/>
                      </a:pPr>
                      <a:r>
                        <a:rPr sz="1400" b="1" lang="en-US">
                          <a:solidFill>
                            <a:srgbClr val="5A6472"/>
                          </a:solidFill>
                          <a:latin typeface="+mn-lt"/>
                          <a:ea typeface="+mn-ea"/>
                          <a:cs typeface="+mn-cs"/>
                        </a:rPr>
                        <a:t>Value</a:t>
                      </a:r>
                    </a:p>
                  </a:txBody>
                  <a:tcPr marL="91440" marR="91440" marT="45720" marB="45720" anchor="b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 cap="flat" cmpd="sng">
                      <a:solidFill>
                        <a:srgbClr val="1E2329"/>
                      </a:solidFill>
                    </a:lnB>
                    <a:noFill/>
                  </a:tcPr>
                </a:tc>
              </a:tr>
              <a:tr h="330200">
                <a:tc>
                  <a:txBody>
                    <a:bodyPr wrap="square">
                      <a:noAutofit/>
                    </a:bodyPr>
                    <a:lstStyle/>
                    <a:p>
                      <a:pPr algn="l" marL="0" indent="0">
                        <a:spcBef>
                          <a:spcPts val="0"/>
                        </a:spcBef>
                        <a:buNone/>
                      </a:pPr>
                      <a:r>
                        <a:rPr sz="1400" b="0" lang="en-US">
                          <a:solidFill>
                            <a:srgbClr val="1E2329"/>
                          </a:solidFill>
                          <a:latin typeface="+mn-lt"/>
                          <a:ea typeface="+mn-ea"/>
                          <a:cs typeface="+mn-cs"/>
                        </a:rPr>
                        <a:t>Cash at end of Q3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>
                      <a:solidFill>
                        <a:srgbClr val="D5DAE0"/>
                      </a:solidFill>
                    </a:lnB>
                    <a:noFill/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 marL="0" indent="0">
                        <a:spcBef>
                          <a:spcPts val="0"/>
                        </a:spcBef>
                        <a:buNone/>
                      </a:pPr>
                      <a:r>
                        <a:rPr sz="1400" b="0" lang="en-US">
                          <a:solidFill>
                            <a:srgbClr val="1E2329"/>
                          </a:solidFill>
                          <a:latin typeface="+mn-lt"/>
                          <a:ea typeface="+mn-ea"/>
                          <a:cs typeface="+mn-cs"/>
                        </a:rPr>
                        <a:t>$14.2M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>
                      <a:solidFill>
                        <a:srgbClr val="D5DAE0"/>
                      </a:solidFill>
                    </a:lnB>
                    <a:noFill/>
                  </a:tcPr>
                </a:tc>
              </a:tr>
              <a:tr h="330200">
                <a:tc>
                  <a:txBody>
                    <a:bodyPr wrap="square">
                      <a:noAutofit/>
                    </a:bodyPr>
                    <a:lstStyle/>
                    <a:p>
                      <a:pPr algn="l" marL="0" indent="0">
                        <a:spcBef>
                          <a:spcPts val="0"/>
                        </a:spcBef>
                        <a:buNone/>
                      </a:pPr>
                      <a:r>
                        <a:rPr sz="1400" b="0" lang="en-US">
                          <a:solidFill>
                            <a:srgbClr val="1E2329"/>
                          </a:solidFill>
                          <a:latin typeface="+mn-lt"/>
                          <a:ea typeface="+mn-ea"/>
                          <a:cs typeface="+mn-cs"/>
                        </a:rPr>
                        <a:t>Net burn per month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>
                      <a:solidFill>
                        <a:srgbClr val="D5DAE0"/>
                      </a:solidFill>
                    </a:lnB>
                    <a:noFill/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 marL="0" indent="0">
                        <a:spcBef>
                          <a:spcPts val="0"/>
                        </a:spcBef>
                        <a:buNone/>
                      </a:pPr>
                      <a:r>
                        <a:rPr sz="1400" b="0" lang="en-US">
                          <a:solidFill>
                            <a:srgbClr val="1E2329"/>
                          </a:solidFill>
                          <a:latin typeface="+mn-lt"/>
                          <a:ea typeface="+mn-ea"/>
                          <a:cs typeface="+mn-cs"/>
                        </a:rPr>
                        <a:t>About $650k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>
                      <a:solidFill>
                        <a:srgbClr val="D5DAE0"/>
                      </a:solidFill>
                    </a:lnB>
                    <a:noFill/>
                  </a:tcPr>
                </a:tc>
              </a:tr>
              <a:tr h="330200">
                <a:tc>
                  <a:txBody>
                    <a:bodyPr wrap="square">
                      <a:noAutofit/>
                    </a:bodyPr>
                    <a:lstStyle/>
                    <a:p>
                      <a:pPr algn="l" marL="0" indent="0">
                        <a:spcBef>
                          <a:spcPts val="0"/>
                        </a:spcBef>
                        <a:buNone/>
                      </a:pPr>
                      <a:r>
                        <a:rPr sz="1400" b="0" lang="en-US">
                          <a:solidFill>
                            <a:srgbClr val="1E2329"/>
                          </a:solidFill>
                          <a:latin typeface="+mn-lt"/>
                          <a:ea typeface="+mn-ea"/>
                          <a:cs typeface="+mn-cs"/>
                        </a:rPr>
                        <a:t>Runway at current burn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>
                      <a:solidFill>
                        <a:srgbClr val="D5DAE0"/>
                      </a:solidFill>
                    </a:lnB>
                    <a:noFill/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 marL="0" indent="0">
                        <a:spcBef>
                          <a:spcPts val="0"/>
                        </a:spcBef>
                        <a:buNone/>
                      </a:pPr>
                      <a:r>
                        <a:rPr sz="1400" b="0" lang="en-US">
                          <a:solidFill>
                            <a:srgbClr val="1E2329"/>
                          </a:solidFill>
                          <a:latin typeface="+mn-lt"/>
                          <a:ea typeface="+mn-ea"/>
                          <a:cs typeface="+mn-cs"/>
                        </a:rPr>
                        <a:t>About 22 months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>
                      <a:solidFill>
                        <a:srgbClr val="D5DAE0"/>
                      </a:solidFill>
                    </a:lnB>
                    <a:noFill/>
                  </a:tcPr>
                </a:tc>
              </a:tr>
              <a:tr h="330200">
                <a:tc>
                  <a:txBody>
                    <a:bodyPr wrap="square">
                      <a:noAutofit/>
                    </a:bodyPr>
                    <a:lstStyle/>
                    <a:p>
                      <a:pPr algn="l" marL="0" indent="0">
                        <a:spcBef>
                          <a:spcPts val="0"/>
                        </a:spcBef>
                        <a:buNone/>
                      </a:pPr>
                      <a:r>
                        <a:rPr sz="1400" b="0" lang="en-US">
                          <a:solidFill>
                            <a:srgbClr val="1E2329"/>
                          </a:solidFill>
                          <a:latin typeface="+mn-lt"/>
                          <a:ea typeface="+mn-ea"/>
                          <a:cs typeface="+mn-cs"/>
                        </a:rPr>
                        <a:t>Effect of the swap on annual cost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>
                      <a:solidFill>
                        <a:srgbClr val="B7BEC7"/>
                      </a:solidFill>
                    </a:lnB>
                    <a:noFill/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 marL="0" indent="0">
                        <a:spcBef>
                          <a:spcPts val="0"/>
                        </a:spcBef>
                        <a:buNone/>
                      </a:pPr>
                      <a:r>
                        <a:rPr sz="1400" b="0" lang="en-US">
                          <a:solidFill>
                            <a:srgbClr val="1E2329"/>
                          </a:solidFill>
                          <a:latin typeface="+mn-lt"/>
                          <a:ea typeface="+mn-ea"/>
                          <a:cs typeface="+mn-cs"/>
                        </a:rPr>
                        <a:t>$110k lower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>
                      <a:solidFill>
                        <a:srgbClr val="B7BEC7"/>
                      </a:solidFill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w:title"/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sz="2800" b="0" lang="en-US">
                <a:latin typeface="+mj-lt"/>
                <a:ea typeface="+mj-ea"/>
                <a:cs typeface="+mj-cs"/>
              </a:rPr>
              <a:t>Q1-Q3 2026 metrics by quarter</a:t>
            </a:r>
          </a:p>
        </p:txBody>
      </p:sp>
      <p:sp>
        <p:nvSpPr>
          <p:cNvPr id="3" name="sw:page"/>
          <p:cNvSpPr>
            <a:spLocks noGrp="1"/>
          </p:cNvSpPr>
          <p:nvPr>
            <p:ph type="sldNum" idx="12" sz="quarter"/>
          </p:nvPr>
        </p:nvSpPr>
        <p:spPr/>
        <p:txBody>
          <a:bodyPr/>
          <a:p>
            <a:fld id="{B6F15528-21DE-4FAA-801E-634DDDAF4B2B}" type="slidenum">
              <a:rPr lang="en-US" sz="1000"/>
              <a:t>14</a:t>
            </a:fld>
          </a:p>
        </p:txBody>
      </p:sp>
      <p:sp>
        <p:nvSpPr>
          <p:cNvPr id="4" name="sw:tracker"/>
          <p:cNvSpPr txBox="1"/>
          <p:nvPr/>
        </p:nvSpPr>
        <p:spPr>
          <a:xfrm>
            <a:off x="457200" y="228600"/>
            <a:ext cx="6766560" cy="22860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l" marL="0" indent="0">
              <a:spcBef>
                <a:spcPts val="0"/>
              </a:spcBef>
              <a:buNone/>
            </a:pPr>
            <a:r>
              <a:rPr sz="1100" b="1" lang="en-US">
                <a:solidFill>
                  <a:srgbClr val="1F5AA6"/>
                </a:solidFill>
                <a:latin typeface="+mn-lt"/>
                <a:ea typeface="+mn-ea"/>
                <a:cs typeface="+mn-cs"/>
              </a:rPr>
              <a:t>Appendix</a:t>
            </a:r>
          </a:p>
        </p:txBody>
      </p:sp>
      <p:sp>
        <p:nvSpPr>
          <p:cNvPr id="5" name="sw:source"/>
          <p:cNvSpPr txBox="1"/>
          <p:nvPr/>
        </p:nvSpPr>
        <p:spPr>
          <a:xfrm>
            <a:off x="457200" y="6405880"/>
            <a:ext cx="10226040" cy="17780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l" marL="0" indent="0">
              <a:spcBef>
                <a:spcPts val="0"/>
              </a:spcBef>
              <a:buNone/>
            </a:pPr>
            <a:r>
              <a:rPr sz="1000" b="0" lang="en-US">
                <a:solidFill>
                  <a:srgbClr val="5A6472"/>
                </a:solidFill>
                <a:latin typeface="+mn-lt"/>
                <a:ea typeface="+mn-ea"/>
                <a:cs typeface="+mn-cs"/>
              </a:rPr>
              <a:t>Source: Sample data; metrics.csv.</a:t>
            </a:r>
          </a:p>
        </p:txBody>
      </p:sp>
      <p:graphicFrame>
        <p:nvGraphicFramePr>
          <p:cNvPr id="6" name="sw:table"/>
          <p:cNvGraphicFramePr>
            <a:graphicFrameLocks noGrp="1"/>
          </p:cNvGraphicFramePr>
          <p:nvPr/>
        </p:nvGraphicFramePr>
        <p:xfrm>
          <a:off x="457200" y="1600200"/>
          <a:ext cx="11277600" cy="2971800"/>
        </p:xfrm>
        <a:graphic>
          <a:graphicData uri="http://schemas.openxmlformats.org/drawingml/2006/table">
            <a:tbl>
              <a:tblPr firstRow="1">
                <a:tableStyleId>{2D5ABB26-0587-4C30-8999-92F81FD0307C}</a:tableStyleId>
              </a:tblPr>
              <a:tblGrid>
                <a:gridCol w="6306598"/>
                <a:gridCol w="1657000"/>
                <a:gridCol w="1657000"/>
                <a:gridCol w="1657002"/>
              </a:tblGrid>
              <a:tr h="330200">
                <a:tc>
                  <a:txBody>
                    <a:bodyPr wrap="square">
                      <a:noAutofit/>
                    </a:bodyPr>
                    <a:lstStyle/>
                    <a:p>
                      <a:pPr algn="l" marL="0" indent="0">
                        <a:spcBef>
                          <a:spcPts val="0"/>
                        </a:spcBef>
                        <a:buNone/>
                      </a:pPr>
                      <a:r>
                        <a:rPr sz="1400" b="1" lang="en-US">
                          <a:solidFill>
                            <a:srgbClr val="5A6472"/>
                          </a:solidFill>
                          <a:latin typeface="+mn-lt"/>
                          <a:ea typeface="+mn-ea"/>
                          <a:cs typeface="+mn-cs"/>
                        </a:rPr>
                        <a:t>$k unless stated</a:t>
                      </a:r>
                    </a:p>
                  </a:txBody>
                  <a:tcPr marL="91440" marR="91440" marT="45720" marB="45720" anchor="b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 cap="flat" cmpd="sng">
                      <a:solidFill>
                        <a:srgbClr val="1E2329"/>
                      </a:solidFill>
                    </a:lnB>
                    <a:noFill/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 marL="0" indent="0">
                        <a:spcBef>
                          <a:spcPts val="0"/>
                        </a:spcBef>
                        <a:buNone/>
                      </a:pPr>
                      <a:r>
                        <a:rPr sz="1400" b="1" lang="en-US">
                          <a:solidFill>
                            <a:srgbClr val="5A6472"/>
                          </a:solidFill>
                          <a:latin typeface="+mn-lt"/>
                          <a:ea typeface="+mn-ea"/>
                          <a:cs typeface="+mn-cs"/>
                        </a:rPr>
                        <a:t>Q1</a:t>
                      </a:r>
                    </a:p>
                  </a:txBody>
                  <a:tcPr marL="91440" marR="91440" marT="45720" marB="45720" anchor="b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 cap="flat" cmpd="sng">
                      <a:solidFill>
                        <a:srgbClr val="1E2329"/>
                      </a:solidFill>
                    </a:lnB>
                    <a:noFill/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 marL="0" indent="0">
                        <a:spcBef>
                          <a:spcPts val="0"/>
                        </a:spcBef>
                        <a:buNone/>
                      </a:pPr>
                      <a:r>
                        <a:rPr sz="1400" b="1" lang="en-US">
                          <a:solidFill>
                            <a:srgbClr val="5A6472"/>
                          </a:solidFill>
                          <a:latin typeface="+mn-lt"/>
                          <a:ea typeface="+mn-ea"/>
                          <a:cs typeface="+mn-cs"/>
                        </a:rPr>
                        <a:t>Q2</a:t>
                      </a:r>
                    </a:p>
                  </a:txBody>
                  <a:tcPr marL="91440" marR="91440" marT="45720" marB="45720" anchor="b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 cap="flat" cmpd="sng">
                      <a:solidFill>
                        <a:srgbClr val="1E2329"/>
                      </a:solidFill>
                    </a:lnB>
                    <a:noFill/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 marL="0" indent="0">
                        <a:spcBef>
                          <a:spcPts val="0"/>
                        </a:spcBef>
                        <a:buNone/>
                      </a:pPr>
                      <a:r>
                        <a:rPr sz="1400" b="1" lang="en-US">
                          <a:solidFill>
                            <a:srgbClr val="5A6472"/>
                          </a:solidFill>
                          <a:latin typeface="+mn-lt"/>
                          <a:ea typeface="+mn-ea"/>
                          <a:cs typeface="+mn-cs"/>
                        </a:rPr>
                        <a:t>Q3</a:t>
                      </a:r>
                    </a:p>
                  </a:txBody>
                  <a:tcPr marL="91440" marR="91440" marT="45720" marB="45720" anchor="b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 cap="flat" cmpd="sng">
                      <a:solidFill>
                        <a:srgbClr val="1E2329"/>
                      </a:solidFill>
                    </a:lnB>
                    <a:noFill/>
                  </a:tcPr>
                </a:tc>
              </a:tr>
              <a:tr h="330200">
                <a:tc>
                  <a:txBody>
                    <a:bodyPr wrap="square">
                      <a:noAutofit/>
                    </a:bodyPr>
                    <a:lstStyle/>
                    <a:p>
                      <a:pPr algn="l" marL="0" indent="0">
                        <a:spcBef>
                          <a:spcPts val="0"/>
                        </a:spcBef>
                        <a:buNone/>
                      </a:pPr>
                      <a:r>
                        <a:rPr sz="1400" b="0" lang="en-US">
                          <a:solidFill>
                            <a:srgbClr val="1E2329"/>
                          </a:solidFill>
                          <a:latin typeface="+mn-lt"/>
                          <a:ea typeface="+mn-ea"/>
                          <a:cs typeface="+mn-cs"/>
                        </a:rPr>
                        <a:t>New ARR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>
                      <a:solidFill>
                        <a:srgbClr val="D5DAE0"/>
                      </a:solidFill>
                    </a:lnB>
                    <a:noFill/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 marL="0" indent="0">
                        <a:spcBef>
                          <a:spcPts val="0"/>
                        </a:spcBef>
                        <a:buNone/>
                      </a:pPr>
                      <a:r>
                        <a:rPr sz="1400" b="0" lang="en-US">
                          <a:solidFill>
                            <a:srgbClr val="1E2329"/>
                          </a:solidFill>
                          <a:latin typeface="+mn-lt"/>
                          <a:ea typeface="+mn-ea"/>
                          <a:cs typeface="+mn-cs"/>
                        </a:rPr>
                        <a:t>900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>
                      <a:solidFill>
                        <a:srgbClr val="D5DAE0"/>
                      </a:solidFill>
                    </a:lnB>
                    <a:noFill/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 marL="0" indent="0">
                        <a:spcBef>
                          <a:spcPts val="0"/>
                        </a:spcBef>
                        <a:buNone/>
                      </a:pPr>
                      <a:r>
                        <a:rPr sz="1400" b="0" lang="en-US">
                          <a:solidFill>
                            <a:srgbClr val="1E2329"/>
                          </a:solidFill>
                          <a:latin typeface="+mn-lt"/>
                          <a:ea typeface="+mn-ea"/>
                          <a:cs typeface="+mn-cs"/>
                        </a:rPr>
                        <a:t>1,000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>
                      <a:solidFill>
                        <a:srgbClr val="D5DAE0"/>
                      </a:solidFill>
                    </a:lnB>
                    <a:noFill/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 marL="0" indent="0">
                        <a:spcBef>
                          <a:spcPts val="0"/>
                        </a:spcBef>
                        <a:buNone/>
                      </a:pPr>
                      <a:r>
                        <a:rPr sz="1400" b="0" lang="en-US">
                          <a:solidFill>
                            <a:srgbClr val="1E2329"/>
                          </a:solidFill>
                          <a:latin typeface="+mn-lt"/>
                          <a:ea typeface="+mn-ea"/>
                          <a:cs typeface="+mn-cs"/>
                        </a:rPr>
                        <a:t>1,150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>
                      <a:solidFill>
                        <a:srgbClr val="D5DAE0"/>
                      </a:solidFill>
                    </a:lnB>
                    <a:noFill/>
                  </a:tcPr>
                </a:tc>
              </a:tr>
              <a:tr h="330200">
                <a:tc>
                  <a:txBody>
                    <a:bodyPr wrap="square">
                      <a:noAutofit/>
                    </a:bodyPr>
                    <a:lstStyle/>
                    <a:p>
                      <a:pPr algn="l" marL="0" indent="0">
                        <a:spcBef>
                          <a:spcPts val="0"/>
                        </a:spcBef>
                        <a:buNone/>
                      </a:pPr>
                      <a:r>
                        <a:rPr sz="1400" b="0" lang="en-US">
                          <a:solidFill>
                            <a:srgbClr val="1E2329"/>
                          </a:solidFill>
                          <a:latin typeface="+mn-lt"/>
                          <a:ea typeface="+mn-ea"/>
                          <a:cs typeface="+mn-cs"/>
                        </a:rPr>
                        <a:t>Plan new ARR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>
                      <a:solidFill>
                        <a:srgbClr val="D5DAE0"/>
                      </a:solidFill>
                    </a:lnB>
                    <a:noFill/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 marL="0" indent="0">
                        <a:spcBef>
                          <a:spcPts val="0"/>
                        </a:spcBef>
                        <a:buNone/>
                      </a:pPr>
                      <a:r>
                        <a:rPr sz="1400" b="0" lang="en-US">
                          <a:solidFill>
                            <a:srgbClr val="1E2329"/>
                          </a:solidFill>
                          <a:latin typeface="+mn-lt"/>
                          <a:ea typeface="+mn-ea"/>
                          <a:cs typeface="+mn-cs"/>
                        </a:rPr>
                        <a:t>850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>
                      <a:solidFill>
                        <a:srgbClr val="D5DAE0"/>
                      </a:solidFill>
                    </a:lnB>
                    <a:noFill/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 marL="0" indent="0">
                        <a:spcBef>
                          <a:spcPts val="0"/>
                        </a:spcBef>
                        <a:buNone/>
                      </a:pPr>
                      <a:r>
                        <a:rPr sz="1400" b="0" lang="en-US">
                          <a:solidFill>
                            <a:srgbClr val="1E2329"/>
                          </a:solidFill>
                          <a:latin typeface="+mn-lt"/>
                          <a:ea typeface="+mn-ea"/>
                          <a:cs typeface="+mn-cs"/>
                        </a:rPr>
                        <a:t>950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>
                      <a:solidFill>
                        <a:srgbClr val="D5DAE0"/>
                      </a:solidFill>
                    </a:lnB>
                    <a:noFill/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 marL="0" indent="0">
                        <a:spcBef>
                          <a:spcPts val="0"/>
                        </a:spcBef>
                        <a:buNone/>
                      </a:pPr>
                      <a:r>
                        <a:rPr sz="1400" b="0" lang="en-US">
                          <a:solidFill>
                            <a:srgbClr val="1E2329"/>
                          </a:solidFill>
                          <a:latin typeface="+mn-lt"/>
                          <a:ea typeface="+mn-ea"/>
                          <a:cs typeface="+mn-cs"/>
                        </a:rPr>
                        <a:t>950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>
                      <a:solidFill>
                        <a:srgbClr val="D5DAE0"/>
                      </a:solidFill>
                    </a:lnB>
                    <a:noFill/>
                  </a:tcPr>
                </a:tc>
              </a:tr>
              <a:tr h="330200">
                <a:tc>
                  <a:txBody>
                    <a:bodyPr wrap="square">
                      <a:noAutofit/>
                    </a:bodyPr>
                    <a:lstStyle/>
                    <a:p>
                      <a:pPr algn="l" marL="0" indent="0">
                        <a:spcBef>
                          <a:spcPts val="0"/>
                        </a:spcBef>
                        <a:buNone/>
                      </a:pPr>
                      <a:r>
                        <a:rPr sz="1400" b="0" lang="en-US">
                          <a:solidFill>
                            <a:srgbClr val="1E2329"/>
                          </a:solidFill>
                          <a:latin typeface="+mn-lt"/>
                          <a:ea typeface="+mn-ea"/>
                          <a:cs typeface="+mn-cs"/>
                        </a:rPr>
                        <a:t>Ending ARR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>
                      <a:solidFill>
                        <a:srgbClr val="D5DAE0"/>
                      </a:solidFill>
                    </a:lnB>
                    <a:noFill/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 marL="0" indent="0">
                        <a:spcBef>
                          <a:spcPts val="0"/>
                        </a:spcBef>
                        <a:buNone/>
                      </a:pPr>
                      <a:r>
                        <a:rPr sz="1400" b="0" lang="en-US">
                          <a:solidFill>
                            <a:srgbClr val="1E2329"/>
                          </a:solidFill>
                          <a:latin typeface="+mn-lt"/>
                          <a:ea typeface="+mn-ea"/>
                          <a:cs typeface="+mn-cs"/>
                        </a:rPr>
                        <a:t>9,250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>
                      <a:solidFill>
                        <a:srgbClr val="D5DAE0"/>
                      </a:solidFill>
                    </a:lnB>
                    <a:noFill/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 marL="0" indent="0">
                        <a:spcBef>
                          <a:spcPts val="0"/>
                        </a:spcBef>
                        <a:buNone/>
                      </a:pPr>
                      <a:r>
                        <a:rPr sz="1400" b="0" lang="en-US">
                          <a:solidFill>
                            <a:srgbClr val="1E2329"/>
                          </a:solidFill>
                          <a:latin typeface="+mn-lt"/>
                          <a:ea typeface="+mn-ea"/>
                          <a:cs typeface="+mn-cs"/>
                        </a:rPr>
                        <a:t>10,160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>
                      <a:solidFill>
                        <a:srgbClr val="D5DAE0"/>
                      </a:solidFill>
                    </a:lnB>
                    <a:noFill/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 marL="0" indent="0">
                        <a:spcBef>
                          <a:spcPts val="0"/>
                        </a:spcBef>
                        <a:buNone/>
                      </a:pPr>
                      <a:r>
                        <a:rPr sz="1400" b="0" lang="en-US">
                          <a:solidFill>
                            <a:srgbClr val="1E2329"/>
                          </a:solidFill>
                          <a:latin typeface="+mn-lt"/>
                          <a:ea typeface="+mn-ea"/>
                          <a:cs typeface="+mn-cs"/>
                        </a:rPr>
                        <a:t>11,050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>
                      <a:solidFill>
                        <a:srgbClr val="D5DAE0"/>
                      </a:solidFill>
                    </a:lnB>
                    <a:noFill/>
                  </a:tcPr>
                </a:tc>
              </a:tr>
              <a:tr h="330200">
                <a:tc>
                  <a:txBody>
                    <a:bodyPr wrap="square">
                      <a:noAutofit/>
                    </a:bodyPr>
                    <a:lstStyle/>
                    <a:p>
                      <a:pPr algn="l" marL="0" indent="0">
                        <a:spcBef>
                          <a:spcPts val="0"/>
                        </a:spcBef>
                        <a:buNone/>
                      </a:pPr>
                      <a:r>
                        <a:rPr sz="1400" b="0" lang="en-US">
                          <a:solidFill>
                            <a:srgbClr val="1E2329"/>
                          </a:solidFill>
                          <a:latin typeface="+mn-lt"/>
                          <a:ea typeface="+mn-ea"/>
                          <a:cs typeface="+mn-cs"/>
                        </a:rPr>
                        <a:t>Plan ending ARR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>
                      <a:solidFill>
                        <a:srgbClr val="D5DAE0"/>
                      </a:solidFill>
                    </a:lnB>
                    <a:noFill/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 marL="0" indent="0">
                        <a:spcBef>
                          <a:spcPts val="0"/>
                        </a:spcBef>
                        <a:buNone/>
                      </a:pPr>
                      <a:r>
                        <a:rPr sz="1400" b="0" lang="en-US">
                          <a:solidFill>
                            <a:srgbClr val="1E2329"/>
                          </a:solidFill>
                          <a:latin typeface="+mn-lt"/>
                          <a:ea typeface="+mn-ea"/>
                          <a:cs typeface="+mn-cs"/>
                        </a:rPr>
                        <a:t>9,200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>
                      <a:solidFill>
                        <a:srgbClr val="D5DAE0"/>
                      </a:solidFill>
                    </a:lnB>
                    <a:noFill/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 marL="0" indent="0">
                        <a:spcBef>
                          <a:spcPts val="0"/>
                        </a:spcBef>
                        <a:buNone/>
                      </a:pPr>
                      <a:r>
                        <a:rPr sz="1400" b="0" lang="en-US">
                          <a:solidFill>
                            <a:srgbClr val="1E2329"/>
                          </a:solidFill>
                          <a:latin typeface="+mn-lt"/>
                          <a:ea typeface="+mn-ea"/>
                          <a:cs typeface="+mn-cs"/>
                        </a:rPr>
                        <a:t>10,050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>
                      <a:solidFill>
                        <a:srgbClr val="D5DAE0"/>
                      </a:solidFill>
                    </a:lnB>
                    <a:noFill/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 marL="0" indent="0">
                        <a:spcBef>
                          <a:spcPts val="0"/>
                        </a:spcBef>
                        <a:buNone/>
                      </a:pPr>
                      <a:r>
                        <a:rPr sz="1400" b="0" lang="en-US">
                          <a:solidFill>
                            <a:srgbClr val="1E2329"/>
                          </a:solidFill>
                          <a:latin typeface="+mn-lt"/>
                          <a:ea typeface="+mn-ea"/>
                          <a:cs typeface="+mn-cs"/>
                        </a:rPr>
                        <a:t>10,900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>
                      <a:solidFill>
                        <a:srgbClr val="D5DAE0"/>
                      </a:solidFill>
                    </a:lnB>
                    <a:noFill/>
                  </a:tcPr>
                </a:tc>
              </a:tr>
              <a:tr h="330200">
                <a:tc>
                  <a:txBody>
                    <a:bodyPr wrap="square">
                      <a:noAutofit/>
                    </a:bodyPr>
                    <a:lstStyle/>
                    <a:p>
                      <a:pPr algn="l" marL="0" indent="0">
                        <a:spcBef>
                          <a:spcPts val="0"/>
                        </a:spcBef>
                        <a:buNone/>
                      </a:pPr>
                      <a:r>
                        <a:rPr sz="1400" b="0" lang="en-US">
                          <a:solidFill>
                            <a:srgbClr val="1E2329"/>
                          </a:solidFill>
                          <a:latin typeface="+mn-lt"/>
                          <a:ea typeface="+mn-ea"/>
                          <a:cs typeface="+mn-cs"/>
                        </a:rPr>
                        <a:t>Churned ARR, SMB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>
                      <a:solidFill>
                        <a:srgbClr val="D5DAE0"/>
                      </a:solidFill>
                    </a:lnB>
                    <a:noFill/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 marL="0" indent="0">
                        <a:spcBef>
                          <a:spcPts val="0"/>
                        </a:spcBef>
                        <a:buNone/>
                      </a:pPr>
                      <a:r>
                        <a:rPr sz="1400" b="0" lang="en-US">
                          <a:solidFill>
                            <a:srgbClr val="1E2329"/>
                          </a:solidFill>
                          <a:latin typeface="+mn-lt"/>
                          <a:ea typeface="+mn-ea"/>
                          <a:cs typeface="+mn-cs"/>
                        </a:rPr>
                        <a:t>170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>
                      <a:solidFill>
                        <a:srgbClr val="D5DAE0"/>
                      </a:solidFill>
                    </a:lnB>
                    <a:noFill/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 marL="0" indent="0">
                        <a:spcBef>
                          <a:spcPts val="0"/>
                        </a:spcBef>
                        <a:buNone/>
                      </a:pPr>
                      <a:r>
                        <a:rPr sz="1400" b="0" lang="en-US">
                          <a:solidFill>
                            <a:srgbClr val="1E2329"/>
                          </a:solidFill>
                          <a:latin typeface="+mn-lt"/>
                          <a:ea typeface="+mn-ea"/>
                          <a:cs typeface="+mn-cs"/>
                        </a:rPr>
                        <a:t>220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>
                      <a:solidFill>
                        <a:srgbClr val="D5DAE0"/>
                      </a:solidFill>
                    </a:lnB>
                    <a:noFill/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 marL="0" indent="0">
                        <a:spcBef>
                          <a:spcPts val="0"/>
                        </a:spcBef>
                        <a:buNone/>
                      </a:pPr>
                      <a:r>
                        <a:rPr sz="1400" b="0" lang="en-US">
                          <a:solidFill>
                            <a:srgbClr val="1E2329"/>
                          </a:solidFill>
                          <a:latin typeface="+mn-lt"/>
                          <a:ea typeface="+mn-ea"/>
                          <a:cs typeface="+mn-cs"/>
                        </a:rPr>
                        <a:t>390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>
                      <a:solidFill>
                        <a:srgbClr val="D5DAE0"/>
                      </a:solidFill>
                    </a:lnB>
                    <a:noFill/>
                  </a:tcPr>
                </a:tc>
              </a:tr>
              <a:tr h="330200">
                <a:tc>
                  <a:txBody>
                    <a:bodyPr wrap="square">
                      <a:noAutofit/>
                    </a:bodyPr>
                    <a:lstStyle/>
                    <a:p>
                      <a:pPr algn="l" marL="0" indent="0">
                        <a:spcBef>
                          <a:spcPts val="0"/>
                        </a:spcBef>
                        <a:buNone/>
                      </a:pPr>
                      <a:r>
                        <a:rPr sz="1400" b="0" lang="en-US">
                          <a:solidFill>
                            <a:srgbClr val="1E2329"/>
                          </a:solidFill>
                          <a:latin typeface="+mn-lt"/>
                          <a:ea typeface="+mn-ea"/>
                          <a:cs typeface="+mn-cs"/>
                        </a:rPr>
                        <a:t>Churned ARR, mid-market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>
                      <a:solidFill>
                        <a:srgbClr val="D5DAE0"/>
                      </a:solidFill>
                    </a:lnB>
                    <a:noFill/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 marL="0" indent="0">
                        <a:spcBef>
                          <a:spcPts val="0"/>
                        </a:spcBef>
                        <a:buNone/>
                      </a:pPr>
                      <a:r>
                        <a:rPr sz="1400" b="0" lang="en-US">
                          <a:solidFill>
                            <a:srgbClr val="1E2329"/>
                          </a:solidFill>
                          <a:latin typeface="+mn-lt"/>
                          <a:ea typeface="+mn-ea"/>
                          <a:cs typeface="+mn-cs"/>
                        </a:rPr>
                        <a:t>70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>
                      <a:solidFill>
                        <a:srgbClr val="D5DAE0"/>
                      </a:solidFill>
                    </a:lnB>
                    <a:noFill/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 marL="0" indent="0">
                        <a:spcBef>
                          <a:spcPts val="0"/>
                        </a:spcBef>
                        <a:buNone/>
                      </a:pPr>
                      <a:r>
                        <a:rPr sz="1400" b="0" lang="en-US">
                          <a:solidFill>
                            <a:srgbClr val="1E2329"/>
                          </a:solidFill>
                          <a:latin typeface="+mn-lt"/>
                          <a:ea typeface="+mn-ea"/>
                          <a:cs typeface="+mn-cs"/>
                        </a:rPr>
                        <a:t>80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>
                      <a:solidFill>
                        <a:srgbClr val="D5DAE0"/>
                      </a:solidFill>
                    </a:lnB>
                    <a:noFill/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 marL="0" indent="0">
                        <a:spcBef>
                          <a:spcPts val="0"/>
                        </a:spcBef>
                        <a:buNone/>
                      </a:pPr>
                      <a:r>
                        <a:rPr sz="1400" b="0" lang="en-US">
                          <a:solidFill>
                            <a:srgbClr val="1E2329"/>
                          </a:solidFill>
                          <a:latin typeface="+mn-lt"/>
                          <a:ea typeface="+mn-ea"/>
                          <a:cs typeface="+mn-cs"/>
                        </a:rPr>
                        <a:t>90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>
                      <a:solidFill>
                        <a:srgbClr val="D5DAE0"/>
                      </a:solidFill>
                    </a:lnB>
                    <a:noFill/>
                  </a:tcPr>
                </a:tc>
              </a:tr>
              <a:tr h="330200">
                <a:tc>
                  <a:txBody>
                    <a:bodyPr wrap="square">
                      <a:noAutofit/>
                    </a:bodyPr>
                    <a:lstStyle/>
                    <a:p>
                      <a:pPr algn="l" marL="0" indent="0">
                        <a:spcBef>
                          <a:spcPts val="0"/>
                        </a:spcBef>
                        <a:buNone/>
                      </a:pPr>
                      <a:r>
                        <a:rPr sz="1400" b="0" lang="en-US">
                          <a:solidFill>
                            <a:srgbClr val="1E2329"/>
                          </a:solidFill>
                          <a:latin typeface="+mn-lt"/>
                          <a:ea typeface="+mn-ea"/>
                          <a:cs typeface="+mn-cs"/>
                        </a:rPr>
                        <a:t>SMB logo churn, % a month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>
                      <a:solidFill>
                        <a:srgbClr val="D5DAE0"/>
                      </a:solidFill>
                    </a:lnB>
                    <a:noFill/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 marL="0" indent="0">
                        <a:spcBef>
                          <a:spcPts val="0"/>
                        </a:spcBef>
                        <a:buNone/>
                      </a:pPr>
                      <a:r>
                        <a:rPr sz="1400" b="0" lang="en-US">
                          <a:solidFill>
                            <a:srgbClr val="1E2329"/>
                          </a:solidFill>
                          <a:latin typeface="+mn-lt"/>
                          <a:ea typeface="+mn-ea"/>
                          <a:cs typeface="+mn-cs"/>
                        </a:rPr>
                        <a:t>1.8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>
                      <a:solidFill>
                        <a:srgbClr val="D5DAE0"/>
                      </a:solidFill>
                    </a:lnB>
                    <a:noFill/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 marL="0" indent="0">
                        <a:spcBef>
                          <a:spcPts val="0"/>
                        </a:spcBef>
                        <a:buNone/>
                      </a:pPr>
                      <a:r>
                        <a:rPr sz="1400" b="0" lang="en-US">
                          <a:solidFill>
                            <a:srgbClr val="1E2329"/>
                          </a:solidFill>
                          <a:latin typeface="+mn-lt"/>
                          <a:ea typeface="+mn-ea"/>
                          <a:cs typeface="+mn-cs"/>
                        </a:rPr>
                        <a:t>2.2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>
                      <a:solidFill>
                        <a:srgbClr val="D5DAE0"/>
                      </a:solidFill>
                    </a:lnB>
                    <a:noFill/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 marL="0" indent="0">
                        <a:spcBef>
                          <a:spcPts val="0"/>
                        </a:spcBef>
                        <a:buNone/>
                      </a:pPr>
                      <a:r>
                        <a:rPr sz="1400" b="0" lang="en-US">
                          <a:solidFill>
                            <a:srgbClr val="1E2329"/>
                          </a:solidFill>
                          <a:latin typeface="+mn-lt"/>
                          <a:ea typeface="+mn-ea"/>
                          <a:cs typeface="+mn-cs"/>
                        </a:rPr>
                        <a:t>3.1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>
                      <a:solidFill>
                        <a:srgbClr val="D5DAE0"/>
                      </a:solidFill>
                    </a:lnB>
                    <a:noFill/>
                  </a:tcPr>
                </a:tc>
              </a:tr>
              <a:tr h="330200">
                <a:tc>
                  <a:txBody>
                    <a:bodyPr wrap="square">
                      <a:noAutofit/>
                    </a:bodyPr>
                    <a:lstStyle/>
                    <a:p>
                      <a:pPr algn="l" marL="0" indent="0">
                        <a:spcBef>
                          <a:spcPts val="0"/>
                        </a:spcBef>
                        <a:buNone/>
                      </a:pPr>
                      <a:r>
                        <a:rPr sz="1400" b="0" lang="en-US">
                          <a:solidFill>
                            <a:srgbClr val="1E2329"/>
                          </a:solidFill>
                          <a:latin typeface="+mn-lt"/>
                          <a:ea typeface="+mn-ea"/>
                          <a:cs typeface="+mn-cs"/>
                        </a:rPr>
                        <a:t>Mid-market logo churn, % a month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>
                      <a:solidFill>
                        <a:srgbClr val="B7BEC7"/>
                      </a:solidFill>
                    </a:lnB>
                    <a:noFill/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 marL="0" indent="0">
                        <a:spcBef>
                          <a:spcPts val="0"/>
                        </a:spcBef>
                        <a:buNone/>
                      </a:pPr>
                      <a:r>
                        <a:rPr sz="1400" b="0" lang="en-US">
                          <a:solidFill>
                            <a:srgbClr val="1E2329"/>
                          </a:solidFill>
                          <a:latin typeface="+mn-lt"/>
                          <a:ea typeface="+mn-ea"/>
                          <a:cs typeface="+mn-cs"/>
                        </a:rPr>
                        <a:t>0.6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>
                      <a:solidFill>
                        <a:srgbClr val="B7BEC7"/>
                      </a:solidFill>
                    </a:lnB>
                    <a:noFill/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 marL="0" indent="0">
                        <a:spcBef>
                          <a:spcPts val="0"/>
                        </a:spcBef>
                        <a:buNone/>
                      </a:pPr>
                      <a:r>
                        <a:rPr sz="1400" b="0" lang="en-US">
                          <a:solidFill>
                            <a:srgbClr val="1E2329"/>
                          </a:solidFill>
                          <a:latin typeface="+mn-lt"/>
                          <a:ea typeface="+mn-ea"/>
                          <a:cs typeface="+mn-cs"/>
                        </a:rPr>
                        <a:t>0.7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>
                      <a:solidFill>
                        <a:srgbClr val="B7BEC7"/>
                      </a:solidFill>
                    </a:lnB>
                    <a:noFill/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 marL="0" indent="0">
                        <a:spcBef>
                          <a:spcPts val="0"/>
                        </a:spcBef>
                        <a:buNone/>
                      </a:pPr>
                      <a:r>
                        <a:rPr sz="1400" b="0" lang="en-US">
                          <a:solidFill>
                            <a:srgbClr val="1E2329"/>
                          </a:solidFill>
                          <a:latin typeface="+mn-lt"/>
                          <a:ea typeface="+mn-ea"/>
                          <a:cs typeface="+mn-cs"/>
                        </a:rPr>
                        <a:t>0.6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>
                      <a:solidFill>
                        <a:srgbClr val="B7BEC7"/>
                      </a:solidFill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SoWhat">
  <a:themeElements>
    <a:clrScheme name="SoWhat">
      <a:dk1>
        <a:srgbClr val="1E2329"/>
      </a:dk1>
      <a:lt1>
        <a:srgbClr val="FFFFFF"/>
      </a:lt1>
      <a:dk2>
        <a:srgbClr val="5A6472"/>
      </a:dk2>
      <a:lt2>
        <a:srgbClr val="F2F4F6"/>
      </a:lt2>
      <a:accent1>
        <a:srgbClr val="1F5AA6"/>
      </a:accent1>
      <a:accent2>
        <a:srgbClr val="8C95A1"/>
      </a:accent2>
      <a:accent3>
        <a:srgbClr val="B7BEC7"/>
      </a:accent3>
      <a:accent4>
        <a:srgbClr val="5A6472"/>
      </a:accent4>
      <a:accent5>
        <a:srgbClr val="D5DAE0"/>
      </a:accent5>
      <a:accent6>
        <a:srgbClr val="1E2329"/>
      </a:accent6>
      <a:hlink>
        <a:srgbClr val="1F5AA6"/>
      </a:hlink>
      <a:folHlink>
        <a:srgbClr val="5A6472"/>
      </a:folHlink>
    </a:clrScheme>
    <a:fontScheme name="SoWhat">
      <a:majorFont>
        <a:latin typeface="Georgia"/>
        <a:ea typeface=""/>
        <a:cs typeface=""/>
        <a:font script="Jpan" typeface="Yu Gothic"/>
        <a:font script="Hang" typeface="Malgun Gothic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Yu Gothic"/>
        <a:font script="Hang" typeface="Malgun Gothic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