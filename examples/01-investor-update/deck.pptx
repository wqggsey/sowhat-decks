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Revenue, fiscal years, $M</c:v>
                </c:pt>
              </c:strCache>
            </c:strRef>
          </c:tx>
          <c:spPr>
            <a:solidFill>
              <a:srgbClr val="B7BEC7"/>
            </a:solidFill>
            <a:ln>
              <a:noFill/>
            </a:ln>
          </c:spPr>
          <c:invertIfNegative val="0"/>
          <c:dPt>
            <c:idx val="2"/>
            <c:invertIfNegative val="0"/>
            <c:spPr>
              <a:solidFill>
                <a:srgbClr val="1F5AA6"/>
              </a:solidFill>
            </c:spPr>
          </c:dPt>
          <c:dLbls>
            <c:dLbl>
              <c:idx val="2"/>
              <c:spPr/>
              <c:txPr>
                <a:bodyPr/>
                <a:lstStyle/>
                <a:p>
                  <a:pPr>
                    <a:defRPr b="1" sz="1200">
                      <a:solidFill>
                        <a:srgbClr val="1F5AA6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200">
                    <a:solidFill>
                      <a:srgbClr val="1E2329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FY2023</c:v>
                </c:pt>
                <c:pt idx="1">
                  <c:v>FY2024</c:v>
                </c:pt>
                <c:pt idx="2">
                  <c:v>FY2025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531.1</c:v>
                </c:pt>
                <c:pt idx="1">
                  <c:v>748.0</c:v>
                </c:pt>
                <c:pt idx="2">
                  <c:v>1037.6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7BEC7"/>
            </a:solidFill>
          </a:ln>
        </c:spPr>
        <c:txPr>
          <a:bodyPr/>
          <a:lstStyle/>
          <a:p>
            <a:pPr>
              <a:defRPr sz="1200">
                <a:solidFill>
                  <a:srgbClr val="1E232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162.112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1E2329"/>
          </a:solidFill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602"/>
          <c:y val="0.0400"/>
          <c:w val="0.7558"/>
          <c:h val="0.885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Adj. EBITDA</c:v>
                </c:pt>
              </c:strCache>
            </c:strRef>
          </c:tx>
          <c:spPr>
            <a:ln w="22225">
              <a:solidFill>
                <a:srgbClr val="5A6472"/>
              </a:solidFill>
            </a:ln>
          </c:spPr>
          <c:marker>
            <c:symbol val="none"/>
          </c:marker>
          <c:dLbls>
            <c:dLbl>
              <c:idx val="2"/>
              <c:tx>
                <c:rich>
                  <a:bodyPr/>
                  <a:lstStyle/>
                  <a:p>
                    <a:r>
                      <a:rPr sz="1200" b="0">
                        <a:solidFill>
                          <a:srgbClr val="5A6472"/>
                        </a:solidFill>
                      </a:rPr>
                      <a:t>Adj. EBITDA 29.5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FY2023</c:v>
                </c:pt>
                <c:pt idx="1">
                  <c:v>FY2024</c:v>
                </c:pt>
                <c:pt idx="2">
                  <c:v>FY2025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1">
                  <c:v>25.7</c:v>
                </c:pt>
                <c:pt idx="2">
                  <c:v>29.5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</c:v>
                </c:pt>
              </c:strCache>
            </c:strRef>
          </c:tx>
          <c:spPr>
            <a:ln w="31750">
              <a:solidFill>
                <a:srgbClr val="1F5AA6"/>
              </a:solidFill>
            </a:ln>
          </c:spPr>
          <c:marker>
            <c:symbol val="none"/>
          </c:marker>
          <c:dLbls>
            <c:dLbl>
              <c:idx val="2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1F5AA6"/>
                        </a:solidFill>
                      </a:rPr>
                      <a:t>Operating 13.1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FY2023</c:v>
                </c:pt>
                <c:pt idx="1">
                  <c:v>FY2024</c:v>
                </c:pt>
                <c:pt idx="2">
                  <c:v>FY2025</c:v>
                </c:pt>
              </c:strCache>
            </c:strRef>
          </c:cat>
          <c:val>
            <c:numRef>
              <c:f>Sheet1!$C$2:$C$4</c:f>
              <c:numCache>
                <c:formatCode>0.0</c:formatCode>
                <c:ptCount val="3"/>
                <c:pt idx="0">
                  <c:v>-2.5</c:v>
                </c:pt>
                <c:pt idx="1">
                  <c:v>8.4</c:v>
                </c:pt>
                <c:pt idx="2">
                  <c:v>13.1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7BEC7"/>
            </a:solidFill>
          </a:ln>
        </c:spPr>
        <c:txPr>
          <a:bodyPr/>
          <a:lstStyle/>
          <a:p>
            <a:pPr>
              <a:defRPr sz="1200">
                <a:solidFill>
                  <a:srgbClr val="1E232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30.0"/>
          <c:min val="-10.0"/>
        </c:scaling>
        <c:delete val="0"/>
        <c:axPos val="l"/>
        <c:majorGridlines>
          <c:spPr>
            <a:ln w="6350">
              <a:solidFill>
                <a:srgbClr val="D5DAE0"/>
              </a:solidFill>
            </a:ln>
          </c:spPr>
        </c:majorGridlines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A6472"/>
                </a:solidFill>
              </a:defRPr>
            </a:pPr>
          </a:p>
        </c:txPr>
        <c:crossAx val="2118791784"/>
        <c:crosses val="autoZero"/>
        <c:majorUnit val="10.0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>
          <a:solidFill>
            <a:srgbClr val="1E2329"/>
          </a:solidFill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100"/>
          <c:y val="0.0566"/>
          <c:w val="0.7663"/>
          <c:h val="0.8691"/>
        </c:manualLayout>
      </c:layout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Rest of net income</c:v>
                </c:pt>
              </c:strCache>
            </c:strRef>
          </c:tx>
          <c:spPr>
            <a:solidFill>
              <a:srgbClr val="737D8A"/>
            </a:solidFill>
            <a:ln w="12700">
              <a:solidFill>
                <a:srgbClr val="FFFFFF"/>
              </a:solidFill>
            </a:ln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200" b="0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FY2025</c:v>
                </c:pt>
              </c:strCache>
            </c:strRef>
          </c:cat>
          <c:val>
            <c:numRef>
              <c:f>Sheet1!$B$2:$B$2</c:f>
              <c:numCache>
                <c:formatCode>#,##0</c:formatCode>
                <c:ptCount val="1"/>
                <c:pt idx="0">
                  <c:v>157.4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One-time tax benefit</c:v>
                </c:pt>
              </c:strCache>
            </c:strRef>
          </c:tx>
          <c:spPr>
            <a:solidFill>
              <a:srgbClr val="1F5AA6"/>
            </a:solidFill>
            <a:ln w="12700">
              <a:solidFill>
                <a:srgbClr val="FFFFFF"/>
              </a:solidFill>
            </a:ln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sz="1200" b="1">
                    <a:solidFill>
                      <a:srgbClr val="FFFFFF"/>
                    </a:solidFill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FY2025</c:v>
                </c:pt>
              </c:strCache>
            </c:strRef>
          </c:cat>
          <c:val>
            <c:numRef>
              <c:f>Sheet1!$C$2:$C$2</c:f>
              <c:numCache>
                <c:formatCode>#,##0</c:formatCode>
                <c:ptCount val="1"/>
                <c:pt idx="0">
                  <c:v>256.7</c:v>
                </c:pt>
              </c:numCache>
            </c:numRef>
          </c:val>
        </c:ser>
        <c:gapWidth val="5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7BEC7"/>
            </a:solidFill>
          </a:ln>
        </c:spPr>
        <c:txPr>
          <a:bodyPr/>
          <a:lstStyle/>
          <a:p>
            <a:pPr>
              <a:defRPr sz="1200">
                <a:solidFill>
                  <a:srgbClr val="1E232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00.0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1E2329"/>
          </a:solidFill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ayout>
        <c:manualLayout>
          <c:layoutTarget val="inner"/>
          <c:xMode val="edge"/>
          <c:yMode val="edge"/>
          <c:x val="0.0363"/>
          <c:y val="0.0400"/>
          <c:w val="0.7604"/>
          <c:h val="0.8857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DAUs</c:v>
                </c:pt>
              </c:strCache>
            </c:strRef>
          </c:tx>
          <c:spPr>
            <a:ln w="31750">
              <a:solidFill>
                <a:srgbClr val="1F5AA6"/>
              </a:solidFill>
            </a:ln>
          </c:spPr>
          <c:marker>
            <c:symbol val="none"/>
          </c:marker>
          <c:dLbls>
            <c:dLbl>
              <c:idx val="1"/>
              <c:tx>
                <c:rich>
                  <a:bodyPr/>
                  <a:lstStyle/>
                  <a:p>
                    <a:r>
                      <a:rPr sz="1200" b="1">
                        <a:solidFill>
                          <a:srgbClr val="1F5AA6"/>
                        </a:solidFill>
                      </a:rPr>
                      <a:t>DAUs 30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Q4 2024</c:v>
                </c:pt>
                <c:pt idx="1">
                  <c:v>Q4 2025</c:v>
                </c:pt>
              </c:strCache>
            </c:strRef>
          </c:cat>
          <c:val>
            <c:numRef>
              <c:f>Sheet1!$B$2:$B$3</c:f>
              <c:numCache>
                <c:formatCode>0</c:formatCode>
                <c:ptCount val="2"/>
                <c:pt idx="0">
                  <c:v>51</c:v>
                </c:pt>
                <c:pt idx="1">
                  <c:v>30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Paid subscribers</c:v>
                </c:pt>
              </c:strCache>
            </c:strRef>
          </c:tx>
          <c:spPr>
            <a:ln w="22225">
              <a:solidFill>
                <a:srgbClr val="5A6472"/>
              </a:solidFill>
            </a:ln>
          </c:spPr>
          <c:marker>
            <c:symbol val="none"/>
          </c:marker>
          <c:dLbls>
            <c:dLbl>
              <c:idx val="1"/>
              <c:layout>
                <c:manualLayout>
                  <c:x val="0.0000"/>
                  <c:y val="0.0147"/>
                </c:manualLayout>
              </c:layout>
              <c:tx>
                <c:rich>
                  <a:bodyPr/>
                  <a:lstStyle/>
                  <a:p>
                    <a:r>
                      <a:rPr sz="1200" b="0">
                        <a:solidFill>
                          <a:srgbClr val="5A6472"/>
                        </a:solidFill>
                      </a:rPr>
                      <a:t>Paid subscribers 28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Q4 2024</c:v>
                </c:pt>
                <c:pt idx="1">
                  <c:v>Q4 2025</c:v>
                </c:pt>
              </c:strCache>
            </c:strRef>
          </c:cat>
          <c:val>
            <c:numRef>
              <c:f>Sheet1!$C$2:$C$3</c:f>
              <c:numCache>
                <c:formatCode>0</c:formatCode>
                <c:ptCount val="2"/>
                <c:pt idx="0">
                  <c:v>43</c:v>
                </c:pt>
                <c:pt idx="1">
                  <c:v>28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MAUs</c:v>
                </c:pt>
              </c:strCache>
            </c:strRef>
          </c:tx>
          <c:spPr>
            <a:ln w="22225">
              <a:solidFill>
                <a:srgbClr val="737D8A"/>
              </a:solidFill>
            </a:ln>
          </c:spPr>
          <c:marker>
            <c:symbol val="none"/>
          </c:marker>
          <c:dLbls>
            <c:dLbl>
              <c:idx val="1"/>
              <c:tx>
                <c:rich>
                  <a:bodyPr/>
                  <a:lstStyle/>
                  <a:p>
                    <a:r>
                      <a:rPr sz="1200" b="0">
                        <a:solidFill>
                          <a:srgbClr val="737D8A"/>
                        </a:solidFill>
                      </a:rPr>
                      <a:t>MAUs 14</a:t>
                    </a:r>
                  </a:p>
                </c:rich>
              </c:tx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Q4 2024</c:v>
                </c:pt>
                <c:pt idx="1">
                  <c:v>Q4 2025</c:v>
                </c:pt>
              </c:strCache>
            </c:strRef>
          </c:cat>
          <c:val>
            <c:numRef>
              <c:f>Sheet1!$D$2:$D$3</c:f>
              <c:numCache>
                <c:formatCode>0</c:formatCode>
                <c:ptCount val="2"/>
                <c:pt idx="0">
                  <c:v>32</c:v>
                </c:pt>
                <c:pt idx="1">
                  <c:v>14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7BEC7"/>
            </a:solidFill>
          </a:ln>
        </c:spPr>
        <c:txPr>
          <a:bodyPr/>
          <a:lstStyle/>
          <a:p>
            <a:pPr>
              <a:defRPr sz="1200">
                <a:solidFill>
                  <a:srgbClr val="1E2329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60.0"/>
          <c:min val="0.0"/>
        </c:scaling>
        <c:delete val="0"/>
        <c:axPos val="l"/>
        <c:majorGridlines>
          <c:spPr>
            <a:ln w="6350">
              <a:solidFill>
                <a:srgbClr val="D5DAE0"/>
              </a:solidFill>
            </a:ln>
          </c:spPr>
        </c:majorGridlines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5A6472"/>
                </a:solidFill>
              </a:defRPr>
            </a:pPr>
          </a:p>
        </c:txPr>
        <c:crossAx val="2118791784"/>
        <c:crosses val="autoZero"/>
        <c:majorUnit val="20.0"/>
      </c:valAx>
    </c:plotArea>
    <c:plotVisOnly val="1"/>
    <c:dispBlanksAs val="gap"/>
    <c:showDLblsOverMax val="0"/>
  </c:chart>
  <c:spPr>
    <a:noFill/>
    <a:ln>
      <a:noFill/>
    </a:ln>
  </c:spPr>
  <c:txPr>
    <a:bodyPr/>
    <a:lstStyle/>
    <a:p>
      <a:pPr>
        <a:defRPr sz="1200">
          <a:solidFill>
            <a:srgbClr val="1E2329"/>
          </a:solidFill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Daily active users as a share </c:v>
                </c:pt>
              </c:strCache>
            </c:strRef>
          </c:tx>
          <c:spPr>
            <a:solidFill>
              <a:srgbClr val="B7BEC7"/>
            </a:solidFill>
            <a:ln>
              <a:noFill/>
            </a:ln>
          </c:spPr>
          <c:invertIfNegative val="0"/>
          <c:dPt>
            <c:idx val="1"/>
            <c:invertIfNegative val="0"/>
            <c:spPr>
              <a:solidFill>
                <a:srgbClr val="1F5AA6"/>
              </a:solidFill>
            </c:spPr>
          </c:dPt>
          <c:dLbls>
            <c:dLbl>
              <c:idx val="1"/>
              <c:spPr/>
              <c:txPr>
                <a:bodyPr/>
                <a:lstStyle/>
                <a:p>
                  <a:pPr>
                    <a:defRPr b="1" sz="1200">
                      <a:solidFill>
                        <a:srgbClr val="1F5AA6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/>
              <a:lstStyle/>
              <a:p>
                <a:pPr>
                  <a:defRPr sz="1200">
                    <a:solidFill>
                      <a:srgbClr val="1E2329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Q4 2024</c:v>
                </c:pt>
                <c:pt idx="1">
                  <c:v>Q4 2025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34.7</c:v>
                </c:pt>
                <c:pt idx="1">
                  <c:v>39.6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7BEC7"/>
            </a:solidFill>
          </a:ln>
        </c:spPr>
        <c:txPr>
          <a:bodyPr/>
          <a:lstStyle/>
          <a:p>
            <a:pPr>
              <a:defRPr sz="1200">
                <a:solidFill>
                  <a:srgbClr val="1E232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4.352000000000004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1E2329"/>
          </a:solidFill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Paid subscribers at quarter en</c:v>
                </c:pt>
              </c:strCache>
            </c:strRef>
          </c:tx>
          <c:spPr>
            <a:solidFill>
              <a:srgbClr val="B7BEC7"/>
            </a:solidFill>
            <a:ln>
              <a:noFill/>
            </a:ln>
          </c:spPr>
          <c:invertIfNegative val="0"/>
          <c:dPt>
            <c:idx val="1"/>
            <c:invertIfNegative val="0"/>
            <c:spPr>
              <a:solidFill>
                <a:srgbClr val="1F5AA6"/>
              </a:solidFill>
            </c:spPr>
          </c:dPt>
          <c:dLbls>
            <c:dLbl>
              <c:idx val="1"/>
              <c:spPr/>
              <c:txPr>
                <a:bodyPr/>
                <a:lstStyle/>
                <a:p>
                  <a:pPr>
                    <a:defRPr b="1" sz="1200">
                      <a:solidFill>
                        <a:srgbClr val="1F5AA6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/>
              <a:lstStyle/>
              <a:p>
                <a:pPr>
                  <a:defRPr sz="1200">
                    <a:solidFill>
                      <a:srgbClr val="1E2329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Q4 2024</c:v>
                </c:pt>
                <c:pt idx="1">
                  <c:v>Q4 2025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9.5</c:v>
                </c:pt>
                <c:pt idx="1">
                  <c:v>12.2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7BEC7"/>
            </a:solidFill>
          </a:ln>
        </c:spPr>
        <c:txPr>
          <a:bodyPr/>
          <a:lstStyle/>
          <a:p>
            <a:pPr>
              <a:defRPr sz="1200">
                <a:solidFill>
                  <a:srgbClr val="1E232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.664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1E2329"/>
          </a:solidFill>
        </a:defRPr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bookings growth, year ov</c:v>
                </c:pt>
              </c:strCache>
            </c:strRef>
          </c:tx>
          <c:spPr>
            <a:solidFill>
              <a:srgbClr val="B7BEC7"/>
            </a:solidFill>
            <a:ln>
              <a:noFill/>
            </a:ln>
          </c:spPr>
          <c:invertIfNegative val="0"/>
          <c:dPt>
            <c:idx val="2"/>
            <c:invertIfNegative val="0"/>
            <c:spPr>
              <a:solidFill>
                <a:srgbClr val="1F5AA6"/>
              </a:solidFill>
            </c:spPr>
          </c:dPt>
          <c:dLbls>
            <c:dLbl>
              <c:idx val="2"/>
              <c:spPr/>
              <c:txPr>
                <a:bodyPr/>
                <a:lstStyle/>
                <a:p>
                  <a:pPr>
                    <a:defRPr b="1" sz="1200">
                      <a:solidFill>
                        <a:srgbClr val="1F5AA6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" sourceLinked="0"/>
            <c:txPr>
              <a:bodyPr/>
              <a:lstStyle/>
              <a:p>
                <a:pPr>
                  <a:defRPr sz="1200">
                    <a:solidFill>
                      <a:srgbClr val="1E2329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FY2024</c:v>
                </c:pt>
                <c:pt idx="1">
                  <c:v>FY2025</c:v>
                </c:pt>
                <c:pt idx="2">
                  <c:v>FY2026 guidance</c:v>
                </c:pt>
              </c:strCache>
            </c:strRef>
          </c:cat>
          <c:val>
            <c:numRef>
              <c:f>Sheet1!$B$2:$B$4</c:f>
              <c:numCache>
                <c:formatCode>0</c:formatCode>
                <c:ptCount val="3"/>
                <c:pt idx="0">
                  <c:v>40</c:v>
                </c:pt>
                <c:pt idx="1">
                  <c:v>33</c:v>
                </c:pt>
                <c:pt idx="2">
                  <c:v>11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7BEC7"/>
            </a:solidFill>
          </a:ln>
        </c:spPr>
        <c:txPr>
          <a:bodyPr/>
          <a:lstStyle/>
          <a:p>
            <a:pPr>
              <a:defRPr sz="1200">
                <a:solidFill>
                  <a:srgbClr val="1E232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44.800000000000004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1E2329"/>
          </a:solidFill>
        </a:defRPr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margin, fiscal years and</c:v>
                </c:pt>
              </c:strCache>
            </c:strRef>
          </c:tx>
          <c:spPr>
            <a:solidFill>
              <a:srgbClr val="B7BEC7"/>
            </a:solidFill>
            <a:ln>
              <a:noFill/>
            </a:ln>
          </c:spPr>
          <c:invertIfNegative val="0"/>
          <c:dPt>
            <c:idx val="3"/>
            <c:invertIfNegative val="0"/>
            <c:spPr>
              <a:solidFill>
                <a:srgbClr val="1F5AA6"/>
              </a:solidFill>
            </c:spPr>
          </c:dPt>
          <c:dPt>
            <c:idx val="4"/>
            <c:invertIfNegative val="0"/>
            <c:spPr>
              <a:solidFill>
                <a:srgbClr val="1F5AA6"/>
              </a:solidFill>
            </c:spPr>
          </c:dPt>
          <c:dLbls>
            <c:dLbl>
              <c:idx val="3"/>
              <c:spPr/>
              <c:txPr>
                <a:bodyPr/>
                <a:lstStyle/>
                <a:p>
                  <a:pPr>
                    <a:defRPr b="1" sz="1200">
                      <a:solidFill>
                        <a:srgbClr val="1F5AA6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spPr/>
              <c:txPr>
                <a:bodyPr/>
                <a:lstStyle/>
                <a:p>
                  <a:pPr>
                    <a:defRPr b="1" sz="1200">
                      <a:solidFill>
                        <a:srgbClr val="1F5AA6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" sourceLinked="0"/>
            <c:txPr>
              <a:bodyPr/>
              <a:lstStyle/>
              <a:p>
                <a:pPr>
                  <a:defRPr sz="1200">
                    <a:solidFill>
                      <a:srgbClr val="1E2329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FY2023</c:v>
                </c:pt>
                <c:pt idx="1">
                  <c:v>FY2024</c:v>
                </c:pt>
                <c:pt idx="2">
                  <c:v>FY2025</c:v>
                </c:pt>
                <c:pt idx="3">
                  <c:v>Q1 2026</c:v>
                </c:pt>
                <c:pt idx="4">
                  <c:v>Rest of 2026</c:v>
                </c:pt>
              </c:strCache>
            </c:strRef>
          </c:cat>
          <c:val>
            <c:numRef>
              <c:f>Sheet1!$B$2:$B$6</c:f>
              <c:numCache>
                <c:formatCode>0.0</c:formatCode>
                <c:ptCount val="5"/>
                <c:pt idx="0">
                  <c:v>73.2</c:v>
                </c:pt>
                <c:pt idx="1">
                  <c:v>72.8</c:v>
                </c:pt>
                <c:pt idx="2">
                  <c:v>72.2</c:v>
                </c:pt>
                <c:pt idx="3">
                  <c:v>71.0</c:v>
                </c:pt>
                <c:pt idx="4">
                  <c:v>69.0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low"/>
        <c:spPr>
          <a:ln w="9525">
            <a:solidFill>
              <a:srgbClr val="B7BEC7"/>
            </a:solidFill>
          </a:ln>
        </c:spPr>
        <c:txPr>
          <a:bodyPr/>
          <a:lstStyle/>
          <a:p>
            <a:pPr>
              <a:defRPr sz="1200">
                <a:solidFill>
                  <a:srgbClr val="1E232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81.98400000000001"/>
          <c:min val="0.0"/>
        </c:scaling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1E2329"/>
          </a:solidFill>
        </a:defRPr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Cash resources and the buyback</c:v>
                </c:pt>
              </c:strCache>
            </c:strRef>
          </c:tx>
          <c:spPr>
            <a:solidFill>
              <a:srgbClr val="B7BEC7"/>
            </a:solidFill>
            <a:ln>
              <a:noFill/>
            </a:ln>
          </c:spPr>
          <c:invertIfNegative val="0"/>
          <c:dPt>
            <c:idx val="0"/>
            <c:invertIfNegative val="0"/>
            <c:spPr>
              <a:solidFill>
                <a:srgbClr val="1F5AA6"/>
              </a:solidFill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b="1" sz="1200">
                      <a:solidFill>
                        <a:srgbClr val="1F5AA6"/>
                      </a:solidFill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#,##0" sourceLinked="0"/>
            <c:txPr>
              <a:bodyPr/>
              <a:lstStyle/>
              <a:p>
                <a:pPr>
                  <a:defRPr sz="1200">
                    <a:solidFill>
                      <a:srgbClr val="1E2329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Cash, end of 2025</c:v>
                </c:pt>
                <c:pt idx="1">
                  <c:v>Buyback authorized</c:v>
                </c:pt>
                <c:pt idx="2">
                  <c:v>FY2025 free cash flow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1036.4</c:v>
                </c:pt>
                <c:pt idx="1">
                  <c:v>400.0</c:v>
                </c:pt>
                <c:pt idx="2">
                  <c:v>360.4</c:v>
                </c:pt>
              </c:numCache>
            </c:numRef>
          </c:val>
        </c:ser>
        <c:gapWidth val="11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none"/>
        <c:minorTickMark val="none"/>
        <c:tickLblPos val="low"/>
        <c:spPr>
          <a:ln w="9525">
            <a:solidFill>
              <a:srgbClr val="B7BEC7"/>
            </a:solidFill>
          </a:ln>
        </c:spPr>
        <c:txPr>
          <a:bodyPr/>
          <a:lstStyle/>
          <a:p>
            <a:pPr>
              <a:defRPr sz="1200">
                <a:solidFill>
                  <a:srgbClr val="1E2329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22.952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spPr>
    <a:noFill/>
    <a:ln>
      <a:noFill/>
    </a:ln>
  </c:spPr>
  <c:txPr>
    <a:bodyPr/>
    <a:lstStyle/>
    <a:p>
      <a:pPr>
        <a:defRPr sz="1200">
          <a:solidFill>
            <a:srgbClr val="1E2329"/>
          </a:solidFill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Built only from the FY2025 Form 10-K and the Q4 FY2025 and Q4 FY2024 shareholder letters. Every figure is cited on its slide; derived figures show the formula in the speaker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answer first; the rest of the deck is the proof. Slide 12 turns it into three metrics to track.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Revenue growth 40.8% in FY2024 and 38.7% in FY2025 (the letters round to 41% and 39%).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Operating margin = operating income / revenue: -13.3 / 531.1, 62.6 / 748.0, 135.6 / 1,037.6. Adjusted EBITDA is non-GAAP: $191.9M in FY2024, $305.9M in FY2025.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FY2024 shows no comparable one-time benefit: income tax was an expense of $13.7M (10-K). 256.7 / 414.1 = 62%.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complication: the engine behind revenue is slowing.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DAU/MAU 34.7% in Q4 2024, 39.6% in Q4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Growth rates as printed in the letters: +43% (Q4 2024), +28% (Q4 2025).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FY2024 bookings $870.6M (+40%); FY2025 $1,158.4M (+33%).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Gross margin = gross profit / revenue: 389.0 / 531.1, 544.4 / 748.0, 749.5 / 1,037.6.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over-$50M of foregone bookings is small next to one year of free cash 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2026 quarterly results are outside this deck's material; compare each 2026 shareholder letter with these three baselines.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2103120"/>
            <a:ext cx="8412480" cy="1828800"/>
          </a:xfrm>
        </p:spPr>
        <p:txBody>
          <a:bodyPr lIns="0" tIns="0" rIns="0" bIns="0" anchor="b" wrap="square">
            <a:noAutofit/>
          </a:bodyPr>
          <a:lstStyle>
            <a:lvl1pPr algn="l" marL="0" indent="0">
              <a:lnSpc>
                <a:spcPct val="90000"/>
              </a:lnSpc>
              <a:spcBef>
                <a:spcPts val="0"/>
              </a:spcBef>
              <a:buNone/>
              <a:defRPr sz="40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4160520"/>
            <a:ext cx="8412480" cy="1188720"/>
          </a:xfrm>
        </p:spPr>
        <p:txBody>
          <a:bodyPr lIns="0" tIns="0" rIns="0" bIns="0" anchor="t" wrap="square">
            <a:noAutofit/>
          </a:bodyPr>
          <a:lstStyle>
            <a:lvl1pPr algn="l"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67280" y="2194560"/>
            <a:ext cx="9367520" cy="1463040"/>
          </a:xfrm>
        </p:spPr>
        <p:txBody>
          <a:bodyPr anchor="b" lIns="0" tIns="0" rIns="0" bIns="0" wrap="square">
            <a:noAutofit/>
          </a:bodyPr>
          <a:lstStyle>
            <a:lvl1pPr algn="l" marL="0" indent="0">
              <a:lnSpc>
                <a:spcPct val="90000"/>
              </a:lnSpc>
              <a:spcBef>
                <a:spcPts val="0"/>
              </a:spcBef>
              <a:buNone/>
              <a:defRPr sz="3600" b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67280" y="3840480"/>
            <a:ext cx="9367520" cy="1097280"/>
          </a:xfrm>
        </p:spPr>
        <p:txBody>
          <a:bodyPr anchor="t" lIns="0" tIns="0" rIns="0" bIns="0" wrap="square">
            <a:noAutofit/>
          </a:bodyPr>
          <a:lstStyle>
            <a:lvl1pPr algn="l" marL="0" indent="0">
              <a:spcBef>
                <a:spcPts val="0"/>
              </a:spcBef>
              <a:buNone/>
              <a:defRPr sz="18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02920"/>
            <a:ext cx="11277600" cy="914400"/>
          </a:xfrm>
          <a:prstGeom prst="rect">
            <a:avLst/>
          </a:prstGeom>
        </p:spPr>
        <p:txBody>
          <a:bodyPr vert="horz" lIns="0" tIns="0" rIns="0" bIns="0" rtlCol="0" anchor="t" wrap="square"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11277600" cy="4663440"/>
          </a:xfrm>
          <a:prstGeom prst="rect">
            <a:avLst/>
          </a:prstGeom>
        </p:spPr>
        <p:txBody>
          <a:bodyPr vert="horz" lIns="0" tIns="0" rIns="0" bIns="0" rtlCol="0" anchor="t" wrap="square">
            <a:no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5080"/>
            <a:ext cx="1828800" cy="228600"/>
          </a:xfrm>
          <a:prstGeom prst="rect">
            <a:avLst/>
          </a:prstGeom>
        </p:spPr>
        <p:txBody>
          <a:bodyPr vert="horz" lIns="0" tIns="0" rIns="0" bIns="0" rtlCol="0" anchor="b" wrap="square">
            <a:noAutofit/>
          </a:bodyPr>
          <a:lstStyle>
            <a:lvl1pPr algn="l" marL="0" indent="0">
              <a:spcBef>
                <a:spcPts val="0"/>
              </a:spcBef>
              <a:buNone/>
              <a:defRPr sz="1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67200" y="6355080"/>
            <a:ext cx="3657600" cy="228600"/>
          </a:xfrm>
          <a:prstGeom prst="rect">
            <a:avLst/>
          </a:prstGeom>
        </p:spPr>
        <p:txBody>
          <a:bodyPr vert="horz" lIns="0" tIns="0" rIns="0" bIns="0" rtlCol="0" anchor="b" wrap="square">
            <a:noAutofit/>
          </a:bodyPr>
          <a:lstStyle>
            <a:lvl1pPr algn="ctr" marL="0" indent="0">
              <a:spcBef>
                <a:spcPts val="0"/>
              </a:spcBef>
              <a:buNone/>
              <a:defRPr sz="1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20400" y="6355080"/>
            <a:ext cx="914400" cy="228600"/>
          </a:xfrm>
          <a:prstGeom prst="rect">
            <a:avLst/>
          </a:prstGeom>
        </p:spPr>
        <p:txBody>
          <a:bodyPr vert="horz" lIns="0" tIns="0" rIns="0" bIns="0" rtlCol="0" anchor="b" wrap="square">
            <a:noAutofit/>
          </a:bodyPr>
          <a:lstStyle>
            <a:lvl1pPr algn="r" marL="0" indent="0">
              <a:spcBef>
                <a:spcPts val="0"/>
              </a:spcBef>
              <a:buNone/>
              <a:defRPr sz="1000" b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l" marL="0" indent="0">
        <a:lnSpc>
          <a:spcPct val="90000"/>
        </a:lnSpc>
        <a:spcBef>
          <a:spcPts val="0"/>
        </a:spcBef>
        <a:buNone/>
        <a:defRPr sz="2800" b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marL="201168" indent="-201168">
        <a:spcBef>
          <a:spcPts val="600"/>
        </a:spcBef>
        <a:buFont typeface="Arial"/>
        <a:buChar char="•"/>
        <a:defRPr sz="1600" b="0">
          <a:solidFill>
            <a:schemeClr val="tx1"/>
          </a:solidFill>
          <a:latin typeface="+mn-lt"/>
          <a:ea typeface="+mn-ea"/>
          <a:cs typeface="+mn-cs"/>
        </a:defRPr>
      </a:lvl1pPr>
      <a:lvl2pPr algn="l" marL="411480" indent="-182880">
        <a:spcBef>
          <a:spcPts val="300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2pPr>
      <a:lvl3pPr algn="l" marL="594360" indent="-182880">
        <a:spcBef>
          <a:spcPts val="300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3pPr>
      <a:lvl4pPr algn="l" marL="777240" indent="-182880">
        <a:spcBef>
          <a:spcPts val="300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4pPr>
      <a:lvl5pPr algn="l" marL="960120" indent="-182880">
        <a:spcBef>
          <a:spcPts val="300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5pPr>
      <a:lvl6pPr algn="l" marL="1143000" indent="-182880">
        <a:spcBef>
          <a:spcPts val="300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6pPr>
      <a:lvl7pPr algn="l" marL="1325880" indent="-182880">
        <a:spcBef>
          <a:spcPts val="300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7pPr>
      <a:lvl8pPr algn="l" marL="1508760" indent="-182880">
        <a:spcBef>
          <a:spcPts val="300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8pPr>
      <a:lvl9pPr algn="l" marL="1691640" indent="-182880">
        <a:spcBef>
          <a:spcPts val="300"/>
        </a:spcBef>
        <a:buFont typeface="Arial"/>
        <a:buChar char="–"/>
        <a:defRPr sz="1400" b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6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7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8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9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cover-title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4000" b="0" lang="en-US">
                <a:latin typeface="+mj-lt"/>
                <a:ea typeface="+mj-ea"/>
                <a:cs typeface="+mj-cs"/>
              </a:rPr>
              <a:t>Duolingo FY2025 investor update</a:t>
            </a:r>
          </a:p>
        </p:txBody>
      </p:sp>
      <p:sp>
        <p:nvSpPr>
          <p:cNvPr id="3" name="sw:body"/>
          <p:cNvSpPr>
            <a:spLocks noGrp="1"/>
          </p:cNvSpPr>
          <p:nvPr>
            <p:ph type="subTitle" idx="1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2000" b="0" lang="en-US">
                <a:latin typeface="+mn-lt"/>
                <a:ea typeface="+mn-ea"/>
                <a:cs typeface="+mn-cs"/>
              </a:rPr>
              <a:t>Results and the 2026 plan, built only from public filings. Illustrative example, not affiliated with Duolingo, Inc. Not investment advice.</a:t>
            </a:r>
          </a:p>
          <a:p>
            <a:pPr marL="0" indent="0">
              <a:spcBef>
                <a:spcPts val="840"/>
              </a:spcBef>
              <a:buNone/>
            </a:pPr>
            <a:r>
              <a:rPr sz="1400" b="0" lang="en-US">
                <a:latin typeface="+mn-lt"/>
                <a:ea typeface="+mn-ea"/>
                <a:cs typeface="+mn-cs"/>
              </a:rPr>
              <a:t>SoWhat Decks example · Figures as published in February 2026</a:t>
            </a:r>
          </a:p>
        </p:txBody>
      </p:sp>
      <p:sp>
        <p:nvSpPr>
          <p:cNvPr id="4" name="sw:accent-rule"/>
          <p:cNvSpPr/>
          <p:nvPr/>
        </p:nvSpPr>
        <p:spPr>
          <a:xfrm>
            <a:off x="457200" y="1874520"/>
            <a:ext cx="822960" cy="54864"/>
          </a:xfrm>
          <a:prstGeom prst="rect">
            <a:avLst/>
          </a:prstGeom>
          <a:solidFill>
            <a:srgbClr val="1F5AA6"/>
          </a:solidFill>
          <a:ln>
            <a:noFill/>
          </a:ln>
        </p:spPr>
        <p:txBody>
          <a:bodyPr rtlCol="0" anchor="ctr"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Duolingo is trading 2026 bookings growth for user growth, so judge 2026 by DAUs</a:t>
            </a:r>
          </a:p>
        </p:txBody>
      </p:sp>
      <p:sp>
        <p:nvSpPr>
          <p:cNvPr id="3" name="sw:page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 sz="1000"/>
              <a:t>2</a:t>
            </a:fld>
          </a:p>
        </p:txBody>
      </p:sp>
      <p:sp>
        <p:nvSpPr>
          <p:cNvPr id="4" name="sw:source"/>
          <p:cNvSpPr txBox="1"/>
          <p:nvPr/>
        </p:nvSpPr>
        <p:spPr>
          <a:xfrm>
            <a:off x="457200" y="6405880"/>
            <a:ext cx="10226040" cy="17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Source: Duolingo FY2025 Form 10-K; Q4 FY2025 and Q4 FY2024 shareholder letters (SEC EDGAR). Adjusted EBITDA and free cash flow are non-GAAP.</a:t>
            </a:r>
          </a:p>
        </p:txBody>
      </p:sp>
      <p:sp>
        <p:nvSpPr>
          <p:cNvPr id="5" name="sw:body"/>
          <p:cNvSpPr txBox="1"/>
          <p:nvPr/>
        </p:nvSpPr>
        <p:spPr>
          <a:xfrm>
            <a:off x="1412240" y="1894967"/>
            <a:ext cx="10322560" cy="577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8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2025 delivered scale and profit</a:t>
            </a:r>
          </a:p>
          <a:p>
            <a:pPr algn="l" marL="0" indent="0">
              <a:spcBef>
                <a:spcPts val="420"/>
              </a:spcBef>
              <a:buNone/>
            </a:pPr>
            <a:r>
              <a:rPr sz="14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Revenue rose 39% to $1.04B; adjusted EBITDA margin widened from 25.7% to 29.5% (non-GAAP).</a:t>
            </a:r>
          </a:p>
        </p:txBody>
      </p:sp>
      <p:sp>
        <p:nvSpPr>
          <p:cNvPr id="6" name="sw:number"/>
          <p:cNvSpPr txBox="1"/>
          <p:nvPr/>
        </p:nvSpPr>
        <p:spPr>
          <a:xfrm>
            <a:off x="457200" y="1894967"/>
            <a:ext cx="772160" cy="577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8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cxnSp>
        <p:nvCxnSpPr>
          <p:cNvPr id="7" name="sw:rule"/>
          <p:cNvCxnSpPr/>
          <p:nvPr/>
        </p:nvCxnSpPr>
        <p:spPr>
          <a:xfrm>
            <a:off x="457200" y="2767330"/>
            <a:ext cx="11277600" cy="0"/>
          </a:xfrm>
          <a:prstGeom prst="line">
            <a:avLst/>
          </a:prstGeom>
          <a:ln w="9525">
            <a:solidFill>
              <a:srgbClr val="D5DAE0"/>
            </a:solidFill>
          </a:ln>
        </p:spPr>
      </p:cxnSp>
      <p:sp>
        <p:nvSpPr>
          <p:cNvPr id="8" name="sw:body"/>
          <p:cNvSpPr txBox="1"/>
          <p:nvPr/>
        </p:nvSpPr>
        <p:spPr>
          <a:xfrm>
            <a:off x="1412240" y="3062097"/>
            <a:ext cx="10322560" cy="577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8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But user growth slowed sharply</a:t>
            </a:r>
          </a:p>
          <a:p>
            <a:pPr algn="l" marL="0" indent="0">
              <a:spcBef>
                <a:spcPts val="420"/>
              </a:spcBef>
              <a:buNone/>
            </a:pPr>
            <a:r>
              <a:rPr sz="14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DAU growth fell from 51% to 30% and paid subscriber growth from 43% to 28% (Q4 vs Q4).</a:t>
            </a:r>
          </a:p>
        </p:txBody>
      </p:sp>
      <p:sp>
        <p:nvSpPr>
          <p:cNvPr id="9" name="sw:number"/>
          <p:cNvSpPr txBox="1"/>
          <p:nvPr/>
        </p:nvSpPr>
        <p:spPr>
          <a:xfrm>
            <a:off x="457200" y="3062097"/>
            <a:ext cx="772160" cy="577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8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cxnSp>
        <p:nvCxnSpPr>
          <p:cNvPr id="10" name="sw:rule"/>
          <p:cNvCxnSpPr/>
          <p:nvPr/>
        </p:nvCxnSpPr>
        <p:spPr>
          <a:xfrm>
            <a:off x="457200" y="3934460"/>
            <a:ext cx="11277600" cy="0"/>
          </a:xfrm>
          <a:prstGeom prst="line">
            <a:avLst/>
          </a:prstGeom>
          <a:ln w="9525">
            <a:solidFill>
              <a:srgbClr val="D5DAE0"/>
            </a:solidFill>
          </a:ln>
        </p:spPr>
      </p:cxnSp>
      <p:sp>
        <p:nvSpPr>
          <p:cNvPr id="11" name="sw:body"/>
          <p:cNvSpPr txBox="1"/>
          <p:nvPr/>
        </p:nvSpPr>
        <p:spPr>
          <a:xfrm>
            <a:off x="1412240" y="4229227"/>
            <a:ext cx="10322560" cy="577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8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The 2026 plan gives up bookings growth and margin on purpose</a:t>
            </a:r>
          </a:p>
          <a:p>
            <a:pPr algn="l" marL="0" indent="0">
              <a:spcBef>
                <a:spcPts val="420"/>
              </a:spcBef>
              <a:buNone/>
            </a:pPr>
            <a:r>
              <a:rPr sz="14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Guidance: bookings +10% to +12%, adjusted EBITDA margin 25%, over $50M of bookings invested in free users.</a:t>
            </a:r>
          </a:p>
        </p:txBody>
      </p:sp>
      <p:sp>
        <p:nvSpPr>
          <p:cNvPr id="12" name="sw:number"/>
          <p:cNvSpPr txBox="1"/>
          <p:nvPr/>
        </p:nvSpPr>
        <p:spPr>
          <a:xfrm>
            <a:off x="457200" y="4229227"/>
            <a:ext cx="772160" cy="577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8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cxnSp>
        <p:nvCxnSpPr>
          <p:cNvPr id="13" name="sw:rule"/>
          <p:cNvCxnSpPr/>
          <p:nvPr/>
        </p:nvCxnSpPr>
        <p:spPr>
          <a:xfrm>
            <a:off x="457200" y="5101590"/>
            <a:ext cx="11277600" cy="0"/>
          </a:xfrm>
          <a:prstGeom prst="line">
            <a:avLst/>
          </a:prstGeom>
          <a:ln w="9525">
            <a:solidFill>
              <a:srgbClr val="D5DAE0"/>
            </a:solidFill>
          </a:ln>
        </p:spPr>
      </p:cxnSp>
      <p:sp>
        <p:nvSpPr>
          <p:cNvPr id="14" name="sw:body"/>
          <p:cNvSpPr txBox="1"/>
          <p:nvPr/>
        </p:nvSpPr>
        <p:spPr>
          <a:xfrm>
            <a:off x="1412240" y="5396357"/>
            <a:ext cx="10322560" cy="577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8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Cash flow can fund the bet</a:t>
            </a:r>
          </a:p>
          <a:p>
            <a:pPr algn="l" marL="0" indent="0">
              <a:spcBef>
                <a:spcPts val="420"/>
              </a:spcBef>
              <a:buNone/>
            </a:pPr>
            <a:r>
              <a:rPr sz="14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$360M of free cash flow in 2025, $1.04B in cash at year end, and a $400M buyback authorization.</a:t>
            </a:r>
          </a:p>
        </p:txBody>
      </p:sp>
      <p:sp>
        <p:nvSpPr>
          <p:cNvPr id="15" name="sw:number"/>
          <p:cNvSpPr txBox="1"/>
          <p:nvPr/>
        </p:nvSpPr>
        <p:spPr>
          <a:xfrm>
            <a:off x="457200" y="5396357"/>
            <a:ext cx="772160" cy="57759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8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Revenue grew 39% to $1.04B in 2025, the first year above $1B</a:t>
            </a:r>
          </a:p>
        </p:txBody>
      </p:sp>
      <p:sp>
        <p:nvSpPr>
          <p:cNvPr id="3" name="sw:page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 sz="1000"/>
              <a:t>3</a:t>
            </a:fld>
          </a:p>
        </p:txBody>
      </p:sp>
      <p:sp>
        <p:nvSpPr>
          <p:cNvPr id="4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2025 results</a:t>
            </a:r>
          </a:p>
        </p:txBody>
      </p:sp>
      <p:sp>
        <p:nvSpPr>
          <p:cNvPr id="5" name="sw:source"/>
          <p:cNvSpPr txBox="1"/>
          <p:nvPr/>
        </p:nvSpPr>
        <p:spPr>
          <a:xfrm>
            <a:off x="457200" y="6405880"/>
            <a:ext cx="10226040" cy="17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Source: Duolingo Form 10-K FY2025, revenue (SEC XBRL company facts). Growth: 748.0 / 531.1 - 1 and 1,037.6 / 748.0 - 1.</a:t>
            </a:r>
          </a:p>
        </p:txBody>
      </p:sp>
      <p:sp>
        <p:nvSpPr>
          <p:cNvPr id="6" name="sw:exhibit-title"/>
          <p:cNvSpPr txBox="1"/>
          <p:nvPr/>
        </p:nvSpPr>
        <p:spPr>
          <a:xfrm>
            <a:off x="457200" y="1600200"/>
            <a:ext cx="7457440" cy="2499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Revenue, fiscal years, $M</a:t>
            </a:r>
          </a:p>
        </p:txBody>
      </p:sp>
      <p:graphicFrame>
        <p:nvGraphicFramePr>
          <p:cNvPr id="7" name="sw:chart"/>
          <p:cNvGraphicFramePr>
            <a:graphicFrameLocks noGrp="1"/>
          </p:cNvGraphicFramePr>
          <p:nvPr/>
        </p:nvGraphicFramePr>
        <p:xfrm>
          <a:off x="457200" y="1959864"/>
          <a:ext cx="7457440" cy="430885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w:label"/>
          <p:cNvSpPr txBox="1"/>
          <p:nvPr/>
        </p:nvSpPr>
        <p:spPr>
          <a:xfrm>
            <a:off x="8097520" y="1600200"/>
            <a:ext cx="3637280" cy="2311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So what</a:t>
            </a:r>
          </a:p>
        </p:txBody>
      </p:sp>
      <p:cxnSp>
        <p:nvCxnSpPr>
          <p:cNvPr id="9" name="sw:rule"/>
          <p:cNvCxnSpPr/>
          <p:nvPr/>
        </p:nvCxnSpPr>
        <p:spPr>
          <a:xfrm>
            <a:off x="8097520" y="1886204"/>
            <a:ext cx="3637280" cy="0"/>
          </a:xfrm>
          <a:prstGeom prst="line">
            <a:avLst/>
          </a:prstGeom>
          <a:ln w="25400">
            <a:solidFill>
              <a:srgbClr val="1F5AA6"/>
            </a:solidFill>
          </a:ln>
        </p:spPr>
      </p:cxnSp>
      <p:sp>
        <p:nvSpPr>
          <p:cNvPr id="10" name="sw:body"/>
          <p:cNvSpPr txBox="1"/>
          <p:nvPr/>
        </p:nvSpPr>
        <p:spPr>
          <a:xfrm>
            <a:off x="8097520" y="2014220"/>
            <a:ext cx="3637280" cy="425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77800" indent="-177800">
              <a:spcBef>
                <a:spcPts val="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Growth was 41% in 2024 and 39% in 2025: the top line barely slowed</a:t>
            </a:r>
          </a:p>
          <a:p>
            <a:pPr algn="l" marL="177800" indent="-177800">
              <a:spcBef>
                <a:spcPts val="96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Revenue has nearly doubled in two years, from $531M to $1,038M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Operating margin rose from 8.4% to 13.1%, and adjusted EBITDA margin reached 29.5%</a:t>
            </a:r>
          </a:p>
        </p:txBody>
      </p:sp>
      <p:sp>
        <p:nvSpPr>
          <p:cNvPr id="3" name="sw:page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 sz="1000"/>
              <a:t>4</a:t>
            </a:fld>
          </a:p>
        </p:txBody>
      </p:sp>
      <p:sp>
        <p:nvSpPr>
          <p:cNvPr id="4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2025 results</a:t>
            </a:r>
          </a:p>
        </p:txBody>
      </p:sp>
      <p:sp>
        <p:nvSpPr>
          <p:cNvPr id="5" name="sw:source"/>
          <p:cNvSpPr txBox="1"/>
          <p:nvPr/>
        </p:nvSpPr>
        <p:spPr>
          <a:xfrm>
            <a:off x="457200" y="6405880"/>
            <a:ext cx="10226040" cy="17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Source: Form 10-K FY2025 (operating income / revenue, SEC XBRL); Q4 FY2025 shareholder letter (adjusted EBITDA, non-GAAP).</a:t>
            </a:r>
          </a:p>
        </p:txBody>
      </p:sp>
      <p:sp>
        <p:nvSpPr>
          <p:cNvPr id="6" name="sw:exhibit-title"/>
          <p:cNvSpPr txBox="1"/>
          <p:nvPr/>
        </p:nvSpPr>
        <p:spPr>
          <a:xfrm>
            <a:off x="457200" y="1600200"/>
            <a:ext cx="7457440" cy="2499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Margins, fiscal years, %</a:t>
            </a:r>
          </a:p>
        </p:txBody>
      </p:sp>
      <p:graphicFrame>
        <p:nvGraphicFramePr>
          <p:cNvPr id="7" name="sw:chart"/>
          <p:cNvGraphicFramePr>
            <a:graphicFrameLocks noGrp="1"/>
          </p:cNvGraphicFramePr>
          <p:nvPr/>
        </p:nvGraphicFramePr>
        <p:xfrm>
          <a:off x="457200" y="1959864"/>
          <a:ext cx="7457440" cy="430885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w:label"/>
          <p:cNvSpPr txBox="1"/>
          <p:nvPr/>
        </p:nvSpPr>
        <p:spPr>
          <a:xfrm>
            <a:off x="8097520" y="1600200"/>
            <a:ext cx="3637280" cy="2311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So what</a:t>
            </a:r>
          </a:p>
        </p:txBody>
      </p:sp>
      <p:cxnSp>
        <p:nvCxnSpPr>
          <p:cNvPr id="9" name="sw:rule"/>
          <p:cNvCxnSpPr/>
          <p:nvPr/>
        </p:nvCxnSpPr>
        <p:spPr>
          <a:xfrm>
            <a:off x="8097520" y="1886204"/>
            <a:ext cx="3637280" cy="0"/>
          </a:xfrm>
          <a:prstGeom prst="line">
            <a:avLst/>
          </a:prstGeom>
          <a:ln w="25400">
            <a:solidFill>
              <a:srgbClr val="1F5AA6"/>
            </a:solidFill>
          </a:ln>
        </p:spPr>
      </p:cxnSp>
      <p:sp>
        <p:nvSpPr>
          <p:cNvPr id="10" name="sw:body"/>
          <p:cNvSpPr txBox="1"/>
          <p:nvPr/>
        </p:nvSpPr>
        <p:spPr>
          <a:xfrm>
            <a:off x="8097520" y="2014220"/>
            <a:ext cx="3637280" cy="425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77800" indent="-177800">
              <a:spcBef>
                <a:spcPts val="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Operating income went from a $13M loss in 2023 to $136M in 2025</a:t>
            </a:r>
          </a:p>
          <a:p>
            <a:pPr algn="l" marL="177800" indent="-177800">
              <a:spcBef>
                <a:spcPts val="96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Adjusted EBITDA margin (non-GAAP) rose from 25.7% to 29.5%; the letters used here do not give FY2023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A one-time $257M tax benefit makes up most of 2025's $414M net income</a:t>
            </a:r>
          </a:p>
        </p:txBody>
      </p:sp>
      <p:sp>
        <p:nvSpPr>
          <p:cNvPr id="3" name="sw:page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 sz="1000"/>
              <a:t>5</a:t>
            </a:fld>
          </a:p>
        </p:txBody>
      </p:sp>
      <p:sp>
        <p:nvSpPr>
          <p:cNvPr id="4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2025 results</a:t>
            </a:r>
          </a:p>
        </p:txBody>
      </p:sp>
      <p:sp>
        <p:nvSpPr>
          <p:cNvPr id="5" name="sw:source"/>
          <p:cNvSpPr txBox="1"/>
          <p:nvPr/>
        </p:nvSpPr>
        <p:spPr>
          <a:xfrm>
            <a:off x="457200" y="6405880"/>
            <a:ext cx="10226040" cy="17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Source: Form 10-K FY2025 (net income, SEC XBRL); Q4 FY2025 shareholder letter ($256.7M one-time benefit). Rest = 414.1 - 256.7, not a company-reported figure.</a:t>
            </a:r>
          </a:p>
        </p:txBody>
      </p:sp>
      <p:sp>
        <p:nvSpPr>
          <p:cNvPr id="6" name="sw:exhibit-title"/>
          <p:cNvSpPr txBox="1"/>
          <p:nvPr/>
        </p:nvSpPr>
        <p:spPr>
          <a:xfrm>
            <a:off x="457200" y="1600200"/>
            <a:ext cx="7457440" cy="2499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FY2025 net income by component, $M</a:t>
            </a:r>
          </a:p>
        </p:txBody>
      </p:sp>
      <p:graphicFrame>
        <p:nvGraphicFramePr>
          <p:cNvPr id="7" name="sw:chart"/>
          <p:cNvGraphicFramePr>
            <a:graphicFrameLocks noGrp="1"/>
          </p:cNvGraphicFramePr>
          <p:nvPr/>
        </p:nvGraphicFramePr>
        <p:xfrm>
          <a:off x="457200" y="1959864"/>
          <a:ext cx="7457440" cy="430885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w:label"/>
          <p:cNvSpPr txBox="1"/>
          <p:nvPr/>
        </p:nvSpPr>
        <p:spPr>
          <a:xfrm>
            <a:off x="5308730" y="5260161"/>
            <a:ext cx="2605910" cy="198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2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Rest of net income</a:t>
            </a:r>
          </a:p>
        </p:txBody>
      </p:sp>
      <p:sp>
        <p:nvSpPr>
          <p:cNvPr id="9" name="sw:label"/>
          <p:cNvSpPr txBox="1"/>
          <p:nvPr/>
        </p:nvSpPr>
        <p:spPr>
          <a:xfrm>
            <a:off x="5308730" y="3709366"/>
            <a:ext cx="2605910" cy="1981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2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One-time tax benefit</a:t>
            </a:r>
          </a:p>
        </p:txBody>
      </p:sp>
      <p:sp>
        <p:nvSpPr>
          <p:cNvPr id="10" name="sw:label"/>
          <p:cNvSpPr txBox="1"/>
          <p:nvPr/>
        </p:nvSpPr>
        <p:spPr>
          <a:xfrm>
            <a:off x="531774" y="2623571"/>
            <a:ext cx="5714644" cy="19812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ctr" marL="0" indent="0">
              <a:spcBef>
                <a:spcPts val="0"/>
              </a:spcBef>
              <a:buNone/>
            </a:pPr>
            <a:r>
              <a:rPr sz="12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414</a:t>
            </a:r>
          </a:p>
        </p:txBody>
      </p:sp>
      <p:sp>
        <p:nvSpPr>
          <p:cNvPr id="11" name="sw:label"/>
          <p:cNvSpPr txBox="1"/>
          <p:nvPr/>
        </p:nvSpPr>
        <p:spPr>
          <a:xfrm>
            <a:off x="8097520" y="1600200"/>
            <a:ext cx="3637280" cy="2311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So what</a:t>
            </a:r>
          </a:p>
        </p:txBody>
      </p:sp>
      <p:cxnSp>
        <p:nvCxnSpPr>
          <p:cNvPr id="12" name="sw:rule"/>
          <p:cNvCxnSpPr/>
          <p:nvPr/>
        </p:nvCxnSpPr>
        <p:spPr>
          <a:xfrm>
            <a:off x="8097520" y="1886204"/>
            <a:ext cx="3637280" cy="0"/>
          </a:xfrm>
          <a:prstGeom prst="line">
            <a:avLst/>
          </a:prstGeom>
          <a:ln w="25400">
            <a:solidFill>
              <a:srgbClr val="1F5AA6"/>
            </a:solidFill>
          </a:ln>
        </p:spPr>
      </p:cxnSp>
      <p:sp>
        <p:nvSpPr>
          <p:cNvPr id="13" name="sw:body"/>
          <p:cNvSpPr txBox="1"/>
          <p:nvPr/>
        </p:nvSpPr>
        <p:spPr>
          <a:xfrm>
            <a:off x="8097520" y="2014220"/>
            <a:ext cx="3637280" cy="425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77800" indent="-177800">
              <a:spcBef>
                <a:spcPts val="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62% of 2025 net income came from releasing a tax valuation allowance</a:t>
            </a:r>
          </a:p>
          <a:p>
            <a:pPr algn="l" marL="177800" indent="-177800">
              <a:spcBef>
                <a:spcPts val="96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Without it, net income was about $157M, still up from $89M in 2024</a:t>
            </a:r>
          </a:p>
          <a:p>
            <a:pPr algn="l" marL="177800" indent="-177800">
              <a:spcBef>
                <a:spcPts val="96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Read 2025 profit through operating margin, not net income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User growth slowed in 2025: DAUs grew 30% after 51%, and MAUs 14% after 32%</a:t>
            </a:r>
          </a:p>
        </p:txBody>
      </p:sp>
      <p:sp>
        <p:nvSpPr>
          <p:cNvPr id="3" name="sw:page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 sz="1000"/>
              <a:t>6</a:t>
            </a:fld>
          </a:p>
        </p:txBody>
      </p:sp>
      <p:sp>
        <p:nvSpPr>
          <p:cNvPr id="4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User engine</a:t>
            </a:r>
          </a:p>
        </p:txBody>
      </p:sp>
      <p:sp>
        <p:nvSpPr>
          <p:cNvPr id="5" name="sw:source"/>
          <p:cNvSpPr txBox="1"/>
          <p:nvPr/>
        </p:nvSpPr>
        <p:spPr>
          <a:xfrm>
            <a:off x="457200" y="6405880"/>
            <a:ext cx="10226040" cy="17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Source: Duolingo shareholder letters, Q4 FY2025 and Q4 FY2024 (SEC EDGAR).</a:t>
            </a:r>
          </a:p>
        </p:txBody>
      </p:sp>
      <p:sp>
        <p:nvSpPr>
          <p:cNvPr id="6" name="sw:exhibit-title"/>
          <p:cNvSpPr txBox="1"/>
          <p:nvPr/>
        </p:nvSpPr>
        <p:spPr>
          <a:xfrm>
            <a:off x="457200" y="1600200"/>
            <a:ext cx="7457440" cy="2499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Growth vs the prior year's fourth quarter, %</a:t>
            </a:r>
          </a:p>
        </p:txBody>
      </p:sp>
      <p:graphicFrame>
        <p:nvGraphicFramePr>
          <p:cNvPr id="7" name="sw:chart"/>
          <p:cNvGraphicFramePr>
            <a:graphicFrameLocks noGrp="1"/>
          </p:cNvGraphicFramePr>
          <p:nvPr/>
        </p:nvGraphicFramePr>
        <p:xfrm>
          <a:off x="457200" y="1959864"/>
          <a:ext cx="7457440" cy="430885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w:label"/>
          <p:cNvSpPr txBox="1"/>
          <p:nvPr/>
        </p:nvSpPr>
        <p:spPr>
          <a:xfrm>
            <a:off x="8097520" y="1600200"/>
            <a:ext cx="3637280" cy="2311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So what</a:t>
            </a:r>
          </a:p>
        </p:txBody>
      </p:sp>
      <p:cxnSp>
        <p:nvCxnSpPr>
          <p:cNvPr id="9" name="sw:rule"/>
          <p:cNvCxnSpPr/>
          <p:nvPr/>
        </p:nvCxnSpPr>
        <p:spPr>
          <a:xfrm>
            <a:off x="8097520" y="1886204"/>
            <a:ext cx="3637280" cy="0"/>
          </a:xfrm>
          <a:prstGeom prst="line">
            <a:avLst/>
          </a:prstGeom>
          <a:ln w="25400">
            <a:solidFill>
              <a:srgbClr val="1F5AA6"/>
            </a:solidFill>
          </a:ln>
        </p:spPr>
      </p:cxnSp>
      <p:sp>
        <p:nvSpPr>
          <p:cNvPr id="10" name="sw:body"/>
          <p:cNvSpPr txBox="1"/>
          <p:nvPr/>
        </p:nvSpPr>
        <p:spPr>
          <a:xfrm>
            <a:off x="8097520" y="2014220"/>
            <a:ext cx="3637280" cy="425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77800" indent="-177800">
              <a:spcBef>
                <a:spcPts val="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Every user metric grew more slowly in 2025 than in 2024</a:t>
            </a:r>
          </a:p>
          <a:p>
            <a:pPr algn="l" marL="177800" indent="-177800">
              <a:spcBef>
                <a:spcPts val="96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Q4 2025 base: 52.7M DAUs, 133.1M MAUs, 12.2M paid subscribers</a:t>
            </a:r>
          </a:p>
          <a:p>
            <a:pPr algn="l" marL="177800" indent="-177800">
              <a:spcBef>
                <a:spcPts val="96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DAUs feed future subscribers, so this is the number the 2026 plan targets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Engagement still deepened: 40% of monthly users now open the app daily, up from 35%</a:t>
            </a:r>
          </a:p>
        </p:txBody>
      </p:sp>
      <p:sp>
        <p:nvSpPr>
          <p:cNvPr id="3" name="sw:page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 sz="1000"/>
              <a:t>7</a:t>
            </a:fld>
          </a:p>
        </p:txBody>
      </p:sp>
      <p:sp>
        <p:nvSpPr>
          <p:cNvPr id="4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User engine</a:t>
            </a:r>
          </a:p>
        </p:txBody>
      </p:sp>
      <p:sp>
        <p:nvSpPr>
          <p:cNvPr id="5" name="sw:source"/>
          <p:cNvSpPr txBox="1"/>
          <p:nvPr/>
        </p:nvSpPr>
        <p:spPr>
          <a:xfrm>
            <a:off x="457200" y="6405880"/>
            <a:ext cx="10226040" cy="17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Source: Duolingo shareholder letters, Q4 FY2025 and Q4 FY2024. Ratio = DAUs / MAUs: 40.5 / 116.7 and 52.7 / 133.1.</a:t>
            </a:r>
          </a:p>
        </p:txBody>
      </p:sp>
      <p:sp>
        <p:nvSpPr>
          <p:cNvPr id="6" name="sw:exhibit-title"/>
          <p:cNvSpPr txBox="1"/>
          <p:nvPr/>
        </p:nvSpPr>
        <p:spPr>
          <a:xfrm>
            <a:off x="457200" y="1600200"/>
            <a:ext cx="7457440" cy="2499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Daily active users as a share of monthly active users, Q4, %</a:t>
            </a:r>
          </a:p>
        </p:txBody>
      </p:sp>
      <p:graphicFrame>
        <p:nvGraphicFramePr>
          <p:cNvPr id="7" name="sw:chart"/>
          <p:cNvGraphicFramePr>
            <a:graphicFrameLocks noGrp="1"/>
          </p:cNvGraphicFramePr>
          <p:nvPr/>
        </p:nvGraphicFramePr>
        <p:xfrm>
          <a:off x="457200" y="1959864"/>
          <a:ext cx="7457440" cy="430885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w:label"/>
          <p:cNvSpPr txBox="1"/>
          <p:nvPr/>
        </p:nvSpPr>
        <p:spPr>
          <a:xfrm>
            <a:off x="8097520" y="1600200"/>
            <a:ext cx="3637280" cy="2311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So what</a:t>
            </a:r>
          </a:p>
        </p:txBody>
      </p:sp>
      <p:cxnSp>
        <p:nvCxnSpPr>
          <p:cNvPr id="9" name="sw:rule"/>
          <p:cNvCxnSpPr/>
          <p:nvPr/>
        </p:nvCxnSpPr>
        <p:spPr>
          <a:xfrm>
            <a:off x="8097520" y="1886204"/>
            <a:ext cx="3637280" cy="0"/>
          </a:xfrm>
          <a:prstGeom prst="line">
            <a:avLst/>
          </a:prstGeom>
          <a:ln w="25400">
            <a:solidFill>
              <a:srgbClr val="1F5AA6"/>
            </a:solidFill>
          </a:ln>
        </p:spPr>
      </p:cxnSp>
      <p:sp>
        <p:nvSpPr>
          <p:cNvPr id="10" name="sw:body"/>
          <p:cNvSpPr txBox="1"/>
          <p:nvPr/>
        </p:nvSpPr>
        <p:spPr>
          <a:xfrm>
            <a:off x="8097520" y="2014220"/>
            <a:ext cx="3637280" cy="425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77800" indent="-177800">
              <a:spcBef>
                <a:spcPts val="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Fewer new users arrived, but the ones who stayed used the app more often</a:t>
            </a:r>
          </a:p>
          <a:p>
            <a:pPr algn="l" marL="177800" indent="-177800">
              <a:spcBef>
                <a:spcPts val="96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Daily habit is what converts free users into subscribers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Paid subscribers grew 28% to 12.2M, slower than the 43% of a year earlier</a:t>
            </a:r>
          </a:p>
        </p:txBody>
      </p:sp>
      <p:sp>
        <p:nvSpPr>
          <p:cNvPr id="3" name="sw:page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 sz="1000"/>
              <a:t>8</a:t>
            </a:fld>
          </a:p>
        </p:txBody>
      </p:sp>
      <p:sp>
        <p:nvSpPr>
          <p:cNvPr id="4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User engine</a:t>
            </a:r>
          </a:p>
        </p:txBody>
      </p:sp>
      <p:sp>
        <p:nvSpPr>
          <p:cNvPr id="5" name="sw:source"/>
          <p:cNvSpPr txBox="1"/>
          <p:nvPr/>
        </p:nvSpPr>
        <p:spPr>
          <a:xfrm>
            <a:off x="457200" y="6405880"/>
            <a:ext cx="10226040" cy="17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Source: Duolingo shareholder letters, Q4 FY2025 and Q4 FY2024. Paid share = paid subscribers / MAUs: 9.5 / 116.7 and 12.2 / 133.1.</a:t>
            </a:r>
          </a:p>
        </p:txBody>
      </p:sp>
      <p:sp>
        <p:nvSpPr>
          <p:cNvPr id="6" name="sw:exhibit-title"/>
          <p:cNvSpPr txBox="1"/>
          <p:nvPr/>
        </p:nvSpPr>
        <p:spPr>
          <a:xfrm>
            <a:off x="457200" y="1600200"/>
            <a:ext cx="7457440" cy="2499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Paid subscribers at quarter end, M</a:t>
            </a:r>
          </a:p>
        </p:txBody>
      </p:sp>
      <p:graphicFrame>
        <p:nvGraphicFramePr>
          <p:cNvPr id="7" name="sw:chart"/>
          <p:cNvGraphicFramePr>
            <a:graphicFrameLocks noGrp="1"/>
          </p:cNvGraphicFramePr>
          <p:nvPr/>
        </p:nvGraphicFramePr>
        <p:xfrm>
          <a:off x="457200" y="1959864"/>
          <a:ext cx="7457440" cy="430885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w:label"/>
          <p:cNvSpPr txBox="1"/>
          <p:nvPr/>
        </p:nvSpPr>
        <p:spPr>
          <a:xfrm>
            <a:off x="8097520" y="1600200"/>
            <a:ext cx="3637280" cy="2311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So what</a:t>
            </a:r>
          </a:p>
        </p:txBody>
      </p:sp>
      <p:cxnSp>
        <p:nvCxnSpPr>
          <p:cNvPr id="9" name="sw:rule"/>
          <p:cNvCxnSpPr/>
          <p:nvPr/>
        </p:nvCxnSpPr>
        <p:spPr>
          <a:xfrm>
            <a:off x="8097520" y="1886204"/>
            <a:ext cx="3637280" cy="0"/>
          </a:xfrm>
          <a:prstGeom prst="line">
            <a:avLst/>
          </a:prstGeom>
          <a:ln w="25400">
            <a:solidFill>
              <a:srgbClr val="1F5AA6"/>
            </a:solidFill>
          </a:ln>
        </p:spPr>
      </p:cxnSp>
      <p:sp>
        <p:nvSpPr>
          <p:cNvPr id="10" name="sw:body"/>
          <p:cNvSpPr txBox="1"/>
          <p:nvPr/>
        </p:nvSpPr>
        <p:spPr>
          <a:xfrm>
            <a:off x="8097520" y="2014220"/>
            <a:ext cx="3637280" cy="425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77800" indent="-177800">
              <a:spcBef>
                <a:spcPts val="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The paid share of monthly users still rose, from 8.1% to 9.2%</a:t>
            </a:r>
          </a:p>
          <a:p>
            <a:pPr algn="l" marL="177800" indent="-177800">
              <a:spcBef>
                <a:spcPts val="96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Monetization of the base improves even as the base grows more slowly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2026 guidance cuts bookings growth to 10-12% by giving up over $50M of bookings to grow free users</a:t>
            </a:r>
          </a:p>
        </p:txBody>
      </p:sp>
      <p:sp>
        <p:nvSpPr>
          <p:cNvPr id="3" name="sw:page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 sz="1000"/>
              <a:t>9</a:t>
            </a:fld>
          </a:p>
        </p:txBody>
      </p:sp>
      <p:sp>
        <p:nvSpPr>
          <p:cNvPr id="4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2026 plan</a:t>
            </a:r>
          </a:p>
        </p:txBody>
      </p:sp>
      <p:sp>
        <p:nvSpPr>
          <p:cNvPr id="5" name="sw:source"/>
          <p:cNvSpPr txBox="1"/>
          <p:nvPr/>
        </p:nvSpPr>
        <p:spPr>
          <a:xfrm>
            <a:off x="457200" y="6253480"/>
            <a:ext cx="10226040" cy="330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FY2026 is company guidance, not a result.</a:t>
            </a:r>
          </a:p>
          <a:p>
            <a:pPr algn="l" marL="0" indent="0">
              <a:spcBef>
                <a:spcPts val="0"/>
              </a:spcBef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Source: Duolingo Q4 FY2025 and Q4 FY2024 shareholder letters. FY2026 bar = guidance midpoint: (1,274 + 1,298) / 2 / 1,158.4 - 1 = 11%.</a:t>
            </a:r>
          </a:p>
        </p:txBody>
      </p:sp>
      <p:sp>
        <p:nvSpPr>
          <p:cNvPr id="6" name="sw:exhibit-title"/>
          <p:cNvSpPr txBox="1"/>
          <p:nvPr/>
        </p:nvSpPr>
        <p:spPr>
          <a:xfrm>
            <a:off x="457200" y="1600200"/>
            <a:ext cx="7457440" cy="2499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Total bookings growth, year over year, %</a:t>
            </a:r>
          </a:p>
        </p:txBody>
      </p:sp>
      <p:graphicFrame>
        <p:nvGraphicFramePr>
          <p:cNvPr id="7" name="sw:chart"/>
          <p:cNvGraphicFramePr>
            <a:graphicFrameLocks noGrp="1"/>
          </p:cNvGraphicFramePr>
          <p:nvPr/>
        </p:nvGraphicFramePr>
        <p:xfrm>
          <a:off x="457200" y="1959864"/>
          <a:ext cx="7457440" cy="415645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w:label"/>
          <p:cNvSpPr txBox="1"/>
          <p:nvPr/>
        </p:nvSpPr>
        <p:spPr>
          <a:xfrm>
            <a:off x="8097520" y="1600200"/>
            <a:ext cx="3637280" cy="2311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So what</a:t>
            </a:r>
          </a:p>
        </p:txBody>
      </p:sp>
      <p:cxnSp>
        <p:nvCxnSpPr>
          <p:cNvPr id="9" name="sw:rule"/>
          <p:cNvCxnSpPr/>
          <p:nvPr/>
        </p:nvCxnSpPr>
        <p:spPr>
          <a:xfrm>
            <a:off x="8097520" y="1886204"/>
            <a:ext cx="3637280" cy="0"/>
          </a:xfrm>
          <a:prstGeom prst="line">
            <a:avLst/>
          </a:prstGeom>
          <a:ln w="25400">
            <a:solidFill>
              <a:srgbClr val="1F5AA6"/>
            </a:solidFill>
          </a:ln>
        </p:spPr>
      </p:cxnSp>
      <p:sp>
        <p:nvSpPr>
          <p:cNvPr id="10" name="sw:body"/>
          <p:cNvSpPr txBox="1"/>
          <p:nvPr/>
        </p:nvSpPr>
        <p:spPr>
          <a:xfrm>
            <a:off x="8097520" y="2014220"/>
            <a:ext cx="3637280" cy="4102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77800" indent="-177800">
              <a:spcBef>
                <a:spcPts val="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Guidance: bookings of $1,274M to $1,298M in 2026</a:t>
            </a:r>
          </a:p>
          <a:p>
            <a:pPr algn="l" marL="177800" indent="-177800">
              <a:spcBef>
                <a:spcPts val="96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Management puts the cost at over $50M of bookings, about 5 points of growth</a:t>
            </a:r>
          </a:p>
          <a:p>
            <a:pPr algn="l" marL="177800" indent="-177800">
              <a:spcBef>
                <a:spcPts val="96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The money goes into the free user experience to grow users faster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Margins step down in 2026: gross margin to about 69% on AI costs, adjusted EBITDA margin to 25%</a:t>
            </a:r>
          </a:p>
        </p:txBody>
      </p:sp>
      <p:sp>
        <p:nvSpPr>
          <p:cNvPr id="3" name="sw:page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 sz="1000"/>
              <a:t>10</a:t>
            </a:fld>
          </a:p>
        </p:txBody>
      </p:sp>
      <p:sp>
        <p:nvSpPr>
          <p:cNvPr id="4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2026 plan</a:t>
            </a:r>
          </a:p>
        </p:txBody>
      </p:sp>
      <p:sp>
        <p:nvSpPr>
          <p:cNvPr id="5" name="sw:source"/>
          <p:cNvSpPr txBox="1"/>
          <p:nvPr/>
        </p:nvSpPr>
        <p:spPr>
          <a:xfrm>
            <a:off x="457200" y="6253480"/>
            <a:ext cx="10226040" cy="330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Q1 2026 and rest of 2026 are company guidance, not results.</a:t>
            </a:r>
          </a:p>
          <a:p>
            <a:pPr algn="l" marL="0" indent="0">
              <a:spcBef>
                <a:spcPts val="0"/>
              </a:spcBef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Source: Form 10-K FY2025 (gross profit / revenue, SEC XBRL); Q4 FY2025 shareholder letter (2026 outlook: about 71% in Q1, roughly 69% after).</a:t>
            </a:r>
          </a:p>
        </p:txBody>
      </p:sp>
      <p:sp>
        <p:nvSpPr>
          <p:cNvPr id="6" name="sw:exhibit-title"/>
          <p:cNvSpPr txBox="1"/>
          <p:nvPr/>
        </p:nvSpPr>
        <p:spPr>
          <a:xfrm>
            <a:off x="457200" y="1600200"/>
            <a:ext cx="7457440" cy="2499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Gross margin, fiscal years and 2026 guidance, %</a:t>
            </a:r>
          </a:p>
        </p:txBody>
      </p:sp>
      <p:graphicFrame>
        <p:nvGraphicFramePr>
          <p:cNvPr id="7" name="sw:chart"/>
          <p:cNvGraphicFramePr>
            <a:graphicFrameLocks noGrp="1"/>
          </p:cNvGraphicFramePr>
          <p:nvPr/>
        </p:nvGraphicFramePr>
        <p:xfrm>
          <a:off x="457200" y="1959864"/>
          <a:ext cx="7457440" cy="415645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w:label"/>
          <p:cNvSpPr txBox="1"/>
          <p:nvPr/>
        </p:nvSpPr>
        <p:spPr>
          <a:xfrm>
            <a:off x="8097520" y="1600200"/>
            <a:ext cx="3637280" cy="2311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So what</a:t>
            </a:r>
          </a:p>
        </p:txBody>
      </p:sp>
      <p:cxnSp>
        <p:nvCxnSpPr>
          <p:cNvPr id="9" name="sw:rule"/>
          <p:cNvCxnSpPr/>
          <p:nvPr/>
        </p:nvCxnSpPr>
        <p:spPr>
          <a:xfrm>
            <a:off x="8097520" y="1886204"/>
            <a:ext cx="3637280" cy="0"/>
          </a:xfrm>
          <a:prstGeom prst="line">
            <a:avLst/>
          </a:prstGeom>
          <a:ln w="25400">
            <a:solidFill>
              <a:srgbClr val="1F5AA6"/>
            </a:solidFill>
          </a:ln>
        </p:spPr>
      </p:cxnSp>
      <p:sp>
        <p:nvSpPr>
          <p:cNvPr id="10" name="sw:body"/>
          <p:cNvSpPr txBox="1"/>
          <p:nvPr/>
        </p:nvSpPr>
        <p:spPr>
          <a:xfrm>
            <a:off x="8097520" y="2014220"/>
            <a:ext cx="3637280" cy="41021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77800" indent="-177800">
              <a:spcBef>
                <a:spcPts val="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Gross margin was about 72-73% for three years</a:t>
            </a:r>
          </a:p>
          <a:p>
            <a:pPr algn="l" marL="177800" indent="-177800">
              <a:spcBef>
                <a:spcPts val="96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AI-powered features for all users drive the 2026 step-down</a:t>
            </a:r>
          </a:p>
          <a:p>
            <a:pPr algn="l" marL="177800" indent="-177800">
              <a:spcBef>
                <a:spcPts val="96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Adjusted EBITDA margin guidance: 25.0%, down from 29.5%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$360M of free cash flow and $1.04B in cash can fund the user bet and a $400M buyback</a:t>
            </a:r>
          </a:p>
        </p:txBody>
      </p:sp>
      <p:sp>
        <p:nvSpPr>
          <p:cNvPr id="3" name="sw:page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 sz="1000"/>
              <a:t>11</a:t>
            </a:fld>
          </a:p>
        </p:txBody>
      </p:sp>
      <p:sp>
        <p:nvSpPr>
          <p:cNvPr id="4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Cash</a:t>
            </a:r>
          </a:p>
        </p:txBody>
      </p:sp>
      <p:sp>
        <p:nvSpPr>
          <p:cNvPr id="5" name="sw:source"/>
          <p:cNvSpPr txBox="1"/>
          <p:nvPr/>
        </p:nvSpPr>
        <p:spPr>
          <a:xfrm>
            <a:off x="457200" y="6405880"/>
            <a:ext cx="10226040" cy="17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Source: Form 10-K FY2025 (cash and operating cash flow, SEC XBRL); Q4 FY2025 shareholder letter (free cash flow, non-GAAP; $400M authorization).</a:t>
            </a:r>
          </a:p>
        </p:txBody>
      </p:sp>
      <p:sp>
        <p:nvSpPr>
          <p:cNvPr id="6" name="sw:exhibit-title"/>
          <p:cNvSpPr txBox="1"/>
          <p:nvPr/>
        </p:nvSpPr>
        <p:spPr>
          <a:xfrm>
            <a:off x="457200" y="1600200"/>
            <a:ext cx="7457440" cy="24993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Cash resources and the buyback authorization, $M</a:t>
            </a:r>
          </a:p>
        </p:txBody>
      </p:sp>
      <p:graphicFrame>
        <p:nvGraphicFramePr>
          <p:cNvPr id="7" name="sw:chart"/>
          <p:cNvGraphicFramePr>
            <a:graphicFrameLocks noGrp="1"/>
          </p:cNvGraphicFramePr>
          <p:nvPr/>
        </p:nvGraphicFramePr>
        <p:xfrm>
          <a:off x="457200" y="1959864"/>
          <a:ext cx="7457440" cy="4308856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w:label"/>
          <p:cNvSpPr txBox="1"/>
          <p:nvPr/>
        </p:nvSpPr>
        <p:spPr>
          <a:xfrm>
            <a:off x="8097520" y="1600200"/>
            <a:ext cx="3637280" cy="23114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So what</a:t>
            </a:r>
          </a:p>
        </p:txBody>
      </p:sp>
      <p:cxnSp>
        <p:nvCxnSpPr>
          <p:cNvPr id="9" name="sw:rule"/>
          <p:cNvCxnSpPr/>
          <p:nvPr/>
        </p:nvCxnSpPr>
        <p:spPr>
          <a:xfrm>
            <a:off x="8097520" y="1886204"/>
            <a:ext cx="3637280" cy="0"/>
          </a:xfrm>
          <a:prstGeom prst="line">
            <a:avLst/>
          </a:prstGeom>
          <a:ln w="25400">
            <a:solidFill>
              <a:srgbClr val="1F5AA6"/>
            </a:solidFill>
          </a:ln>
        </p:spPr>
      </p:cxnSp>
      <p:sp>
        <p:nvSpPr>
          <p:cNvPr id="10" name="sw:body"/>
          <p:cNvSpPr txBox="1"/>
          <p:nvPr/>
        </p:nvSpPr>
        <p:spPr>
          <a:xfrm>
            <a:off x="8097520" y="2014220"/>
            <a:ext cx="3637280" cy="4254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177800" indent="-177800">
              <a:spcBef>
                <a:spcPts val="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Free cash flow rose 36% from $264M in 2024 (non-GAAP)</a:t>
            </a:r>
          </a:p>
          <a:p>
            <a:pPr algn="l" marL="177800" indent="-177800">
              <a:spcBef>
                <a:spcPts val="96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Operating cash flow was $388M in 2025, up from $286M</a:t>
            </a:r>
          </a:p>
          <a:p>
            <a:pPr algn="l" marL="177800" indent="-177800">
              <a:spcBef>
                <a:spcPts val="960"/>
              </a:spcBef>
              <a:buFont typeface="Arial"/>
              <a:buChar char="•"/>
            </a:pPr>
            <a:r>
              <a:rPr sz="16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The buyback is an authorization; timing is at the company's discretion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Judge 2026 by whether DAU growth re-accelerates above 2025's 30%, not by bookings growth</a:t>
            </a:r>
          </a:p>
        </p:txBody>
      </p:sp>
      <p:sp>
        <p:nvSpPr>
          <p:cNvPr id="3" name="sw:page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 sz="1000"/>
              <a:t>12</a:t>
            </a:fld>
          </a:p>
        </p:txBody>
      </p:sp>
      <p:sp>
        <p:nvSpPr>
          <p:cNvPr id="4" name="sw:source"/>
          <p:cNvSpPr txBox="1"/>
          <p:nvPr/>
        </p:nvSpPr>
        <p:spPr>
          <a:xfrm>
            <a:off x="457200" y="6405880"/>
            <a:ext cx="10226040" cy="1778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Source: Q4 FY2025 shareholder letter (Q4 2025 DAU growth, 2026 guidance and gross-margin outlook).</a:t>
            </a:r>
          </a:p>
        </p:txBody>
      </p:sp>
      <p:sp>
        <p:nvSpPr>
          <p:cNvPr id="5" name="sw:label"/>
          <p:cNvSpPr txBox="1"/>
          <p:nvPr/>
        </p:nvSpPr>
        <p:spPr>
          <a:xfrm>
            <a:off x="8097520" y="1600200"/>
            <a:ext cx="1727200" cy="32004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2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Owner</a:t>
            </a:r>
          </a:p>
        </p:txBody>
      </p:sp>
      <p:sp>
        <p:nvSpPr>
          <p:cNvPr id="6" name="sw:label"/>
          <p:cNvSpPr txBox="1"/>
          <p:nvPr/>
        </p:nvSpPr>
        <p:spPr>
          <a:xfrm>
            <a:off x="10007600" y="1600200"/>
            <a:ext cx="1727200" cy="32004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200" b="1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Timing</a:t>
            </a:r>
          </a:p>
        </p:txBody>
      </p:sp>
      <p:cxnSp>
        <p:nvCxnSpPr>
          <p:cNvPr id="7" name="sw:rule"/>
          <p:cNvCxnSpPr/>
          <p:nvPr/>
        </p:nvCxnSpPr>
        <p:spPr>
          <a:xfrm>
            <a:off x="457200" y="1975104"/>
            <a:ext cx="11277600" cy="0"/>
          </a:xfrm>
          <a:prstGeom prst="line">
            <a:avLst/>
          </a:prstGeom>
          <a:ln w="9525">
            <a:solidFill>
              <a:srgbClr val="1E2329"/>
            </a:solidFill>
          </a:ln>
        </p:spPr>
      </p:cxnSp>
      <p:sp>
        <p:nvSpPr>
          <p:cNvPr id="8" name="sw:body"/>
          <p:cNvSpPr txBox="1"/>
          <p:nvPr/>
        </p:nvSpPr>
        <p:spPr>
          <a:xfrm>
            <a:off x="1412240" y="2240280"/>
            <a:ext cx="6502400" cy="7604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6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Track DAU growth against the 30% of Q4 2025</a:t>
            </a:r>
          </a:p>
          <a:p>
            <a:pPr algn="l" marL="0" indent="0">
              <a:spcBef>
                <a:spcPts val="420"/>
              </a:spcBef>
              <a:buNone/>
            </a:pPr>
            <a:r>
              <a:rPr sz="14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The plan only works if user growth speeds up; this is the first number to read in each letter</a:t>
            </a:r>
          </a:p>
        </p:txBody>
      </p:sp>
      <p:sp>
        <p:nvSpPr>
          <p:cNvPr id="9" name="sw:number"/>
          <p:cNvSpPr txBox="1"/>
          <p:nvPr/>
        </p:nvSpPr>
        <p:spPr>
          <a:xfrm>
            <a:off x="457200" y="2240280"/>
            <a:ext cx="772160" cy="7604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6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1</a:t>
            </a:r>
          </a:p>
        </p:txBody>
      </p:sp>
      <p:cxnSp>
        <p:nvCxnSpPr>
          <p:cNvPr id="10" name="sw:rule"/>
          <p:cNvCxnSpPr/>
          <p:nvPr/>
        </p:nvCxnSpPr>
        <p:spPr>
          <a:xfrm>
            <a:off x="457200" y="3265932"/>
            <a:ext cx="11277600" cy="0"/>
          </a:xfrm>
          <a:prstGeom prst="line">
            <a:avLst/>
          </a:prstGeom>
          <a:ln w="9525">
            <a:solidFill>
              <a:srgbClr val="D5DAE0"/>
            </a:solidFill>
          </a:ln>
        </p:spPr>
      </p:cxnSp>
      <p:sp>
        <p:nvSpPr>
          <p:cNvPr id="11" name="sw:body"/>
          <p:cNvSpPr txBox="1"/>
          <p:nvPr/>
        </p:nvSpPr>
        <p:spPr>
          <a:xfrm>
            <a:off x="1412240" y="3531108"/>
            <a:ext cx="6502400" cy="5471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6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Check bookings against the $1,274M to $1,298M guidance</a:t>
            </a:r>
          </a:p>
          <a:p>
            <a:pPr algn="l" marL="0" indent="0">
              <a:spcBef>
                <a:spcPts val="420"/>
              </a:spcBef>
              <a:buNone/>
            </a:pPr>
            <a:r>
              <a:rPr sz="14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Slower bookings growth is planned; a miss below the range is not</a:t>
            </a:r>
          </a:p>
        </p:txBody>
      </p:sp>
      <p:sp>
        <p:nvSpPr>
          <p:cNvPr id="12" name="sw:number"/>
          <p:cNvSpPr txBox="1"/>
          <p:nvPr/>
        </p:nvSpPr>
        <p:spPr>
          <a:xfrm>
            <a:off x="457200" y="3531108"/>
            <a:ext cx="772160" cy="54711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6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2</a:t>
            </a:r>
          </a:p>
        </p:txBody>
      </p:sp>
      <p:cxnSp>
        <p:nvCxnSpPr>
          <p:cNvPr id="13" name="sw:rule"/>
          <p:cNvCxnSpPr/>
          <p:nvPr/>
        </p:nvCxnSpPr>
        <p:spPr>
          <a:xfrm>
            <a:off x="457200" y="4343400"/>
            <a:ext cx="11277600" cy="0"/>
          </a:xfrm>
          <a:prstGeom prst="line">
            <a:avLst/>
          </a:prstGeom>
          <a:ln w="9525">
            <a:solidFill>
              <a:srgbClr val="D5DAE0"/>
            </a:solidFill>
          </a:ln>
        </p:spPr>
      </p:cxnSp>
      <p:sp>
        <p:nvSpPr>
          <p:cNvPr id="14" name="sw:body"/>
          <p:cNvSpPr txBox="1"/>
          <p:nvPr/>
        </p:nvSpPr>
        <p:spPr>
          <a:xfrm>
            <a:off x="1412240" y="4608576"/>
            <a:ext cx="6502400" cy="7604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600" b="1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Watch gross margin against the roughly 69% outlook</a:t>
            </a:r>
          </a:p>
          <a:p>
            <a:pPr algn="l" marL="0" indent="0">
              <a:spcBef>
                <a:spcPts val="420"/>
              </a:spcBef>
              <a:buNone/>
            </a:pPr>
            <a:r>
              <a:rPr sz="14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A wider drop would mean the AI cost of serving free users is higher than planned</a:t>
            </a:r>
          </a:p>
        </p:txBody>
      </p:sp>
      <p:sp>
        <p:nvSpPr>
          <p:cNvPr id="15" name="sw:number"/>
          <p:cNvSpPr txBox="1"/>
          <p:nvPr/>
        </p:nvSpPr>
        <p:spPr>
          <a:xfrm>
            <a:off x="457200" y="4608576"/>
            <a:ext cx="772160" cy="760476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6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3</a:t>
            </a:r>
          </a:p>
        </p:txBody>
      </p:sp>
      <p:sp>
        <p:nvSpPr>
          <p:cNvPr id="16" name="sw:body"/>
          <p:cNvSpPr txBox="1"/>
          <p:nvPr/>
        </p:nvSpPr>
        <p:spPr>
          <a:xfrm>
            <a:off x="8097520" y="2240280"/>
            <a:ext cx="1727200" cy="10256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Investors</a:t>
            </a:r>
          </a:p>
        </p:txBody>
      </p:sp>
      <p:sp>
        <p:nvSpPr>
          <p:cNvPr id="17" name="sw:body"/>
          <p:cNvSpPr txBox="1"/>
          <p:nvPr/>
        </p:nvSpPr>
        <p:spPr>
          <a:xfrm>
            <a:off x="10007600" y="2240280"/>
            <a:ext cx="1727200" cy="10256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Each quarter</a:t>
            </a:r>
          </a:p>
        </p:txBody>
      </p:sp>
      <p:sp>
        <p:nvSpPr>
          <p:cNvPr id="18" name="sw:body"/>
          <p:cNvSpPr txBox="1"/>
          <p:nvPr/>
        </p:nvSpPr>
        <p:spPr>
          <a:xfrm>
            <a:off x="8097520" y="3531108"/>
            <a:ext cx="1727200" cy="8122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Investors</a:t>
            </a:r>
          </a:p>
        </p:txBody>
      </p:sp>
      <p:sp>
        <p:nvSpPr>
          <p:cNvPr id="19" name="sw:body"/>
          <p:cNvSpPr txBox="1"/>
          <p:nvPr/>
        </p:nvSpPr>
        <p:spPr>
          <a:xfrm>
            <a:off x="10007600" y="3531108"/>
            <a:ext cx="1727200" cy="81229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Each quarter</a:t>
            </a:r>
          </a:p>
        </p:txBody>
      </p:sp>
      <p:sp>
        <p:nvSpPr>
          <p:cNvPr id="20" name="sw:body"/>
          <p:cNvSpPr txBox="1"/>
          <p:nvPr/>
        </p:nvSpPr>
        <p:spPr>
          <a:xfrm>
            <a:off x="8097520" y="4608576"/>
            <a:ext cx="1727200" cy="10256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Investors</a:t>
            </a:r>
          </a:p>
        </p:txBody>
      </p:sp>
      <p:sp>
        <p:nvSpPr>
          <p:cNvPr id="21" name="sw:body"/>
          <p:cNvSpPr txBox="1"/>
          <p:nvPr/>
        </p:nvSpPr>
        <p:spPr>
          <a:xfrm>
            <a:off x="10007600" y="4608576"/>
            <a:ext cx="1727200" cy="1025652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400" b="0" lang="en-US">
                <a:solidFill>
                  <a:srgbClr val="1E2329"/>
                </a:solidFill>
                <a:latin typeface="+mn-lt"/>
                <a:ea typeface="+mn-ea"/>
                <a:cs typeface="+mn-cs"/>
              </a:rPr>
              <a:t>Each quarter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w:title"/>
          <p:cNvSpPr>
            <a:spLocks noGrp="1"/>
          </p:cNvSpPr>
          <p:nvPr>
            <p:ph type="title"/>
          </p:nvPr>
        </p:nvSpPr>
        <p:spPr/>
        <p:txBody>
          <a:bodyPr wrap="square"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sz="2800" b="0" lang="en-US">
                <a:latin typeface="+mj-lt"/>
                <a:ea typeface="+mj-ea"/>
                <a:cs typeface="+mj-cs"/>
              </a:rPr>
              <a:t>Key figures FY2023-FY2025</a:t>
            </a:r>
          </a:p>
        </p:txBody>
      </p:sp>
      <p:sp>
        <p:nvSpPr>
          <p:cNvPr id="3" name="sw:page"/>
          <p:cNvSpPr>
            <a:spLocks noGrp="1"/>
          </p:cNvSpPr>
          <p:nvPr>
            <p:ph type="sldNum" idx="12" sz="quarter"/>
          </p:nvPr>
        </p:nvSpPr>
        <p:spPr/>
        <p:txBody>
          <a:bodyPr/>
          <a:p>
            <a:fld id="{B6F15528-21DE-4FAA-801E-634DDDAF4B2B}" type="slidenum">
              <a:rPr lang="en-US" sz="1000"/>
              <a:t>13</a:t>
            </a:fld>
          </a:p>
        </p:txBody>
      </p:sp>
      <p:sp>
        <p:nvSpPr>
          <p:cNvPr id="4" name="sw:tracker"/>
          <p:cNvSpPr txBox="1"/>
          <p:nvPr/>
        </p:nvSpPr>
        <p:spPr>
          <a:xfrm>
            <a:off x="457200" y="228600"/>
            <a:ext cx="6766560" cy="2286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100" b="1" lang="en-US">
                <a:solidFill>
                  <a:srgbClr val="1F5AA6"/>
                </a:solidFill>
                <a:latin typeface="+mn-lt"/>
                <a:ea typeface="+mn-ea"/>
                <a:cs typeface="+mn-cs"/>
              </a:rPr>
              <a:t>Appendix</a:t>
            </a:r>
          </a:p>
        </p:txBody>
      </p:sp>
      <p:sp>
        <p:nvSpPr>
          <p:cNvPr id="5" name="sw:source"/>
          <p:cNvSpPr txBox="1"/>
          <p:nvPr/>
        </p:nvSpPr>
        <p:spPr>
          <a:xfrm>
            <a:off x="457200" y="6253480"/>
            <a:ext cx="10226040" cy="330200"/>
          </a:xfrm>
          <a:prstGeom prst="rect">
            <a:avLst/>
          </a:prstGeom>
          <a:noFill/>
        </p:spPr>
        <p:txBody>
          <a:bodyPr wrap="square" lIns="0" tIns="0" rIns="0" bIns="0" anchor="b">
            <a:noAutofit/>
          </a:bodyPr>
          <a:lstStyle/>
          <a:p>
            <a:pPr algn="l" marL="0" indent="0">
              <a:spcBef>
                <a:spcPts val="0"/>
              </a:spcBef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n/a: not in the material used for this deck.</a:t>
            </a:r>
          </a:p>
          <a:p>
            <a:pPr algn="l" marL="0" indent="0">
              <a:spcBef>
                <a:spcPts val="0"/>
              </a:spcBef>
              <a:buNone/>
            </a:pPr>
            <a:r>
              <a:rPr sz="1000" b="0" lang="en-US">
                <a:solidFill>
                  <a:srgbClr val="5A6472"/>
                </a:solidFill>
                <a:latin typeface="+mn-lt"/>
                <a:ea typeface="+mn-ea"/>
                <a:cs typeface="+mn-cs"/>
              </a:rPr>
              <a:t>Source: Form 10-K FY2025 (financials, SEC XBRL company facts, CIK 0001562088); Q4 FY2025 and Q4 FY2024 shareholder letters (users).</a:t>
            </a:r>
          </a:p>
        </p:txBody>
      </p:sp>
      <p:graphicFrame>
        <p:nvGraphicFramePr>
          <p:cNvPr id="6" name="sw:table"/>
          <p:cNvGraphicFramePr>
            <a:graphicFrameLocks noGrp="1"/>
          </p:cNvGraphicFramePr>
          <p:nvPr/>
        </p:nvGraphicFramePr>
        <p:xfrm>
          <a:off x="457200" y="1600200"/>
          <a:ext cx="11277600" cy="33020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397584"/>
                <a:gridCol w="1960005"/>
                <a:gridCol w="1960005"/>
                <a:gridCol w="1960006"/>
              </a:tblGrid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5A6472"/>
                          </a:solidFill>
                          <a:latin typeface="+mn-lt"/>
                          <a:ea typeface="+mn-ea"/>
                          <a:cs typeface="+mn-cs"/>
                        </a:rPr>
                        <a:t>$M unless stated</a:t>
                      </a:r>
                    </a:p>
                  </a:txBody>
                  <a:tcPr marL="91440" marR="91440" marT="45720" marB="4572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>
                      <a:solidFill>
                        <a:srgbClr val="1E2329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5A6472"/>
                          </a:solidFill>
                          <a:latin typeface="+mn-lt"/>
                          <a:ea typeface="+mn-ea"/>
                          <a:cs typeface="+mn-cs"/>
                        </a:rPr>
                        <a:t>FY2023</a:t>
                      </a:r>
                    </a:p>
                  </a:txBody>
                  <a:tcPr marL="91440" marR="91440" marT="45720" marB="4572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>
                      <a:solidFill>
                        <a:srgbClr val="1E2329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5A6472"/>
                          </a:solidFill>
                          <a:latin typeface="+mn-lt"/>
                          <a:ea typeface="+mn-ea"/>
                          <a:cs typeface="+mn-cs"/>
                        </a:rPr>
                        <a:t>FY2024</a:t>
                      </a:r>
                    </a:p>
                  </a:txBody>
                  <a:tcPr marL="91440" marR="91440" marT="45720" marB="4572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>
                      <a:solidFill>
                        <a:srgbClr val="1E2329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5A6472"/>
                          </a:solidFill>
                          <a:latin typeface="+mn-lt"/>
                          <a:ea typeface="+mn-ea"/>
                          <a:cs typeface="+mn-cs"/>
                        </a:rPr>
                        <a:t>FY2025</a:t>
                      </a:r>
                    </a:p>
                  </a:txBody>
                  <a:tcPr marL="91440" marR="91440" marT="45720" marB="45720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2700" cap="flat" cmpd="sng">
                      <a:solidFill>
                        <a:srgbClr val="1E2329"/>
                      </a:solidFill>
                    </a:lnB>
                    <a:noFill/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Revenue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531.1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748.0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1,037.6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solidFill>
                      <a:srgbClr val="E0E8F3"/>
                    </a:solidFill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Gross profit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389.0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544.4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749.5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solidFill>
                      <a:srgbClr val="E0E8F3"/>
                    </a:solidFill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Operating income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-13.3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62.6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135.6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solidFill>
                      <a:srgbClr val="E0E8F3"/>
                    </a:solidFill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Net income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16.1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88.6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414.1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solidFill>
                      <a:srgbClr val="E0E8F3"/>
                    </a:solidFill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Operating cash flow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153.6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285.5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387.8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solidFill>
                      <a:srgbClr val="E0E8F3"/>
                    </a:solidFill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Cash at year end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785.8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1,036.4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solidFill>
                      <a:srgbClr val="E0E8F3"/>
                    </a:solidFill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DAUs in Q4, M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40.5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52.7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solidFill>
                      <a:srgbClr val="E0E8F3"/>
                    </a:solidFill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MAUs in Q4, M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116.7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133.1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5DAE0"/>
                      </a:solidFill>
                    </a:lnB>
                    <a:solidFill>
                      <a:srgbClr val="E0E8F3"/>
                    </a:solidFill>
                  </a:tcPr>
                </a:tc>
              </a:tr>
              <a:tr h="330200">
                <a:tc>
                  <a:txBody>
                    <a:bodyPr wrap="square">
                      <a:noAutofit/>
                    </a:bodyPr>
                    <a:lstStyle/>
                    <a:p>
                      <a:pPr algn="l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Paid subscribers in Q4, M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B7BEC7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n/a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B7BEC7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0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9.5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B7BEC7"/>
                      </a:solidFill>
                    </a:lnB>
                    <a:noFill/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 marL="0" indent="0">
                        <a:spcBef>
                          <a:spcPts val="0"/>
                        </a:spcBef>
                        <a:buNone/>
                      </a:pPr>
                      <a:r>
                        <a:rPr sz="1400" b="1" lang="en-US">
                          <a:solidFill>
                            <a:srgbClr val="1E2329"/>
                          </a:solidFill>
                          <a:latin typeface="+mn-lt"/>
                          <a:ea typeface="+mn-ea"/>
                          <a:cs typeface="+mn-cs"/>
                        </a:rPr>
                        <a:t>12.2</a:t>
                      </a:r>
                    </a:p>
                  </a:txBody>
                  <a:tcPr marL="91440" marR="91440" marT="45720" marB="45720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B7BEC7"/>
                      </a:solidFill>
                    </a:lnB>
                    <a:solidFill>
                      <a:srgbClr val="E0E8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oWhat">
  <a:themeElements>
    <a:clrScheme name="SoWhat">
      <a:dk1>
        <a:srgbClr val="1E2329"/>
      </a:dk1>
      <a:lt1>
        <a:srgbClr val="FFFFFF"/>
      </a:lt1>
      <a:dk2>
        <a:srgbClr val="5A6472"/>
      </a:dk2>
      <a:lt2>
        <a:srgbClr val="F2F4F6"/>
      </a:lt2>
      <a:accent1>
        <a:srgbClr val="1F5AA6"/>
      </a:accent1>
      <a:accent2>
        <a:srgbClr val="8C95A1"/>
      </a:accent2>
      <a:accent3>
        <a:srgbClr val="B7BEC7"/>
      </a:accent3>
      <a:accent4>
        <a:srgbClr val="5A6472"/>
      </a:accent4>
      <a:accent5>
        <a:srgbClr val="D5DAE0"/>
      </a:accent5>
      <a:accent6>
        <a:srgbClr val="1E2329"/>
      </a:accent6>
      <a:hlink>
        <a:srgbClr val="1F5AA6"/>
      </a:hlink>
      <a:folHlink>
        <a:srgbClr val="5A6472"/>
      </a:folHlink>
    </a:clrScheme>
    <a:fontScheme name="SoWhat">
      <a:majorFont>
        <a:latin typeface="Georgia"/>
        <a:ea typeface=""/>
        <a:cs typeface=""/>
        <a:font script="Jpan" typeface="Yu Gothic"/>
        <a:font script="Hang" typeface="Malgun Gothic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Yu Gothic"/>
        <a:font script="Hang" typeface="Malgun Gothic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